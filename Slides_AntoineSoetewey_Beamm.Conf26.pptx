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omments/modernComment_127_0.xml" ContentType="application/vnd.ms-powerpoint.comment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omments/modernComment_12B_0.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94" r:id="rId2"/>
    <p:sldId id="295" r:id="rId3"/>
    <p:sldId id="296" r:id="rId4"/>
    <p:sldId id="297" r:id="rId5"/>
    <p:sldId id="298" r:id="rId6"/>
    <p:sldId id="299" r:id="rId7"/>
    <p:sldId id="300" r:id="rId8"/>
    <p:sldId id="301" r:id="rId9"/>
    <p:sldId id="321" r:id="rId10"/>
    <p:sldId id="302" r:id="rId11"/>
    <p:sldId id="303" r:id="rId12"/>
    <p:sldId id="304" r:id="rId13"/>
    <p:sldId id="305" r:id="rId14"/>
    <p:sldId id="307" r:id="rId15"/>
    <p:sldId id="306" r:id="rId16"/>
    <p:sldId id="308" r:id="rId17"/>
    <p:sldId id="309" r:id="rId18"/>
    <p:sldId id="310" r:id="rId19"/>
    <p:sldId id="311" r:id="rId20"/>
    <p:sldId id="312" r:id="rId21"/>
    <p:sldId id="313" r:id="rId22"/>
    <p:sldId id="314" r:id="rId23"/>
    <p:sldId id="315" r:id="rId24"/>
    <p:sldId id="316" r:id="rId25"/>
    <p:sldId id="317" r:id="rId26"/>
    <p:sldId id="318" r:id="rId27"/>
    <p:sldId id="319" r:id="rId28"/>
    <p:sldId id="320"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72696A0-E374-ABB2-AECB-11C96F38266D}" name="Antoine Soetewey" initials="AS" userId="S::antoine.soetewey@unamur.be::5abee228-c60d-4b02-af30-bcddba2d88d3"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272"/>
    <p:restoredTop sz="76932"/>
  </p:normalViewPr>
  <p:slideViewPr>
    <p:cSldViewPr snapToGrid="0">
      <p:cViewPr varScale="1">
        <p:scale>
          <a:sx n="117" d="100"/>
          <a:sy n="117" d="100"/>
        </p:scale>
        <p:origin x="808"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8/10/relationships/authors" Target="authors.xml"/><Relationship Id="rId8" Type="http://schemas.openxmlformats.org/officeDocument/2006/relationships/slide" Target="slides/slide7.xml"/></Relationships>
</file>

<file path=ppt/comments/modernComment_12B_0.xml><?xml version="1.0" encoding="utf-8"?>
<p188:cmLst xmlns:a="http://schemas.openxmlformats.org/drawingml/2006/main" xmlns:r="http://schemas.openxmlformats.org/officeDocument/2006/relationships" xmlns:p188="http://schemas.microsoft.com/office/powerpoint/2018/8/main">
  <p188:cm id="{909BE050-EA4C-774B-868F-A37C28BA380F}" authorId="{D72696A0-E374-ABB2-AECB-11C96F38266D}" created="2026-06-19T19:57:50.779">
    <pc:sldMkLst xmlns:pc="http://schemas.microsoft.com/office/powerpoint/2013/main/command">
      <pc:docMk/>
      <pc:sldMk cId="0" sldId="299"/>
    </pc:sldMkLst>
    <p188:txBody>
      <a:bodyPr/>
      <a:lstStyle/>
      <a:p>
        <a:r>
          <a:rPr lang="fr-FR"/>
          <a:t>add somewhere else : •Who it serves: researchers (senior and early-career), public administration, policymakers and advisors, NGOs and engaged citizens.
•Widening access: a synthetic, privacy-preserving copy of the data, built with Wasserstein GANs (Annoye and Heuchenne), can reach journalists and citizens without exposing real records.</a:t>
        </a:r>
      </a:p>
    </p188:txBody>
  </p188:cm>
</p188:cmLst>
</file>

<file path=ppt/comments/modernComment_127_0.xml><?xml version="1.0" encoding="utf-8"?>
<p188:cmLst xmlns:a="http://schemas.openxmlformats.org/drawingml/2006/main" xmlns:r="http://schemas.openxmlformats.org/officeDocument/2006/relationships" xmlns:p188="http://schemas.microsoft.com/office/powerpoint/2018/8/main">
  <p188:cm id="{7DD46070-85EC-9C44-8331-BC49E418F802}" authorId="{D72696A0-E374-ABB2-AECB-11C96F38266D}" created="2026-06-19T18:49:35.284">
    <pc:sldMkLst xmlns:pc="http://schemas.microsoft.com/office/powerpoint/2013/main/command">
      <pc:docMk/>
      <pc:sldMk cId="0" sldId="295"/>
    </pc:sldMkLst>
    <p188:txBody>
      <a:bodyPr/>
      <a:lstStyle/>
      <a:p>
        <a:r>
          <a:rPr lang="fr-FR"/>
          <a:t>to edit restricted with GAN version</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6943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Opening (about 30 seconds). Welcome everyone and thank CAPE and the </a:t>
            </a:r>
            <a:r>
              <a:rPr dirty="0" err="1"/>
              <a:t>organisers</a:t>
            </a:r>
            <a:r>
              <a:rPr dirty="0"/>
              <a:t>. Frame the talk around one idea: turning rich but hard-to-use socio-economic data into something that is at once accessible to non-specialists and statistically trustworthy. Be honest from the start that this is work in progress, and that two of the three parts were built by colleagues, a Master's student (Carnot Dongmo Mbane) and a PhD student (</a:t>
            </a:r>
            <a:r>
              <a:rPr dirty="0" err="1"/>
              <a:t>Thaddee</a:t>
            </a:r>
            <a:r>
              <a:rPr dirty="0"/>
              <a:t> </a:t>
            </a:r>
            <a:r>
              <a:rPr dirty="0" err="1"/>
              <a:t>D'haegeleer</a:t>
            </a:r>
            <a:r>
              <a:rPr dirty="0"/>
              <a:t>); I present on their behalf and credit them as we go. The whole project is supervised by Prof. Cedric Heuchenne. Read the title out loud once.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Motivation (about 1 minute). The aim is to make the audience feel two barriers, not one.</a:t>
            </a:r>
          </a:p>
          <a:p>
            <a:endParaRPr/>
          </a:p>
          <a:p>
            <a:r>
              <a:t>First barrier, ACCESS. These are not open datasets you download. They are confidential research microdata that universities obtain under data-protection agreements (Eurostat and the national statistical institutes for the European surveys, the tax administration for IPCAL). So even a well-posed question has no easy entry point, and the people who could use the data often cannot reach it. I will come back to how a synthetic copy can widen that access.</a:t>
            </a:r>
          </a:p>
          <a:p>
            <a:endParaRPr/>
          </a:p>
          <a:p>
            <a:r>
              <a:t>Second barrier, RELIABILITY. Even once you are inside, naive exploration is risky: with thousands of variables you will always find strong-looking correlations. Some are trivially true (age and being retired), some are spurious (driven by a third variable). So just letting people query the data is not enough; that is the trap the whole project tries to avoid.</a:t>
            </a:r>
          </a:p>
          <a:p>
            <a:endParaRPr/>
          </a:p>
          <a:p>
            <a:r>
              <a:t>This is a public-finance and policy-evaluation audience, so tie it back to them: a shared, reliable factual base supports better-informed debate. Keep the tone modest. Say we are trying to lower these two barriers, not that we have removed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thesis (about 1.5 minutes with the next slide). This is the spine of the talk, so say it slowly.</a:t>
            </a:r>
          </a:p>
          <a:p>
            <a:endParaRPr/>
          </a:p>
          <a:p>
            <a:r>
              <a:t>Make the symmetry explicit. LLMs are excellent at the human-facing side: you ask in plain words and get an answer. But on their own they are unreliable for data work: they invent things, they cannot compute a p-value, and they have no sense of whether an association is statistically real, so they can present something trivial or fake as a great find.</a:t>
            </a:r>
          </a:p>
          <a:p>
            <a:endParaRPr/>
          </a:p>
          <a:p>
            <a:r>
              <a:t>Statistics are the opposite: rigorous and quantified, but to most people a correlation matrix or a multinomial model is a wall.</a:t>
            </a:r>
          </a:p>
          <a:p>
            <a:endParaRPr/>
          </a:p>
          <a:p>
            <a:r>
              <a:t>The claim is not that either side is bad, but that each covers the other's weakness. Put an LLM in front for access and for judging novelty, and put rigorous statistics underneath for reliability. That overlap, accessible and reliable, is what I mean by statistically enhanced LLMs, and it is what gives a shared, trustworthy factual base.</a:t>
            </a:r>
          </a:p>
          <a:p>
            <a:endParaRPr/>
          </a:p>
          <a:p>
            <a:r>
              <a:t>Likely question: is this just an LLM wrapper? Answer: the LLM is only one half; the other half is the statistics layer that decides what is real and what is merely surprising. Keep the tone modest: we think combining them helps.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 (about 1 minute). This single picture is the structure of the whole talk, and I return to it at the end.</a:t>
            </a:r>
          </a:p>
          <a:p>
            <a:endParaRPr dirty="0"/>
          </a:p>
          <a:p>
            <a:r>
              <a:rPr dirty="0"/>
              <a:t>Walk left to right. We start with more than 7,000 opaque variables. </a:t>
            </a:r>
            <a:r>
              <a:rPr lang="fr-FR" dirty="0"/>
              <a:t>Tool</a:t>
            </a:r>
            <a:r>
              <a:rPr dirty="0"/>
              <a:t> 1, semantic search, finds the few that are relevant. </a:t>
            </a:r>
            <a:r>
              <a:rPr lang="fr-FR" dirty="0"/>
              <a:t>Tool</a:t>
            </a:r>
            <a:r>
              <a:rPr dirty="0"/>
              <a:t> 2, </a:t>
            </a:r>
            <a:r>
              <a:rPr dirty="0" err="1"/>
              <a:t>AssociationExplorer</a:t>
            </a:r>
            <a:r>
              <a:rPr dirty="0"/>
              <a:t>, surfaces, among those, the associations that are statistically strong and also non-obvious. </a:t>
            </a:r>
            <a:r>
              <a:rPr lang="fr-FR" dirty="0"/>
              <a:t>Tool</a:t>
            </a:r>
            <a:r>
              <a:rPr dirty="0"/>
              <a:t> 3, Partial Association Explorer, checks which of those survive once we adjust for confounders. The output is a reliable, shareable data story. Each </a:t>
            </a:r>
            <a:r>
              <a:rPr lang="fr-FR" dirty="0" err="1"/>
              <a:t>tool</a:t>
            </a:r>
            <a:r>
              <a:rPr dirty="0"/>
              <a:t> is a separate tool, but they chain into one funnel.</a:t>
            </a:r>
          </a:p>
          <a:p>
            <a:endParaRPr dirty="0"/>
          </a:p>
          <a:p>
            <a:r>
              <a:rPr dirty="0"/>
              <a:t>Do the credits clearly here so I do not interrupt later. </a:t>
            </a:r>
            <a:r>
              <a:rPr lang="fr-FR" dirty="0"/>
              <a:t>Tool </a:t>
            </a:r>
            <a:r>
              <a:rPr dirty="0"/>
              <a:t>1 is the Master's work of Carnot Dongmo Mbane; </a:t>
            </a:r>
            <a:r>
              <a:rPr lang="fr-FR" dirty="0"/>
              <a:t>Tool</a:t>
            </a:r>
            <a:r>
              <a:rPr dirty="0"/>
              <a:t> 2 I develop myself; </a:t>
            </a:r>
            <a:r>
              <a:rPr lang="fr-FR" dirty="0"/>
              <a:t>Tool</a:t>
            </a:r>
            <a:r>
              <a:rPr dirty="0"/>
              <a:t> 3 is the PhD work of Thaddee </a:t>
            </a:r>
            <a:r>
              <a:rPr dirty="0" err="1"/>
              <a:t>D'haegeleer</a:t>
            </a:r>
            <a:r>
              <a:rPr dirty="0"/>
              <a:t>; Cedric Heuchenne supervises all three, and Hugues Annoye co-supervises </a:t>
            </a:r>
            <a:r>
              <a:rPr lang="fr-FR" dirty="0"/>
              <a:t>Tool</a:t>
            </a:r>
            <a:r>
              <a:rPr dirty="0"/>
              <a:t> 1. So for </a:t>
            </a:r>
            <a:r>
              <a:rPr lang="fr-FR" dirty="0"/>
              <a:t>Tools</a:t>
            </a:r>
            <a:r>
              <a:rPr dirty="0"/>
              <a:t> 1 and 3 I am presenting colleagues' work.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1, the data problem (about 1.5 minutes). This is the foundation slide; it introduces the raw material for the whole talk, so take time and be concrete.</a:t>
            </a:r>
          </a:p>
          <a:p>
            <a:endParaRPr dirty="0"/>
          </a:p>
          <a:p>
            <a:r>
              <a:rPr dirty="0"/>
              <a:t>The </a:t>
            </a:r>
            <a:r>
              <a:rPr lang="fr-FR" dirty="0"/>
              <a:t>6</a:t>
            </a:r>
            <a:r>
              <a:rPr dirty="0"/>
              <a:t> sources, briefly: EU-SILC (income and living conditions), EU-LFS (</a:t>
            </a:r>
            <a:r>
              <a:rPr dirty="0" err="1"/>
              <a:t>labour</a:t>
            </a:r>
            <a:r>
              <a:rPr dirty="0"/>
              <a:t> force), HBS (household budgets), HFCS (household finance and consumption), IPCAL (the Belgian tax-return variables), and DEMOBEL (a socio-fiscal microsimulation model). Together: 7,010 variables. You do not need to </a:t>
            </a:r>
            <a:r>
              <a:rPr dirty="0" err="1"/>
              <a:t>memorise</a:t>
            </a:r>
            <a:r>
              <a:rPr dirty="0"/>
              <a:t> the acronyms; the point is the scale and the heterogeneity.</a:t>
            </a:r>
          </a:p>
          <a:p>
            <a:endParaRPr dirty="0"/>
          </a:p>
          <a:p>
            <a:r>
              <a:rPr dirty="0"/>
              <a:t>Stress the access point, because I corrected it in this version: these are confidential research microdata, available to universities under data-protection rules, not open data. That is exactly why a synthetic, </a:t>
            </a:r>
            <a:r>
              <a:rPr dirty="0" err="1"/>
              <a:t>anonymised</a:t>
            </a:r>
            <a:r>
              <a:rPr dirty="0"/>
              <a:t> copy matters later.</a:t>
            </a:r>
          </a:p>
          <a:p>
            <a:endParaRPr dirty="0"/>
          </a:p>
          <a:p>
            <a:r>
              <a:rPr dirty="0"/>
              <a:t>Why it is hard: opaque codes (HY040G is gross rental income, PL031 an activity-status code) whose meaning lives in huge codebooks, in three languages. The corpus is also imbalanced: IPCAL alone is about 76% of all variables, which matters for </a:t>
            </a:r>
            <a:r>
              <a:rPr lang="fr-FR" dirty="0"/>
              <a:t>Tool</a:t>
            </a:r>
            <a:r>
              <a:rPr dirty="0"/>
              <a:t> 1's design (size bias) and is in the appendix.</a:t>
            </a:r>
          </a:p>
          <a:p>
            <a:endParaRPr dirty="0"/>
          </a:p>
          <a:p>
            <a:r>
              <a:rPr dirty="0"/>
              <a:t>Anticipated question, are these joinable at the individual level? Honest answer: </a:t>
            </a:r>
            <a:r>
              <a:rPr lang="fr-FR" dirty="0"/>
              <a:t>Tool</a:t>
            </a:r>
            <a:r>
              <a:rPr dirty="0"/>
              <a:t> 1 is about the metadata, finding and describing variables, not yet about merging microdata, which is a separate problem. We unified the variable dictionary, 7,010 entries, into one searchable form.</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1, the goal and who it serves (about 1 minute). Two ideas: the natural-language interface, and who actually uses it.</a:t>
            </a:r>
          </a:p>
          <a:p>
            <a:endParaRPr/>
          </a:p>
          <a:p>
            <a:r>
              <a:t>The interface is two-way. From a question to variables: I type difficulty paying bills and it returns the matching codes, ranked. From a code to a description: I paste HY040G and get a plain-language explanation. The first helps you discover, the second helps you understand.</a:t>
            </a:r>
          </a:p>
          <a:p>
            <a:endParaRPr/>
          </a:p>
          <a:p>
            <a:r>
              <a:t>On the audience, this is the point I revised. Because the data is confidential, the direct users are researchers (senior and early-career), public administration, policymakers and advisors, and NGOs and engaged citizens, working on the restricted microdata. Journalists and the wider public come in through a different door: a synthetic copy of the data, generated with Wasserstein GANs by Hugues Annoye and Cedric Heuchenne, that reproduces the statistical structure of the population while protecting privacy. That synthetic layer is exactly how you give a shared factual base to people who cannot touch the real records, which is the deeper meaning of common data for a shared reality. There is an appendix slide with the references if anyone asks.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1, the pipeline (about 1.5 minutes). Walk through the five boxes; this is the engine of </a:t>
            </a:r>
            <a:r>
              <a:rPr lang="fr-FR" dirty="0"/>
              <a:t>Tool</a:t>
            </a:r>
            <a:r>
              <a:rPr dirty="0"/>
              <a:t> 1.</a:t>
            </a:r>
          </a:p>
          <a:p>
            <a:endParaRPr dirty="0"/>
          </a:p>
          <a:p>
            <a:r>
              <a:rPr dirty="0"/>
              <a:t>1, Unify: each dataset has its own format; a per-dataset function maps it into one common JSON dictionary, one record per variable (code, source, short and long description, category).</a:t>
            </a:r>
          </a:p>
          <a:p>
            <a:r>
              <a:rPr dirty="0"/>
              <a:t>2, Embeddings: every description becomes a vector with the multilingual-e5-large model (1024 numbers), stored in a vector database, </a:t>
            </a:r>
            <a:r>
              <a:rPr dirty="0" err="1"/>
              <a:t>ChromaDB</a:t>
            </a:r>
            <a:r>
              <a:rPr dirty="0"/>
              <a:t>. I define embedding on the next slide; for now, text becomes a point in space.</a:t>
            </a:r>
          </a:p>
          <a:p>
            <a:r>
              <a:rPr dirty="0"/>
              <a:t>3, Semantic search: the user's question is embedded too, and we rank variables by cosine similarity, the </a:t>
            </a:r>
            <a:r>
              <a:rPr lang="fr-FR" dirty="0" err="1"/>
              <a:t>cosine</a:t>
            </a:r>
            <a:r>
              <a:rPr lang="fr-FR" dirty="0"/>
              <a:t> of the </a:t>
            </a:r>
            <a:r>
              <a:rPr dirty="0"/>
              <a:t>angle between vectors. This is why it works across languages and across wording.</a:t>
            </a:r>
          </a:p>
          <a:p>
            <a:r>
              <a:rPr dirty="0"/>
              <a:t>4, LLM validation: a local model, Llama 3.2, reads the top candidates and says, for each, whether it truly answers the question, is partially relevant, or off-topic, with a short justification.</a:t>
            </a:r>
          </a:p>
          <a:p>
            <a:r>
              <a:rPr dirty="0"/>
              <a:t>5, Interface: a </a:t>
            </a:r>
            <a:r>
              <a:rPr dirty="0" err="1"/>
              <a:t>Gradio</a:t>
            </a:r>
            <a:r>
              <a:rPr dirty="0"/>
              <a:t> web app ties it together.</a:t>
            </a:r>
          </a:p>
          <a:p>
            <a:endParaRPr dirty="0"/>
          </a:p>
          <a:p>
            <a:r>
              <a:rPr dirty="0"/>
              <a:t>The line at the bottom is the engineering point: the five steps are modular, so adding IPCAL and DEMOBEL needed no rewrite, just new sections. That modularity is itself a contribution. If asked why not just use a hosted chatbot, the answer is steps 2 to 4 and the fact that it runs locally, which is the next slide.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1, the two design choices (about 2 minutes). The most technical slide of </a:t>
            </a:r>
            <a:r>
              <a:rPr lang="fr-FR" dirty="0"/>
              <a:t>Tool</a:t>
            </a:r>
            <a:r>
              <a:rPr dirty="0"/>
              <a:t> 1; give the intuition so a non-specialist follows, and keep the depth ready for specialists.</a:t>
            </a:r>
          </a:p>
          <a:p>
            <a:endParaRPr dirty="0"/>
          </a:p>
          <a:p>
            <a:r>
              <a:rPr dirty="0"/>
              <a:t>Embedding: reinforce the one-line definition with a picture. Imagine every variable description placed as a dot in a large space, arranged so that rent income and </a:t>
            </a:r>
            <a:r>
              <a:rPr dirty="0" err="1"/>
              <a:t>revenus</a:t>
            </a:r>
            <a:r>
              <a:rPr dirty="0"/>
              <a:t> </a:t>
            </a:r>
            <a:r>
              <a:rPr dirty="0" err="1"/>
              <a:t>locatifs</a:t>
            </a:r>
            <a:r>
              <a:rPr dirty="0"/>
              <a:t> and </a:t>
            </a:r>
            <a:r>
              <a:rPr dirty="0" err="1"/>
              <a:t>huurinkomen</a:t>
            </a:r>
            <a:r>
              <a:rPr dirty="0"/>
              <a:t> land near each other even with no shared words. The question becomes a dot too, and we return its nearest </a:t>
            </a:r>
            <a:r>
              <a:rPr dirty="0" err="1"/>
              <a:t>neighbours</a:t>
            </a:r>
            <a:r>
              <a:rPr dirty="0"/>
              <a:t>. Cosine similarity is how small the angle is; about 0.9 is very close. The model is multilingual-e5-large, an XLM-</a:t>
            </a:r>
            <a:r>
              <a:rPr dirty="0" err="1"/>
              <a:t>RoBERTa</a:t>
            </a:r>
            <a:r>
              <a:rPr dirty="0"/>
              <a:t> encoder, which is why French, Dutch and English align.</a:t>
            </a:r>
          </a:p>
          <a:p>
            <a:endParaRPr dirty="0"/>
          </a:p>
          <a:p>
            <a:r>
              <a:rPr dirty="0"/>
              <a:t>RAG versus fine-tuning, the distinction examiners like. Fine-tuning retrains the model's weights on our corpus, so it </a:t>
            </a:r>
            <a:r>
              <a:rPr dirty="0" err="1"/>
              <a:t>memorises</a:t>
            </a:r>
            <a:r>
              <a:rPr dirty="0"/>
              <a:t> it. RAG leaves the model untouched and feeds it the relevant context at question time. We chose RAG because adding a survey is instant (embed and index, no retraining), it is transparent (you see which variables were retrieved and fed in), and it hallucinates less (the model only talks about variables actually retrieved). Fine-tuning, </a:t>
            </a:r>
            <a:r>
              <a:rPr dirty="0" err="1"/>
              <a:t>LoRA</a:t>
            </a:r>
            <a:r>
              <a:rPr dirty="0"/>
              <a:t> on Llama-3-8B, was the earlier plan and is kept as a documented alternative; be clear it was not implemented. The appendix has the comparison table.</a:t>
            </a:r>
          </a:p>
          <a:p>
            <a:endParaRPr dirty="0"/>
          </a:p>
          <a:p>
            <a:r>
              <a:rPr dirty="0"/>
              <a:t>Local execution: both the embedder and Llama 3.2 run on the user's machine through </a:t>
            </a:r>
            <a:r>
              <a:rPr dirty="0" err="1"/>
              <a:t>Ollama</a:t>
            </a:r>
            <a:r>
              <a:rPr dirty="0"/>
              <a:t>. For confidential income and tax data, not sending anything to an external service is a real advantage. The trade-off, if pushed: a small local model is weaker than a frontier hosted model, and we accept that for privacy. Do not claim no hallucination; say reduced, because retrieval constrains but does not eliminate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F67F4-4DA9-D74A-0A80-06EB0076CF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6B1ACD-AEAC-AB19-FB15-BA0661DD366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DA932296-73B7-E55B-D1C5-8C0A8840681C}"/>
              </a:ext>
            </a:extLst>
          </p:cNvPr>
          <p:cNvSpPr>
            <a:spLocks noGrp="1"/>
          </p:cNvSpPr>
          <p:nvPr>
            <p:ph type="body" sz="quarter" idx="3"/>
          </p:nvPr>
        </p:nvSpPr>
        <p:spPr/>
        <p:txBody>
          <a:bodyPr/>
          <a:lstStyle/>
          <a:p>
            <a:r>
              <a:rPr lang="en-US" dirty="0"/>
              <a:t>Two design choices (about 2 minutes). The most technical slide of Tool 1; give the intuition so a non-specialist follows.</a:t>
            </a:r>
          </a:p>
          <a:p>
            <a:endParaRPr lang="en-US" dirty="0"/>
          </a:p>
          <a:p>
            <a:r>
              <a:rPr lang="en-US" dirty="0"/>
              <a:t>Start by explaining the difference between fine-tuning and RAG with the exam analogy: fine-tuning is like a student who studies the textbook before the exam and answers from memory; RAG is like an open-book exam, the model has not studied our variables but gets a cheat sheet at the moment of answering.</a:t>
            </a:r>
          </a:p>
          <a:p>
            <a:endParaRPr lang="en-US" dirty="0"/>
          </a:p>
          <a:p>
            <a:r>
              <a:rPr lang="en-US" dirty="0"/>
              <a:t>We started with fine-tuning, specifically </a:t>
            </a:r>
            <a:r>
              <a:rPr lang="en-US" dirty="0" err="1"/>
              <a:t>LoRA</a:t>
            </a:r>
            <a:r>
              <a:rPr lang="en-US" dirty="0"/>
              <a:t> on Llama-3-8B, which partially retrains the model's weights on our corpus. We moved to RAG because it has three concrete advantages: faster to update (just index the new variables), more transparent (you see exactly what was handed to the model), and fewer hallucinations (the model can only refer to what it was given, not invent codes from memory).</a:t>
            </a:r>
          </a:p>
          <a:p>
            <a:endParaRPr lang="en-US" dirty="0"/>
          </a:p>
          <a:p>
            <a:r>
              <a:rPr lang="en-US" dirty="0"/>
              <a:t>For local execution: the current metadata is not itself confidential, so the main reason is that </a:t>
            </a:r>
            <a:r>
              <a:rPr lang="en-US" dirty="0" err="1"/>
              <a:t>Ollama</a:t>
            </a:r>
            <a:r>
              <a:rPr lang="en-US" dirty="0"/>
              <a:t> is free. But running locally also means that if we later add more sensitive metadata, nothing will change in the architecture. The trade-off is that a small local model is weaker than GPT-4; we accept that.</a:t>
            </a:r>
          </a:p>
          <a:p>
            <a:endParaRPr lang="en-US" dirty="0"/>
          </a:p>
          <a:p>
            <a:r>
              <a:rPr lang="en-US" dirty="0"/>
              <a:t>If asked why not just use ChatGPT: cost, privacy, and the fact that RAG with a local model already works well for this task.</a:t>
            </a:r>
          </a:p>
          <a:p>
            <a:endParaRPr dirty="0"/>
          </a:p>
        </p:txBody>
      </p:sp>
      <p:sp>
        <p:nvSpPr>
          <p:cNvPr id="4" name="Slide Number Placeholder 3">
            <a:extLst>
              <a:ext uri="{FF2B5EF4-FFF2-40B4-BE49-F238E27FC236}">
                <a16:creationId xmlns:a16="http://schemas.microsoft.com/office/drawing/2014/main" id="{B8AA1B9F-28E2-C16E-4A59-22FA8A873F94}"/>
              </a:ext>
            </a:extLst>
          </p:cNvPr>
          <p:cNvSpPr>
            <a:spLocks noGrp="1"/>
          </p:cNvSpPr>
          <p:nvPr>
            <p:ph type="sldNum" sz="quarter" idx="5"/>
          </p:nvPr>
        </p:nvSpPr>
        <p:spPr/>
      </p:sp>
    </p:spTree>
    <p:extLst>
      <p:ext uri="{BB962C8B-B14F-4D97-AF65-F5344CB8AC3E}">
        <p14:creationId xmlns:p14="http://schemas.microsoft.com/office/powerpoint/2010/main" val="28568781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1, descriptions, in progress (about 1 minute). Flagged as work in progress on purpose; present it as unfinished.</a:t>
            </a:r>
          </a:p>
          <a:p>
            <a:endParaRPr dirty="0"/>
          </a:p>
          <a:p>
            <a:r>
              <a:rPr dirty="0"/>
              <a:t>The problem: even after you find a variable, its official description is written for survey specialists (HY040G: income from rental of a property or land, gross). So a second loop rewrites each variable as a long, friendly paragraph: what it measures, a concrete example, how to use it, what to watch for.</a:t>
            </a:r>
          </a:p>
          <a:p>
            <a:endParaRPr dirty="0"/>
          </a:p>
          <a:p>
            <a:r>
              <a:rPr dirty="0"/>
              <a:t>Two generators on purpose. The rule-based one detects language, guesses the variable type and unit, and assembles a structured paragraph; it needs no model, so it is instant and always works, the safety net. The LLM one (Llama 3.2) is richer, adding a realistic example and caveats, but is slower and can occasionally fail, in which case we fall back to the rule-based text. So every variable always has a usable description.</a:t>
            </a:r>
          </a:p>
          <a:p>
            <a:endParaRPr dirty="0"/>
          </a:p>
          <a:p>
            <a:r>
              <a:rPr dirty="0"/>
              <a:t>Be candid about status: the loop is still running over all 7,010 variables; the most advanced is EU-LFS (about 105 of 155 done at the time of the progress note). Early length and quality indicators look good, but there is no formal user validation yet. If asked how good they are, say promising, not yet evaluated.</a:t>
            </a:r>
          </a:p>
          <a:p>
            <a:endParaRPr dirty="0"/>
          </a:p>
          <a:p>
            <a:r>
              <a:rPr dirty="0"/>
              <a:t>The grey box is where I drop a live screenshot of the </a:t>
            </a:r>
            <a:r>
              <a:rPr dirty="0" err="1"/>
              <a:t>Gradio</a:t>
            </a:r>
            <a:r>
              <a:rPr dirty="0"/>
              <a:t> app before the talk. A short live demo is possible if the laptop is set up, otherwise the screenshot is safer.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Transition into Part 2 (about 1 minute). From here on I am on home ground, since I built this part, so I can be more relaxed and take questions live.</a:t>
            </a:r>
          </a:p>
          <a:p>
            <a:endParaRPr dirty="0"/>
          </a:p>
          <a:p>
            <a:r>
              <a:rPr dirty="0"/>
              <a:t>The logic: </a:t>
            </a:r>
            <a:r>
              <a:rPr lang="fr-FR" dirty="0"/>
              <a:t>Tool</a:t>
            </a:r>
            <a:r>
              <a:rPr dirty="0"/>
              <a:t> 1 narrowed 7,000 variables to a relevant handful, but relevant is not the same as related. </a:t>
            </a:r>
            <a:r>
              <a:rPr dirty="0" err="1"/>
              <a:t>AssociationExplorer</a:t>
            </a:r>
            <a:r>
              <a:rPr dirty="0"/>
              <a:t> takes that shortlist and computes the association of every pair, and also against the rest of the data, so a strong link to an unselected variable can still appear.</a:t>
            </a:r>
          </a:p>
          <a:p>
            <a:endParaRPr dirty="0"/>
          </a:p>
          <a:p>
            <a:r>
              <a:rPr dirty="0"/>
              <a:t>It builds on our published Shiny app, but this newer version adds the surprise judge I will show in a few slides. Next slide: how we measure association when a variable can be a number or a category.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2, the three measures (about 2 minutes). Audience is mixed, so lead with the problem, then give the precise measures and their tests for the specialists.</a:t>
            </a:r>
          </a:p>
          <a:p>
            <a:endParaRPr/>
          </a:p>
          <a:p>
            <a:r>
              <a:t>Problem: a dataset mixes numbers (income, hours) and categories (region, education). No single classic correlation works for every pair, so we pick the right tool per pair type and the matching significance test. Two numbers: Pearson r, tested with the usual t-statistic. Two categories: Cramer's V, derived from the chi-square test of independence. A number against a category: the correlation ratio eta-squared, reported as an ANOVA adjusted R-squared and tested with the F-statistic.</a:t>
            </a:r>
          </a:p>
          <a:p>
            <a:endParaRPr/>
          </a:p>
          <a:p>
            <a:r>
              <a:t>The trick that makes them comparable: express each as proportion of variance explained, r-squared, V-squared, adjusted R-squared. A 0.20 of one type then means the same as a 0.20 of another, so we can rank one mixed list and draw a single network over mixed variable types.</a:t>
            </a:r>
          </a:p>
          <a:p>
            <a:endParaRPr/>
          </a:p>
          <a:p>
            <a:r>
              <a:t>Two details worth saying: we still show the raw r with its sign, because direction matters, even though we rank on r-squared; and adjusted R-squared is deliberately conservative, penalising categories with many levels so they do not look strong by accident. Define Cramer's V out loud, the grey line, since many will not know it.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2, selection (about 1.5 minutes). Short and mechanical; the interesting idea is the next slide.</a:t>
            </a:r>
          </a:p>
          <a:p>
            <a:endParaRPr dirty="0"/>
          </a:p>
          <a:p>
            <a:r>
              <a:rPr dirty="0"/>
              <a:t>Two filters then a cap. Significance: discard anything with p at or above 0.05, which could be noise. Strength floor: even a real association can be too weak to matter, so we drop everything below about 1% explained variance, Cohen's small-effect convention, applied consistently across the three metrics (absolute r at least 0.10, V at least 0.10, adjusted R-squared at least 0.01). Then we rank what remains by strength and keep the top ten.</a:t>
            </a:r>
          </a:p>
          <a:p>
            <a:endParaRPr dirty="0"/>
          </a:p>
          <a:p>
            <a:r>
              <a:rPr dirty="0"/>
              <a:t>On the design choice: this version selects automatically, with no sliders. I frame that as a feature, not a limitation: it keeps the tool simple for non-specialists and makes the output reproducible, the same data gives the same shortlist, rather than depending on where someone drags a slider. Segue: but strength alone is the wrong ranking for finding a story, which is the next slide.</a:t>
            </a:r>
            <a:endParaRPr lang="fr-FR" sz="1200" b="0" i="0" dirty="0">
              <a:solidFill>
                <a:srgbClr val="222A33"/>
              </a:solidFill>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b="0" i="0" dirty="0">
              <a:solidFill>
                <a:srgbClr val="222A33"/>
              </a:solidFill>
            </a:endParaRP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2, the surprise judge (about 2.5 minutes). The new contribution of </a:t>
            </a:r>
            <a:r>
              <a:rPr lang="fr-FR" dirty="0"/>
              <a:t>Tool</a:t>
            </a:r>
            <a:r>
              <a:rPr dirty="0"/>
              <a:t> 2, so give it room.</a:t>
            </a:r>
          </a:p>
          <a:p>
            <a:endParaRPr dirty="0"/>
          </a:p>
          <a:p>
            <a:r>
              <a:rPr dirty="0"/>
              <a:t>The insight: statistical strength and being interesting are different. Age and retirement are almost perfectly associated, but no editor wants that story. Ranking by strength alone surfaces the obvious, so we add a second axis, surprise.</a:t>
            </a:r>
          </a:p>
          <a:p>
            <a:endParaRPr dirty="0"/>
          </a:p>
          <a:p>
            <a:r>
              <a:rPr dirty="0"/>
              <a:t>How: an LLM, Mistral, reads only the two variables' descriptions and scores semantic surprise from 0 to 1, the average of two sub-scores, how well documented the link already is in the literature, and how theoretically plausible or expected it is. The model is told to ignore the statistical strength and the data when scoring surprise, so a strong number does not bias it.</a:t>
            </a:r>
          </a:p>
          <a:p>
            <a:endParaRPr dirty="0"/>
          </a:p>
          <a:p>
            <a:r>
              <a:rPr dirty="0"/>
              <a:t>Then we combine the two worlds: journalistic interest equals semantic surprise, from the LLM, times statistical reliability, from the p-value (the formula on the slide grows without saturating, so it still separates very small p-values). The product is high only when an association is both surprising and statistically solid, the ideal candidate for a story. That product is statistically enhanced LLMs in miniature: the LLM judges novelty, the statistics judge reliability.</a:t>
            </a:r>
          </a:p>
          <a:p>
            <a:endParaRPr dirty="0"/>
          </a:p>
          <a:p>
            <a:r>
              <a:rPr dirty="0"/>
              <a:t>Finally, for each pair the system writes a short reflection lead: it states the strength, leans on the surprise sub-scores, and proposes hypotheses, explicitly without concluding or asserting causation.</a:t>
            </a:r>
          </a:p>
          <a:p>
            <a:endParaRPr dirty="0"/>
          </a:p>
          <a:p>
            <a:r>
              <a:rPr dirty="0"/>
              <a:t>Anticipated push-back: is an LLM judging surprise subjective or hallucination-prone? Be honest: it is a heuristic judgement, we constrain it (two defined sub-scores, calibration examples, it shows its reasoning), and reliability is anchored in a real p-value. It guides attention; it does not certify truth. This is also where journalist interviews shaped the design.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2, visualisation (about 1.5 minutes). Mostly show and tell; the grey box is where I drop a real screenshot of the network before the talk.</a:t>
            </a:r>
          </a:p>
          <a:p>
            <a:endParaRPr/>
          </a:p>
          <a:p>
            <a:r>
              <a:t>The network is the overview: each dot is a variable, each line an association; stronger associations pull dots closer, so clusters stand out. It is for spotting structure, not precise reading.</a:t>
            </a:r>
          </a:p>
          <a:p>
            <a:endParaRPr/>
          </a:p>
          <a:p>
            <a:r>
              <a:t>Click a line to drill into a pair, and the app picks the right plot from the variable types: a scatter with a fitted OLS line for two numbers, a mean plot for a number across categories, a colour-coded contingency table for two categories (blue where a combination occurs more than expected under independence).</a:t>
            </a:r>
          </a:p>
          <a:p>
            <a:endParaRPr/>
          </a:p>
          <a:p>
            <a:r>
              <a:t>Plant the hook for the next slide: some lines are darker than others. Opacity is not strength, it is journalistic interest, the genuinely new idea I am about to explain. If I demo live, click one obvious pair and one surprising pair to contrast.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Transition into Part 3 and the confounding problem (about 1.5 minutes). Back to presenting a colleague's work, Thaddee's PhD, so I lean on these notes. Take it slowly; confounding is the concept of Part 3.</a:t>
            </a:r>
          </a:p>
          <a:p>
            <a:endParaRPr dirty="0"/>
          </a:p>
          <a:p>
            <a:r>
              <a:rPr dirty="0"/>
              <a:t>Story so far: we have associations that are strong and surprising. The uncomfortable question: are they real, or an illusion? The classic trap is the confounder, a third variable that drives both sides, creating an association between two things that are not directly linked. The textbook image is ice-cream sales and drownings, both driven by summer heat.</a:t>
            </a:r>
          </a:p>
          <a:p>
            <a:endParaRPr dirty="0"/>
          </a:p>
          <a:p>
            <a:r>
              <a:rPr dirty="0"/>
              <a:t>Define confounder plainly, as on the slide: a background variable influencing both sides. Here the usual suspects are age, education, region, household type. For the running example, two income variables may look strongly associated, but both are downstream of education; adjust for education and the link may shrink or vanish.</a:t>
            </a:r>
          </a:p>
          <a:p>
            <a:endParaRPr dirty="0"/>
          </a:p>
          <a:p>
            <a:r>
              <a:rPr dirty="0"/>
              <a:t>Land the key sentence: a marginal, unadjusted association tells you nothing about causation and can be an artefact. So before anyone writes that X drives inequality, we want a screening step that asks whether it survives adjustment. That is </a:t>
            </a:r>
            <a:r>
              <a:rPr lang="fr-FR" dirty="0"/>
              <a:t>Tool</a:t>
            </a:r>
            <a:r>
              <a:rPr dirty="0"/>
              <a:t> 3. Manage expectations now and repeat at the end: this is still not causal inference, just a more careful layer of exploration.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3, the solution, intuition (about 1.5 minutes). Still Thaddee's work; keep it conceptual but precise.</a:t>
            </a:r>
          </a:p>
          <a:p>
            <a:endParaRPr/>
          </a:p>
          <a:p>
            <a:r>
              <a:t>The move is simple to state: the user chooses background variables to hold constant, the controls Z (age, education, region), and the tool recomputes each association after removing the influence of Z. What remains is the partial association, the part of the relationship not explained by the controls.</a:t>
            </a:r>
          </a:p>
          <a:p>
            <a:endParaRPr/>
          </a:p>
          <a:p>
            <a:r>
              <a:t>Intuition for adjusting: within groups that are similar on Z, do X and Y still move together? If yes, the link holds up; if it collapses, it was largely the confounder. Technically this is done by residualising, regressing on Z and keeping the leftovers, which the next slide makes precise for each variable type.</a:t>
            </a:r>
          </a:p>
          <a:p>
            <a:endParaRPr/>
          </a:p>
          <a:p>
            <a:r>
              <a:t>Key interface point: it is the same workflow and the same pair plots with and without controls, you just switch the controls on, which makes the before and after comparison direct. If asked how Z is chosen: by the user, from subject knowledge, which is also the limitation, results depend on which controls you pick. Be upfront about that.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3, the three conditional measures (about 1.5 minutes). The heaviest machinery in the talk. Give the intuition out loud and let the slide and appendix carry the formal detail; do not read equations aloud.</a:t>
            </a:r>
          </a:p>
          <a:p>
            <a:endParaRPr/>
          </a:p>
          <a:p>
            <a:r>
              <a:t>One idea, adjust for Z, realised three ways because the variable types differ, mirroring Part 2.</a:t>
            </a:r>
          </a:p>
          <a:p>
            <a:endParaRPr/>
          </a:p>
          <a:p>
            <a:r>
              <a:t>Two numbers: marginal is Pearson r, conditional is partial correlation. Regress X on Z and Y on Z, take the residuals, what Z could not explain, and correlate those; the t-test loses q extra degrees of freedom for the q controls.</a:t>
            </a:r>
          </a:p>
          <a:p>
            <a:r>
              <a:t>Number versus category: marginal is eta-squared, conditional is partial eta-squared by ANCOVA. Compare a reduced model with the controls only against a full model with controls plus the grouping, and measure the extra variance the grouping explains, the extra sum of squares; an F-test gives the p-value.</a:t>
            </a:r>
          </a:p>
          <a:p>
            <a:r>
              <a:t>Two categories: Thaddee's most novel piece. Marginal is V_L, a 0 to 1 measure built from a likelihood-ratio statistic, a Linfoot or Cox and Snell type transformation, an information-based cousin of Cramer's V; conditional is V_L given Z, the same construction after fitting a multinomial-logit model that includes the controls. The advantage over old log-linear methods: controls can be continuous or categorical without chopping them into bins.</a:t>
            </a:r>
          </a:p>
          <a:p>
            <a:endParaRPr/>
          </a:p>
          <a:p>
            <a:r>
              <a:t>Ready for specialists: why not Poisson log-linear? Because continuous controls would force arbitrary discretisation and sparse tables; the multinomial-likelihood approach uses controls as regressors instead. Every measure is filtered on both effect size and p-value. If the room is non-technical, compress to: partial correlation, partial eta-squared, and a likelihood-ratio measure, each in a with-controls version.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Part 3, the payoff visual (about 1.5 minutes). The image people remember from </a:t>
            </a:r>
            <a:r>
              <a:rPr lang="fr-FR" dirty="0"/>
              <a:t>Tool</a:t>
            </a:r>
            <a:r>
              <a:rPr dirty="0"/>
              <a:t> 3, so sell the contrast.</a:t>
            </a:r>
          </a:p>
          <a:p>
            <a:endParaRPr dirty="0"/>
          </a:p>
          <a:p>
            <a:r>
              <a:rPr dirty="0"/>
              <a:t>Left: the marginal network, dense, many strong-looking links. Right: the conditional network after adjusting for the chosen confounders, much sparser. The story is the difference: links that survive adjustment are the ones worth pursuing; links that fade were largely the confounder. So instead of asking only whether X and Y are associated, the user asks whether they are still associated once we account for age, education and region, a more responsible question for working with public data.</a:t>
            </a:r>
          </a:p>
          <a:p>
            <a:endParaRPr dirty="0"/>
          </a:p>
          <a:p>
            <a:r>
              <a:rPr dirty="0"/>
              <a:t>The grey box is where I drop a real before and after screenshot from Thaddee's app; the schematic on the left conveys the idea until then.</a:t>
            </a:r>
          </a:p>
          <a:p>
            <a:endParaRPr dirty="0"/>
          </a:p>
          <a:p>
            <a:r>
              <a:rPr dirty="0"/>
              <a:t>Say the limitation out loud, twice if needed: this is not causal proof. Conditional associations depend on which controls you chose and on the models being reasonable; sparse categorical tables and rare categories can make estimates fragile. The honest framing: a transparent screening layer that shows where more formal modelling is warranted. With this audience, that </a:t>
            </a:r>
            <a:r>
              <a:rPr dirty="0" err="1"/>
              <a:t>candour</a:t>
            </a:r>
            <a:r>
              <a:rPr dirty="0"/>
              <a:t> is a strength.</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Synthesis (about 1.5 minutes). Bring the three </a:t>
            </a:r>
            <a:r>
              <a:rPr lang="fr-FR" dirty="0"/>
              <a:t>Tools</a:t>
            </a:r>
            <a:r>
              <a:rPr dirty="0"/>
              <a:t> together and restate the thesis.</a:t>
            </a:r>
          </a:p>
          <a:p>
            <a:endParaRPr dirty="0"/>
          </a:p>
          <a:p>
            <a:r>
              <a:rPr dirty="0"/>
              <a:t>Re-run the example as one sentence per </a:t>
            </a:r>
            <a:r>
              <a:rPr lang="fr-FR" dirty="0" err="1"/>
              <a:t>tool</a:t>
            </a:r>
            <a:r>
              <a:rPr dirty="0"/>
              <a:t>: our researcher asked about income inequality (</a:t>
            </a:r>
            <a:r>
              <a:rPr lang="fr-FR" dirty="0"/>
              <a:t>Tool</a:t>
            </a:r>
            <a:r>
              <a:rPr dirty="0"/>
              <a:t> 1 found the variables), saw which associations were strong and non-obvious (</a:t>
            </a:r>
            <a:r>
              <a:rPr lang="fr-FR" dirty="0"/>
              <a:t>Tool</a:t>
            </a:r>
            <a:r>
              <a:rPr dirty="0"/>
              <a:t> 2 ranked them by interest), and kept only those that held up after adjusting for age, education and region (</a:t>
            </a:r>
            <a:r>
              <a:rPr lang="fr-FR" dirty="0"/>
              <a:t>Tool</a:t>
            </a:r>
            <a:r>
              <a:rPr dirty="0"/>
              <a:t> 3 screened out the confounded ones). What comes out the narrow end is a short list of relationships that are accessible to explain and statistically defensible.</a:t>
            </a:r>
          </a:p>
          <a:p>
            <a:endParaRPr dirty="0"/>
          </a:p>
          <a:p>
            <a:r>
              <a:rPr dirty="0"/>
              <a:t>Read the blue bar as the closing thesis: accessible because of the LLM front end, defensible because of the statistics underneath, that is common data for a shared reality. The three tools are separate today but designed to chain into one pipeline. Keep it humble: a promising direction, not a finished system.</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Limits and perspectives (about 1.5 minutes). Tone matters as much as content: modest and candid. This audience trusts honesty.</a:t>
            </a:r>
          </a:p>
          <a:p>
            <a:endParaRPr dirty="0"/>
          </a:p>
          <a:p>
            <a:r>
              <a:rPr dirty="0"/>
              <a:t>Working: the end-to-end search over 7,010 variables, the association explorer with the surprise judge, and the conditional association tool all run.</a:t>
            </a:r>
          </a:p>
          <a:p>
            <a:endParaRPr dirty="0"/>
          </a:p>
          <a:p>
            <a:r>
              <a:rPr dirty="0"/>
              <a:t>User feedback, the point I corrected: we did interview journalists and used their feedback to adapt </a:t>
            </a:r>
            <a:r>
              <a:rPr dirty="0" err="1"/>
              <a:t>AssociationExplorer</a:t>
            </a:r>
            <a:r>
              <a:rPr dirty="0"/>
              <a:t>, so user input has already shaped Part 2. I just do not yet have a broad, structured study.</a:t>
            </a:r>
          </a:p>
          <a:p>
            <a:endParaRPr dirty="0"/>
          </a:p>
          <a:p>
            <a:r>
              <a:rPr dirty="0"/>
              <a:t>Preliminary: the description loop is still processing; the </a:t>
            </a:r>
            <a:r>
              <a:rPr lang="fr-FR" dirty="0"/>
              <a:t>Tool</a:t>
            </a:r>
            <a:r>
              <a:rPr dirty="0"/>
              <a:t> 1 numbers (similarity about 0.74, MRR about 0.42, recall at 10 about 0.53, in the appendix) predate two changes and must be recomputed, so I present them as outdated, not as results; and the Part 2 and Part 3 papers are drafts. Not yet: no broad user study, and, say it plainly, no causal inference at any step. Next: recompute </a:t>
            </a:r>
            <a:r>
              <a:rPr lang="fr-FR" dirty="0"/>
              <a:t>Tool</a:t>
            </a:r>
            <a:r>
              <a:rPr dirty="0"/>
              <a:t> 1's metrics, stitch the three tools into one flow, and open access through the synthetic data. End on openness to feedback; this is the right room for it.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(about 15 seconds, then questions). Thank the audience and the organisers and invite questions. If a technical question comes up I have back-up slides: RAG versus fine-tuning, embeddings and ChromaDB, the Part 2 formulas, the Part 3 formulas, the synthetic-data references, and the note on evaluation metrics. Contact: antoine.soetewey@uliege.be. The question window is about ten minutes (the 11:30 to 12:10 slot).</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Back-up. The comparison from the progress note. RAG was chosen for transparency and for adding datasets without retraining; fine-tuning (</a:t>
            </a:r>
            <a:r>
              <a:rPr dirty="0" err="1"/>
              <a:t>LoRA</a:t>
            </a:r>
            <a:r>
              <a:rPr dirty="0"/>
              <a:t> on Llama-3-8B) stays a documented, not implemented, alternative, and the rich descriptions from </a:t>
            </a:r>
            <a:r>
              <a:rPr lang="fr-FR" dirty="0"/>
              <a:t>Tool</a:t>
            </a:r>
            <a:r>
              <a:rPr dirty="0"/>
              <a:t> 1 could later serve as its training corpus.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Detail on the retrieval layer for a specialist: how the semantic search works, why it is multilingual, and how the IPCAL size imbalance was handled (hybrid weighting tried, then dropped for plain cosine).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Exact Part 2 formulas. n is the number of observations, k the number of categories, r and c the rows and columns of the contingency table. The reliability curve grows without saturating, so it still separates very small p-values.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Exact Part 3 formulas. q is the number of controls, RSS the residual sum of squares, and the script-l terms are maximised log-likelihoods. V_L is a Linfoot or Cox and Snell type transformation of the likelihood-ratio statistic, an information-based cousin of Cramer's V; the conditional V_L given Z reuses the same construction after adjusting for Z.</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Back-up and honesty slide. If asked for hard numbers on </a:t>
            </a:r>
            <a:r>
              <a:rPr lang="fr-FR" dirty="0"/>
              <a:t>Tool</a:t>
            </a:r>
            <a:r>
              <a:rPr dirty="0"/>
              <a:t> 1, show this and stress that the figures are outdated, measured before the weighting was removed and before IPCAL and DEMOBEL were added. Recomputing them is a priority, not a finished result.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This is the confidentiality answer and the link to the wider public. The GAN work is by Hugues Annoye and Cedric Heuchenne and co-authors: Wasserstein GANs that learn to generate synthetic socio-economic survey data preserving the population structure while protecting individual privacy. It is what makes common data for a shared reality realistic for users who cannot access the confidential microdata.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DEFD4F-4F0A-F833-1AF6-BC9A6FF345C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fr-FR"/>
          </a:p>
        </p:txBody>
      </p:sp>
      <p:sp>
        <p:nvSpPr>
          <p:cNvPr id="3" name="Subtitle 2">
            <a:extLst>
              <a:ext uri="{FF2B5EF4-FFF2-40B4-BE49-F238E27FC236}">
                <a16:creationId xmlns:a16="http://schemas.microsoft.com/office/drawing/2014/main" id="{3400B3F7-BD88-0696-FAEC-298324A2918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fr-FR"/>
          </a:p>
        </p:txBody>
      </p:sp>
      <p:sp>
        <p:nvSpPr>
          <p:cNvPr id="4" name="Date Placeholder 3">
            <a:extLst>
              <a:ext uri="{FF2B5EF4-FFF2-40B4-BE49-F238E27FC236}">
                <a16:creationId xmlns:a16="http://schemas.microsoft.com/office/drawing/2014/main" id="{581CEE6F-913E-FC0E-08DB-319A91DD2328}"/>
              </a:ext>
            </a:extLst>
          </p:cNvPr>
          <p:cNvSpPr>
            <a:spLocks noGrp="1"/>
          </p:cNvSpPr>
          <p:nvPr>
            <p:ph type="dt" sz="half" idx="10"/>
          </p:nvPr>
        </p:nvSpPr>
        <p:spPr/>
        <p:txBody>
          <a:bodyPr/>
          <a:lstStyle/>
          <a:p>
            <a:fld id="{12740A51-EF05-DD4F-83F6-2F52853D6DA4}" type="datetimeFigureOut">
              <a:rPr lang="fr-FR" smtClean="0"/>
              <a:t>22/06/2026</a:t>
            </a:fld>
            <a:endParaRPr lang="fr-FR"/>
          </a:p>
        </p:txBody>
      </p:sp>
      <p:sp>
        <p:nvSpPr>
          <p:cNvPr id="5" name="Footer Placeholder 4">
            <a:extLst>
              <a:ext uri="{FF2B5EF4-FFF2-40B4-BE49-F238E27FC236}">
                <a16:creationId xmlns:a16="http://schemas.microsoft.com/office/drawing/2014/main" id="{D7F6B252-C4C9-C581-8C12-E80AE0B52A03}"/>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B34D7E40-47DA-E26C-28DA-0674FA698EB8}"/>
              </a:ext>
            </a:extLst>
          </p:cNvPr>
          <p:cNvSpPr>
            <a:spLocks noGrp="1"/>
          </p:cNvSpPr>
          <p:nvPr>
            <p:ph type="sldNum" sz="quarter" idx="12"/>
          </p:nvPr>
        </p:nvSpPr>
        <p:spPr/>
        <p:txBody>
          <a:bodyPr/>
          <a:lstStyle/>
          <a:p>
            <a:fld id="{DDBABB92-70A8-4546-9F9E-6AFABEE5958A}" type="slidenum">
              <a:rPr lang="fr-FR" smtClean="0"/>
              <a:t>‹#›</a:t>
            </a:fld>
            <a:endParaRPr lang="fr-FR"/>
          </a:p>
        </p:txBody>
      </p:sp>
    </p:spTree>
    <p:extLst>
      <p:ext uri="{BB962C8B-B14F-4D97-AF65-F5344CB8AC3E}">
        <p14:creationId xmlns:p14="http://schemas.microsoft.com/office/powerpoint/2010/main" val="3050305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0B7E-2B14-3064-1918-617586214547}"/>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915582B0-A50B-93AD-C123-737A67C8394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3C98A9EF-9D1A-06FC-788B-931A8C33A3D2}"/>
              </a:ext>
            </a:extLst>
          </p:cNvPr>
          <p:cNvSpPr>
            <a:spLocks noGrp="1"/>
          </p:cNvSpPr>
          <p:nvPr>
            <p:ph type="dt" sz="half" idx="10"/>
          </p:nvPr>
        </p:nvSpPr>
        <p:spPr/>
        <p:txBody>
          <a:bodyPr/>
          <a:lstStyle/>
          <a:p>
            <a:fld id="{12740A51-EF05-DD4F-83F6-2F52853D6DA4}" type="datetimeFigureOut">
              <a:rPr lang="fr-FR" smtClean="0"/>
              <a:t>22/06/2026</a:t>
            </a:fld>
            <a:endParaRPr lang="fr-FR"/>
          </a:p>
        </p:txBody>
      </p:sp>
      <p:sp>
        <p:nvSpPr>
          <p:cNvPr id="5" name="Footer Placeholder 4">
            <a:extLst>
              <a:ext uri="{FF2B5EF4-FFF2-40B4-BE49-F238E27FC236}">
                <a16:creationId xmlns:a16="http://schemas.microsoft.com/office/drawing/2014/main" id="{0F22F4B1-E1F3-1EB0-601F-C65FC9299D95}"/>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30BE0D1B-EF9C-1695-A52E-A8A11194BD7A}"/>
              </a:ext>
            </a:extLst>
          </p:cNvPr>
          <p:cNvSpPr>
            <a:spLocks noGrp="1"/>
          </p:cNvSpPr>
          <p:nvPr>
            <p:ph type="sldNum" sz="quarter" idx="12"/>
          </p:nvPr>
        </p:nvSpPr>
        <p:spPr/>
        <p:txBody>
          <a:bodyPr/>
          <a:lstStyle/>
          <a:p>
            <a:fld id="{DDBABB92-70A8-4546-9F9E-6AFABEE5958A}" type="slidenum">
              <a:rPr lang="fr-FR" smtClean="0"/>
              <a:t>‹#›</a:t>
            </a:fld>
            <a:endParaRPr lang="fr-FR"/>
          </a:p>
        </p:txBody>
      </p:sp>
    </p:spTree>
    <p:extLst>
      <p:ext uri="{BB962C8B-B14F-4D97-AF65-F5344CB8AC3E}">
        <p14:creationId xmlns:p14="http://schemas.microsoft.com/office/powerpoint/2010/main" val="6143640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46051-DC39-9831-1D46-8D364A5B157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fr-FR"/>
          </a:p>
        </p:txBody>
      </p:sp>
      <p:sp>
        <p:nvSpPr>
          <p:cNvPr id="3" name="Text Placeholder 2">
            <a:extLst>
              <a:ext uri="{FF2B5EF4-FFF2-40B4-BE49-F238E27FC236}">
                <a16:creationId xmlns:a16="http://schemas.microsoft.com/office/drawing/2014/main" id="{912980C2-2BCC-6C69-3D35-552E40CC23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E3831C4-34C2-9584-A8FE-73C92D0686CA}"/>
              </a:ext>
            </a:extLst>
          </p:cNvPr>
          <p:cNvSpPr>
            <a:spLocks noGrp="1"/>
          </p:cNvSpPr>
          <p:nvPr>
            <p:ph type="dt" sz="half" idx="10"/>
          </p:nvPr>
        </p:nvSpPr>
        <p:spPr/>
        <p:txBody>
          <a:bodyPr/>
          <a:lstStyle/>
          <a:p>
            <a:fld id="{12740A51-EF05-DD4F-83F6-2F52853D6DA4}" type="datetimeFigureOut">
              <a:rPr lang="fr-FR" smtClean="0"/>
              <a:t>22/06/2026</a:t>
            </a:fld>
            <a:endParaRPr lang="fr-FR"/>
          </a:p>
        </p:txBody>
      </p:sp>
      <p:sp>
        <p:nvSpPr>
          <p:cNvPr id="5" name="Footer Placeholder 4">
            <a:extLst>
              <a:ext uri="{FF2B5EF4-FFF2-40B4-BE49-F238E27FC236}">
                <a16:creationId xmlns:a16="http://schemas.microsoft.com/office/drawing/2014/main" id="{727B86EC-1AC3-5183-E4A4-5EA10EDEB24E}"/>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0C7191B9-85FD-DDD4-2A3D-588D35613A16}"/>
              </a:ext>
            </a:extLst>
          </p:cNvPr>
          <p:cNvSpPr>
            <a:spLocks noGrp="1"/>
          </p:cNvSpPr>
          <p:nvPr>
            <p:ph type="sldNum" sz="quarter" idx="12"/>
          </p:nvPr>
        </p:nvSpPr>
        <p:spPr/>
        <p:txBody>
          <a:bodyPr/>
          <a:lstStyle/>
          <a:p>
            <a:fld id="{DDBABB92-70A8-4546-9F9E-6AFABEE5958A}" type="slidenum">
              <a:rPr lang="fr-FR" smtClean="0"/>
              <a:t>‹#›</a:t>
            </a:fld>
            <a:endParaRPr lang="fr-FR"/>
          </a:p>
        </p:txBody>
      </p:sp>
    </p:spTree>
    <p:extLst>
      <p:ext uri="{BB962C8B-B14F-4D97-AF65-F5344CB8AC3E}">
        <p14:creationId xmlns:p14="http://schemas.microsoft.com/office/powerpoint/2010/main" val="9730253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ADF720-DD22-7751-498E-60DAAC01EE04}"/>
              </a:ext>
            </a:extLst>
          </p:cNvPr>
          <p:cNvSpPr>
            <a:spLocks noGrp="1"/>
          </p:cNvSpPr>
          <p:nvPr>
            <p:ph type="title"/>
          </p:nvPr>
        </p:nvSpPr>
        <p:spPr/>
        <p:txBody>
          <a:bodyPr/>
          <a:lstStyle/>
          <a:p>
            <a:r>
              <a:rPr lang="en-US"/>
              <a:t>Click to edit Master title style</a:t>
            </a:r>
            <a:endParaRPr lang="fr-FR"/>
          </a:p>
        </p:txBody>
      </p:sp>
      <p:sp>
        <p:nvSpPr>
          <p:cNvPr id="3" name="Content Placeholder 2">
            <a:extLst>
              <a:ext uri="{FF2B5EF4-FFF2-40B4-BE49-F238E27FC236}">
                <a16:creationId xmlns:a16="http://schemas.microsoft.com/office/drawing/2014/main" id="{47923393-29E1-E1A7-E7BA-10BED3FD53E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Content Placeholder 3">
            <a:extLst>
              <a:ext uri="{FF2B5EF4-FFF2-40B4-BE49-F238E27FC236}">
                <a16:creationId xmlns:a16="http://schemas.microsoft.com/office/drawing/2014/main" id="{B24A54C9-9F12-9A79-6699-5D558014CA5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Date Placeholder 4">
            <a:extLst>
              <a:ext uri="{FF2B5EF4-FFF2-40B4-BE49-F238E27FC236}">
                <a16:creationId xmlns:a16="http://schemas.microsoft.com/office/drawing/2014/main" id="{1D836A41-6737-3EE4-67BF-ECADF4CE7ED3}"/>
              </a:ext>
            </a:extLst>
          </p:cNvPr>
          <p:cNvSpPr>
            <a:spLocks noGrp="1"/>
          </p:cNvSpPr>
          <p:nvPr>
            <p:ph type="dt" sz="half" idx="10"/>
          </p:nvPr>
        </p:nvSpPr>
        <p:spPr/>
        <p:txBody>
          <a:bodyPr/>
          <a:lstStyle/>
          <a:p>
            <a:fld id="{12740A51-EF05-DD4F-83F6-2F52853D6DA4}" type="datetimeFigureOut">
              <a:rPr lang="fr-FR" smtClean="0"/>
              <a:t>22/06/2026</a:t>
            </a:fld>
            <a:endParaRPr lang="fr-FR"/>
          </a:p>
        </p:txBody>
      </p:sp>
      <p:sp>
        <p:nvSpPr>
          <p:cNvPr id="6" name="Footer Placeholder 5">
            <a:extLst>
              <a:ext uri="{FF2B5EF4-FFF2-40B4-BE49-F238E27FC236}">
                <a16:creationId xmlns:a16="http://schemas.microsoft.com/office/drawing/2014/main" id="{7D9CFE7E-4B5A-E9FC-47D6-CB4E77344F31}"/>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ED63FCE3-8E15-4EEA-9EB0-711DD8C12C56}"/>
              </a:ext>
            </a:extLst>
          </p:cNvPr>
          <p:cNvSpPr>
            <a:spLocks noGrp="1"/>
          </p:cNvSpPr>
          <p:nvPr>
            <p:ph type="sldNum" sz="quarter" idx="12"/>
          </p:nvPr>
        </p:nvSpPr>
        <p:spPr/>
        <p:txBody>
          <a:bodyPr/>
          <a:lstStyle/>
          <a:p>
            <a:fld id="{DDBABB92-70A8-4546-9F9E-6AFABEE5958A}" type="slidenum">
              <a:rPr lang="fr-FR" smtClean="0"/>
              <a:t>‹#›</a:t>
            </a:fld>
            <a:endParaRPr lang="fr-FR"/>
          </a:p>
        </p:txBody>
      </p:sp>
    </p:spTree>
    <p:extLst>
      <p:ext uri="{BB962C8B-B14F-4D97-AF65-F5344CB8AC3E}">
        <p14:creationId xmlns:p14="http://schemas.microsoft.com/office/powerpoint/2010/main" val="24084751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5B5AA9-79BF-4252-8247-0E323668B336}"/>
              </a:ext>
            </a:extLst>
          </p:cNvPr>
          <p:cNvSpPr>
            <a:spLocks noGrp="1"/>
          </p:cNvSpPr>
          <p:nvPr>
            <p:ph type="title"/>
          </p:nvPr>
        </p:nvSpPr>
        <p:spPr>
          <a:xfrm>
            <a:off x="839788" y="365125"/>
            <a:ext cx="10515600" cy="1325563"/>
          </a:xfrm>
        </p:spPr>
        <p:txBody>
          <a:bodyPr/>
          <a:lstStyle/>
          <a:p>
            <a:r>
              <a:rPr lang="en-US"/>
              <a:t>Click to edit Master title style</a:t>
            </a:r>
            <a:endParaRPr lang="fr-FR"/>
          </a:p>
        </p:txBody>
      </p:sp>
      <p:sp>
        <p:nvSpPr>
          <p:cNvPr id="3" name="Text Placeholder 2">
            <a:extLst>
              <a:ext uri="{FF2B5EF4-FFF2-40B4-BE49-F238E27FC236}">
                <a16:creationId xmlns:a16="http://schemas.microsoft.com/office/drawing/2014/main" id="{BBA42995-55F6-548F-6261-3537F4BEB1E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5E4C949-930E-DFF5-065B-B4447CC1B9C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5" name="Text Placeholder 4">
            <a:extLst>
              <a:ext uri="{FF2B5EF4-FFF2-40B4-BE49-F238E27FC236}">
                <a16:creationId xmlns:a16="http://schemas.microsoft.com/office/drawing/2014/main" id="{3F71CD2C-51E0-CB11-CEAB-ACC82548447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E41A82B-9505-22F7-644B-080BD466EAD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7" name="Date Placeholder 6">
            <a:extLst>
              <a:ext uri="{FF2B5EF4-FFF2-40B4-BE49-F238E27FC236}">
                <a16:creationId xmlns:a16="http://schemas.microsoft.com/office/drawing/2014/main" id="{CEDB1AC7-4627-6BEB-F9E7-90751B8541A9}"/>
              </a:ext>
            </a:extLst>
          </p:cNvPr>
          <p:cNvSpPr>
            <a:spLocks noGrp="1"/>
          </p:cNvSpPr>
          <p:nvPr>
            <p:ph type="dt" sz="half" idx="10"/>
          </p:nvPr>
        </p:nvSpPr>
        <p:spPr/>
        <p:txBody>
          <a:bodyPr/>
          <a:lstStyle/>
          <a:p>
            <a:fld id="{12740A51-EF05-DD4F-83F6-2F52853D6DA4}" type="datetimeFigureOut">
              <a:rPr lang="fr-FR" smtClean="0"/>
              <a:t>22/06/2026</a:t>
            </a:fld>
            <a:endParaRPr lang="fr-FR"/>
          </a:p>
        </p:txBody>
      </p:sp>
      <p:sp>
        <p:nvSpPr>
          <p:cNvPr id="8" name="Footer Placeholder 7">
            <a:extLst>
              <a:ext uri="{FF2B5EF4-FFF2-40B4-BE49-F238E27FC236}">
                <a16:creationId xmlns:a16="http://schemas.microsoft.com/office/drawing/2014/main" id="{0CEFAE4F-D46F-55F3-8C55-79A3011DE351}"/>
              </a:ext>
            </a:extLst>
          </p:cNvPr>
          <p:cNvSpPr>
            <a:spLocks noGrp="1"/>
          </p:cNvSpPr>
          <p:nvPr>
            <p:ph type="ftr" sz="quarter" idx="11"/>
          </p:nvPr>
        </p:nvSpPr>
        <p:spPr/>
        <p:txBody>
          <a:bodyPr/>
          <a:lstStyle/>
          <a:p>
            <a:endParaRPr lang="fr-FR"/>
          </a:p>
        </p:txBody>
      </p:sp>
      <p:sp>
        <p:nvSpPr>
          <p:cNvPr id="9" name="Slide Number Placeholder 8">
            <a:extLst>
              <a:ext uri="{FF2B5EF4-FFF2-40B4-BE49-F238E27FC236}">
                <a16:creationId xmlns:a16="http://schemas.microsoft.com/office/drawing/2014/main" id="{5EDC8C5B-5EC2-D69B-64E9-AD9A226A2AC6}"/>
              </a:ext>
            </a:extLst>
          </p:cNvPr>
          <p:cNvSpPr>
            <a:spLocks noGrp="1"/>
          </p:cNvSpPr>
          <p:nvPr>
            <p:ph type="sldNum" sz="quarter" idx="12"/>
          </p:nvPr>
        </p:nvSpPr>
        <p:spPr/>
        <p:txBody>
          <a:bodyPr/>
          <a:lstStyle/>
          <a:p>
            <a:fld id="{DDBABB92-70A8-4546-9F9E-6AFABEE5958A}" type="slidenum">
              <a:rPr lang="fr-FR" smtClean="0"/>
              <a:t>‹#›</a:t>
            </a:fld>
            <a:endParaRPr lang="fr-FR"/>
          </a:p>
        </p:txBody>
      </p:sp>
    </p:spTree>
    <p:extLst>
      <p:ext uri="{BB962C8B-B14F-4D97-AF65-F5344CB8AC3E}">
        <p14:creationId xmlns:p14="http://schemas.microsoft.com/office/powerpoint/2010/main" val="4188531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83C04-681E-E207-69A8-2F3A3F987F77}"/>
              </a:ext>
            </a:extLst>
          </p:cNvPr>
          <p:cNvSpPr>
            <a:spLocks noGrp="1"/>
          </p:cNvSpPr>
          <p:nvPr>
            <p:ph type="title"/>
          </p:nvPr>
        </p:nvSpPr>
        <p:spPr/>
        <p:txBody>
          <a:bodyPr/>
          <a:lstStyle/>
          <a:p>
            <a:r>
              <a:rPr lang="en-US"/>
              <a:t>Click to edit Master title style</a:t>
            </a:r>
            <a:endParaRPr lang="fr-FR"/>
          </a:p>
        </p:txBody>
      </p:sp>
      <p:sp>
        <p:nvSpPr>
          <p:cNvPr id="3" name="Date Placeholder 2">
            <a:extLst>
              <a:ext uri="{FF2B5EF4-FFF2-40B4-BE49-F238E27FC236}">
                <a16:creationId xmlns:a16="http://schemas.microsoft.com/office/drawing/2014/main" id="{AB22F085-F160-7531-6853-D04FE1706246}"/>
              </a:ext>
            </a:extLst>
          </p:cNvPr>
          <p:cNvSpPr>
            <a:spLocks noGrp="1"/>
          </p:cNvSpPr>
          <p:nvPr>
            <p:ph type="dt" sz="half" idx="10"/>
          </p:nvPr>
        </p:nvSpPr>
        <p:spPr/>
        <p:txBody>
          <a:bodyPr/>
          <a:lstStyle/>
          <a:p>
            <a:fld id="{12740A51-EF05-DD4F-83F6-2F52853D6DA4}" type="datetimeFigureOut">
              <a:rPr lang="fr-FR" smtClean="0"/>
              <a:t>22/06/2026</a:t>
            </a:fld>
            <a:endParaRPr lang="fr-FR"/>
          </a:p>
        </p:txBody>
      </p:sp>
      <p:sp>
        <p:nvSpPr>
          <p:cNvPr id="4" name="Footer Placeholder 3">
            <a:extLst>
              <a:ext uri="{FF2B5EF4-FFF2-40B4-BE49-F238E27FC236}">
                <a16:creationId xmlns:a16="http://schemas.microsoft.com/office/drawing/2014/main" id="{B80492EF-1ECE-42EB-E49A-08A5E88EE217}"/>
              </a:ext>
            </a:extLst>
          </p:cNvPr>
          <p:cNvSpPr>
            <a:spLocks noGrp="1"/>
          </p:cNvSpPr>
          <p:nvPr>
            <p:ph type="ftr" sz="quarter" idx="11"/>
          </p:nvPr>
        </p:nvSpPr>
        <p:spPr/>
        <p:txBody>
          <a:bodyPr/>
          <a:lstStyle/>
          <a:p>
            <a:endParaRPr lang="fr-FR"/>
          </a:p>
        </p:txBody>
      </p:sp>
      <p:sp>
        <p:nvSpPr>
          <p:cNvPr id="5" name="Slide Number Placeholder 4">
            <a:extLst>
              <a:ext uri="{FF2B5EF4-FFF2-40B4-BE49-F238E27FC236}">
                <a16:creationId xmlns:a16="http://schemas.microsoft.com/office/drawing/2014/main" id="{33751B31-7FEA-9870-C5E4-523A7579BDBE}"/>
              </a:ext>
            </a:extLst>
          </p:cNvPr>
          <p:cNvSpPr>
            <a:spLocks noGrp="1"/>
          </p:cNvSpPr>
          <p:nvPr>
            <p:ph type="sldNum" sz="quarter" idx="12"/>
          </p:nvPr>
        </p:nvSpPr>
        <p:spPr/>
        <p:txBody>
          <a:bodyPr/>
          <a:lstStyle/>
          <a:p>
            <a:fld id="{DDBABB92-70A8-4546-9F9E-6AFABEE5958A}" type="slidenum">
              <a:rPr lang="fr-FR" smtClean="0"/>
              <a:t>‹#›</a:t>
            </a:fld>
            <a:endParaRPr lang="fr-FR"/>
          </a:p>
        </p:txBody>
      </p:sp>
    </p:spTree>
    <p:extLst>
      <p:ext uri="{BB962C8B-B14F-4D97-AF65-F5344CB8AC3E}">
        <p14:creationId xmlns:p14="http://schemas.microsoft.com/office/powerpoint/2010/main" val="36487138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8E2A6DA-A412-5F9F-C32C-F5046D0C865E}"/>
              </a:ext>
            </a:extLst>
          </p:cNvPr>
          <p:cNvSpPr>
            <a:spLocks noGrp="1"/>
          </p:cNvSpPr>
          <p:nvPr>
            <p:ph type="dt" sz="half" idx="10"/>
          </p:nvPr>
        </p:nvSpPr>
        <p:spPr/>
        <p:txBody>
          <a:bodyPr/>
          <a:lstStyle/>
          <a:p>
            <a:fld id="{12740A51-EF05-DD4F-83F6-2F52853D6DA4}" type="datetimeFigureOut">
              <a:rPr lang="fr-FR" smtClean="0"/>
              <a:t>22/06/2026</a:t>
            </a:fld>
            <a:endParaRPr lang="fr-FR"/>
          </a:p>
        </p:txBody>
      </p:sp>
      <p:sp>
        <p:nvSpPr>
          <p:cNvPr id="3" name="Footer Placeholder 2">
            <a:extLst>
              <a:ext uri="{FF2B5EF4-FFF2-40B4-BE49-F238E27FC236}">
                <a16:creationId xmlns:a16="http://schemas.microsoft.com/office/drawing/2014/main" id="{5BBF7A30-06A7-28FC-90A2-4AC779DE3783}"/>
              </a:ext>
            </a:extLst>
          </p:cNvPr>
          <p:cNvSpPr>
            <a:spLocks noGrp="1"/>
          </p:cNvSpPr>
          <p:nvPr>
            <p:ph type="ftr" sz="quarter" idx="11"/>
          </p:nvPr>
        </p:nvSpPr>
        <p:spPr/>
        <p:txBody>
          <a:bodyPr/>
          <a:lstStyle/>
          <a:p>
            <a:endParaRPr lang="fr-FR"/>
          </a:p>
        </p:txBody>
      </p:sp>
      <p:sp>
        <p:nvSpPr>
          <p:cNvPr id="4" name="Slide Number Placeholder 3">
            <a:extLst>
              <a:ext uri="{FF2B5EF4-FFF2-40B4-BE49-F238E27FC236}">
                <a16:creationId xmlns:a16="http://schemas.microsoft.com/office/drawing/2014/main" id="{9D9703DE-82F2-34D8-2FA0-8F84C7FF9981}"/>
              </a:ext>
            </a:extLst>
          </p:cNvPr>
          <p:cNvSpPr>
            <a:spLocks noGrp="1"/>
          </p:cNvSpPr>
          <p:nvPr>
            <p:ph type="sldNum" sz="quarter" idx="12"/>
          </p:nvPr>
        </p:nvSpPr>
        <p:spPr/>
        <p:txBody>
          <a:bodyPr/>
          <a:lstStyle/>
          <a:p>
            <a:fld id="{DDBABB92-70A8-4546-9F9E-6AFABEE5958A}" type="slidenum">
              <a:rPr lang="fr-FR" smtClean="0"/>
              <a:t>‹#›</a:t>
            </a:fld>
            <a:endParaRPr lang="fr-FR"/>
          </a:p>
        </p:txBody>
      </p:sp>
    </p:spTree>
    <p:extLst>
      <p:ext uri="{BB962C8B-B14F-4D97-AF65-F5344CB8AC3E}">
        <p14:creationId xmlns:p14="http://schemas.microsoft.com/office/powerpoint/2010/main" val="35057403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F70B6-D79F-2617-FA34-177B047CC19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Content Placeholder 2">
            <a:extLst>
              <a:ext uri="{FF2B5EF4-FFF2-40B4-BE49-F238E27FC236}">
                <a16:creationId xmlns:a16="http://schemas.microsoft.com/office/drawing/2014/main" id="{A8044B57-FC9E-C4DA-ED74-BAE95CCE3A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Text Placeholder 3">
            <a:extLst>
              <a:ext uri="{FF2B5EF4-FFF2-40B4-BE49-F238E27FC236}">
                <a16:creationId xmlns:a16="http://schemas.microsoft.com/office/drawing/2014/main" id="{B6AF8893-CDE8-1899-2223-0C6C09D7A1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F48095F-B166-81F7-79BF-D177A6F104F9}"/>
              </a:ext>
            </a:extLst>
          </p:cNvPr>
          <p:cNvSpPr>
            <a:spLocks noGrp="1"/>
          </p:cNvSpPr>
          <p:nvPr>
            <p:ph type="dt" sz="half" idx="10"/>
          </p:nvPr>
        </p:nvSpPr>
        <p:spPr/>
        <p:txBody>
          <a:bodyPr/>
          <a:lstStyle/>
          <a:p>
            <a:fld id="{12740A51-EF05-DD4F-83F6-2F52853D6DA4}" type="datetimeFigureOut">
              <a:rPr lang="fr-FR" smtClean="0"/>
              <a:t>22/06/2026</a:t>
            </a:fld>
            <a:endParaRPr lang="fr-FR"/>
          </a:p>
        </p:txBody>
      </p:sp>
      <p:sp>
        <p:nvSpPr>
          <p:cNvPr id="6" name="Footer Placeholder 5">
            <a:extLst>
              <a:ext uri="{FF2B5EF4-FFF2-40B4-BE49-F238E27FC236}">
                <a16:creationId xmlns:a16="http://schemas.microsoft.com/office/drawing/2014/main" id="{41543CA6-3D56-D005-761C-7C8BB7809ACF}"/>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9805B060-06B3-AC58-DD2C-7670356A1775}"/>
              </a:ext>
            </a:extLst>
          </p:cNvPr>
          <p:cNvSpPr>
            <a:spLocks noGrp="1"/>
          </p:cNvSpPr>
          <p:nvPr>
            <p:ph type="sldNum" sz="quarter" idx="12"/>
          </p:nvPr>
        </p:nvSpPr>
        <p:spPr/>
        <p:txBody>
          <a:bodyPr/>
          <a:lstStyle/>
          <a:p>
            <a:fld id="{DDBABB92-70A8-4546-9F9E-6AFABEE5958A}" type="slidenum">
              <a:rPr lang="fr-FR" smtClean="0"/>
              <a:t>‹#›</a:t>
            </a:fld>
            <a:endParaRPr lang="fr-FR"/>
          </a:p>
        </p:txBody>
      </p:sp>
    </p:spTree>
    <p:extLst>
      <p:ext uri="{BB962C8B-B14F-4D97-AF65-F5344CB8AC3E}">
        <p14:creationId xmlns:p14="http://schemas.microsoft.com/office/powerpoint/2010/main" val="35218652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EA4949-5BEB-CA36-D2D8-E330E3EFE0C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fr-FR"/>
          </a:p>
        </p:txBody>
      </p:sp>
      <p:sp>
        <p:nvSpPr>
          <p:cNvPr id="3" name="Picture Placeholder 2">
            <a:extLst>
              <a:ext uri="{FF2B5EF4-FFF2-40B4-BE49-F238E27FC236}">
                <a16:creationId xmlns:a16="http://schemas.microsoft.com/office/drawing/2014/main" id="{6A56F572-37AE-04CC-D1E8-20D523D1FAB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Text Placeholder 3">
            <a:extLst>
              <a:ext uri="{FF2B5EF4-FFF2-40B4-BE49-F238E27FC236}">
                <a16:creationId xmlns:a16="http://schemas.microsoft.com/office/drawing/2014/main" id="{1464ED1C-1BA5-BA23-D62A-1DBCE5ACE2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995D21-DA6A-92AB-2EE5-E552379B1626}"/>
              </a:ext>
            </a:extLst>
          </p:cNvPr>
          <p:cNvSpPr>
            <a:spLocks noGrp="1"/>
          </p:cNvSpPr>
          <p:nvPr>
            <p:ph type="dt" sz="half" idx="10"/>
          </p:nvPr>
        </p:nvSpPr>
        <p:spPr/>
        <p:txBody>
          <a:bodyPr/>
          <a:lstStyle/>
          <a:p>
            <a:fld id="{12740A51-EF05-DD4F-83F6-2F52853D6DA4}" type="datetimeFigureOut">
              <a:rPr lang="fr-FR" smtClean="0"/>
              <a:t>22/06/2026</a:t>
            </a:fld>
            <a:endParaRPr lang="fr-FR"/>
          </a:p>
        </p:txBody>
      </p:sp>
      <p:sp>
        <p:nvSpPr>
          <p:cNvPr id="6" name="Footer Placeholder 5">
            <a:extLst>
              <a:ext uri="{FF2B5EF4-FFF2-40B4-BE49-F238E27FC236}">
                <a16:creationId xmlns:a16="http://schemas.microsoft.com/office/drawing/2014/main" id="{16E7CF83-79F9-0040-5A94-36F2EC34D974}"/>
              </a:ext>
            </a:extLst>
          </p:cNvPr>
          <p:cNvSpPr>
            <a:spLocks noGrp="1"/>
          </p:cNvSpPr>
          <p:nvPr>
            <p:ph type="ftr" sz="quarter" idx="11"/>
          </p:nvPr>
        </p:nvSpPr>
        <p:spPr/>
        <p:txBody>
          <a:bodyPr/>
          <a:lstStyle/>
          <a:p>
            <a:endParaRPr lang="fr-FR"/>
          </a:p>
        </p:txBody>
      </p:sp>
      <p:sp>
        <p:nvSpPr>
          <p:cNvPr id="7" name="Slide Number Placeholder 6">
            <a:extLst>
              <a:ext uri="{FF2B5EF4-FFF2-40B4-BE49-F238E27FC236}">
                <a16:creationId xmlns:a16="http://schemas.microsoft.com/office/drawing/2014/main" id="{A2F886FB-506B-1FCA-039F-D2163ED23316}"/>
              </a:ext>
            </a:extLst>
          </p:cNvPr>
          <p:cNvSpPr>
            <a:spLocks noGrp="1"/>
          </p:cNvSpPr>
          <p:nvPr>
            <p:ph type="sldNum" sz="quarter" idx="12"/>
          </p:nvPr>
        </p:nvSpPr>
        <p:spPr/>
        <p:txBody>
          <a:bodyPr/>
          <a:lstStyle/>
          <a:p>
            <a:fld id="{DDBABB92-70A8-4546-9F9E-6AFABEE5958A}" type="slidenum">
              <a:rPr lang="fr-FR" smtClean="0"/>
              <a:t>‹#›</a:t>
            </a:fld>
            <a:endParaRPr lang="fr-FR"/>
          </a:p>
        </p:txBody>
      </p:sp>
    </p:spTree>
    <p:extLst>
      <p:ext uri="{BB962C8B-B14F-4D97-AF65-F5344CB8AC3E}">
        <p14:creationId xmlns:p14="http://schemas.microsoft.com/office/powerpoint/2010/main" val="318031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38D78-1633-E43D-4CD5-49652AE3177C}"/>
              </a:ext>
            </a:extLst>
          </p:cNvPr>
          <p:cNvSpPr>
            <a:spLocks noGrp="1"/>
          </p:cNvSpPr>
          <p:nvPr>
            <p:ph type="title"/>
          </p:nvPr>
        </p:nvSpPr>
        <p:spPr/>
        <p:txBody>
          <a:bodyPr/>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F9190993-4A7B-E7B8-6806-086259A5223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14013095-DAED-CE0B-6B77-FA525669B7BF}"/>
              </a:ext>
            </a:extLst>
          </p:cNvPr>
          <p:cNvSpPr>
            <a:spLocks noGrp="1"/>
          </p:cNvSpPr>
          <p:nvPr>
            <p:ph type="dt" sz="half" idx="10"/>
          </p:nvPr>
        </p:nvSpPr>
        <p:spPr/>
        <p:txBody>
          <a:bodyPr/>
          <a:lstStyle/>
          <a:p>
            <a:fld id="{12740A51-EF05-DD4F-83F6-2F52853D6DA4}" type="datetimeFigureOut">
              <a:rPr lang="fr-FR" smtClean="0"/>
              <a:t>22/06/2026</a:t>
            </a:fld>
            <a:endParaRPr lang="fr-FR"/>
          </a:p>
        </p:txBody>
      </p:sp>
      <p:sp>
        <p:nvSpPr>
          <p:cNvPr id="5" name="Footer Placeholder 4">
            <a:extLst>
              <a:ext uri="{FF2B5EF4-FFF2-40B4-BE49-F238E27FC236}">
                <a16:creationId xmlns:a16="http://schemas.microsoft.com/office/drawing/2014/main" id="{43675313-FDA0-FC9E-A576-EC52ABB15233}"/>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5524173D-7D94-2284-3772-0E0DFA550C49}"/>
              </a:ext>
            </a:extLst>
          </p:cNvPr>
          <p:cNvSpPr>
            <a:spLocks noGrp="1"/>
          </p:cNvSpPr>
          <p:nvPr>
            <p:ph type="sldNum" sz="quarter" idx="12"/>
          </p:nvPr>
        </p:nvSpPr>
        <p:spPr/>
        <p:txBody>
          <a:bodyPr/>
          <a:lstStyle/>
          <a:p>
            <a:fld id="{DDBABB92-70A8-4546-9F9E-6AFABEE5958A}" type="slidenum">
              <a:rPr lang="fr-FR" smtClean="0"/>
              <a:t>‹#›</a:t>
            </a:fld>
            <a:endParaRPr lang="fr-FR"/>
          </a:p>
        </p:txBody>
      </p:sp>
    </p:spTree>
    <p:extLst>
      <p:ext uri="{BB962C8B-B14F-4D97-AF65-F5344CB8AC3E}">
        <p14:creationId xmlns:p14="http://schemas.microsoft.com/office/powerpoint/2010/main" val="34697826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151A40D-7980-CE1A-07A5-82FF6941BA6B}"/>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fr-FR"/>
          </a:p>
        </p:txBody>
      </p:sp>
      <p:sp>
        <p:nvSpPr>
          <p:cNvPr id="3" name="Vertical Text Placeholder 2">
            <a:extLst>
              <a:ext uri="{FF2B5EF4-FFF2-40B4-BE49-F238E27FC236}">
                <a16:creationId xmlns:a16="http://schemas.microsoft.com/office/drawing/2014/main" id="{EBA9BE68-62FF-A214-E68A-856D6F2C0D1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FF6CA1DD-078A-CB2B-5C15-B4CF254E056F}"/>
              </a:ext>
            </a:extLst>
          </p:cNvPr>
          <p:cNvSpPr>
            <a:spLocks noGrp="1"/>
          </p:cNvSpPr>
          <p:nvPr>
            <p:ph type="dt" sz="half" idx="10"/>
          </p:nvPr>
        </p:nvSpPr>
        <p:spPr/>
        <p:txBody>
          <a:bodyPr/>
          <a:lstStyle/>
          <a:p>
            <a:fld id="{12740A51-EF05-DD4F-83F6-2F52853D6DA4}" type="datetimeFigureOut">
              <a:rPr lang="fr-FR" smtClean="0"/>
              <a:t>22/06/2026</a:t>
            </a:fld>
            <a:endParaRPr lang="fr-FR"/>
          </a:p>
        </p:txBody>
      </p:sp>
      <p:sp>
        <p:nvSpPr>
          <p:cNvPr id="5" name="Footer Placeholder 4">
            <a:extLst>
              <a:ext uri="{FF2B5EF4-FFF2-40B4-BE49-F238E27FC236}">
                <a16:creationId xmlns:a16="http://schemas.microsoft.com/office/drawing/2014/main" id="{4CB0402D-A11B-3A27-D798-6CA0312767A1}"/>
              </a:ext>
            </a:extLst>
          </p:cNvPr>
          <p:cNvSpPr>
            <a:spLocks noGrp="1"/>
          </p:cNvSpPr>
          <p:nvPr>
            <p:ph type="ftr" sz="quarter" idx="11"/>
          </p:nvPr>
        </p:nvSpPr>
        <p:spPr/>
        <p:txBody>
          <a:bodyPr/>
          <a:lstStyle/>
          <a:p>
            <a:endParaRPr lang="fr-FR"/>
          </a:p>
        </p:txBody>
      </p:sp>
      <p:sp>
        <p:nvSpPr>
          <p:cNvPr id="6" name="Slide Number Placeholder 5">
            <a:extLst>
              <a:ext uri="{FF2B5EF4-FFF2-40B4-BE49-F238E27FC236}">
                <a16:creationId xmlns:a16="http://schemas.microsoft.com/office/drawing/2014/main" id="{AE198055-B5E0-9D84-B4D2-842D2D65EF41}"/>
              </a:ext>
            </a:extLst>
          </p:cNvPr>
          <p:cNvSpPr>
            <a:spLocks noGrp="1"/>
          </p:cNvSpPr>
          <p:nvPr>
            <p:ph type="sldNum" sz="quarter" idx="12"/>
          </p:nvPr>
        </p:nvSpPr>
        <p:spPr/>
        <p:txBody>
          <a:bodyPr/>
          <a:lstStyle/>
          <a:p>
            <a:fld id="{DDBABB92-70A8-4546-9F9E-6AFABEE5958A}" type="slidenum">
              <a:rPr lang="fr-FR" smtClean="0"/>
              <a:t>‹#›</a:t>
            </a:fld>
            <a:endParaRPr lang="fr-FR"/>
          </a:p>
        </p:txBody>
      </p:sp>
    </p:spTree>
    <p:extLst>
      <p:ext uri="{BB962C8B-B14F-4D97-AF65-F5344CB8AC3E}">
        <p14:creationId xmlns:p14="http://schemas.microsoft.com/office/powerpoint/2010/main" val="29432327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iapositive de tit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Espace réservé du texte 19">
            <a:extLst>
              <a:ext uri="{FF2B5EF4-FFF2-40B4-BE49-F238E27FC236}">
                <a16:creationId xmlns:a16="http://schemas.microsoft.com/office/drawing/2014/main" id="{A5BF624E-4A1F-43BE-1486-0CF2E3765329}"/>
              </a:ext>
            </a:extLst>
          </p:cNvPr>
          <p:cNvSpPr>
            <a:spLocks noGrp="1"/>
          </p:cNvSpPr>
          <p:nvPr>
            <p:ph type="body" sz="quarter" idx="13"/>
          </p:nvPr>
        </p:nvSpPr>
        <p:spPr>
          <a:xfrm>
            <a:off x="923191" y="2576720"/>
            <a:ext cx="11268809" cy="4281279"/>
          </a:xfrm>
          <a:prstGeom prst="rect">
            <a:avLst/>
          </a:prstGeom>
          <a:solidFill>
            <a:srgbClr val="5DB3E6">
              <a:alpha val="78824"/>
            </a:srgbClr>
          </a:solidFill>
        </p:spPr>
        <p:txBody>
          <a:bodyPr/>
          <a:lstStyle>
            <a:lvl1pPr marL="0" indent="0" algn="l">
              <a:buNone/>
              <a:tabLst>
                <a:tab pos="179388" algn="l"/>
              </a:tabLst>
              <a:defRPr sz="2800" b="1" baseline="0">
                <a:ln>
                  <a:noFill/>
                </a:ln>
                <a:noFill/>
                <a:latin typeface="Arial" panose="020B0604020202020204" pitchFamily="34" charset="0"/>
                <a:cs typeface="Arial" panose="020B0604020202020204" pitchFamily="34" charset="0"/>
              </a:defRPr>
            </a:lvl1pPr>
          </a:lstStyle>
          <a:p>
            <a:pPr lvl="0"/>
            <a:endParaRPr lang="fr-BE" dirty="0"/>
          </a:p>
        </p:txBody>
      </p:sp>
      <p:sp>
        <p:nvSpPr>
          <p:cNvPr id="6" name="Espace réservé du texte 19"/>
          <p:cNvSpPr>
            <a:spLocks noGrp="1"/>
          </p:cNvSpPr>
          <p:nvPr>
            <p:ph type="body" sz="quarter" idx="11" hasCustomPrompt="1"/>
          </p:nvPr>
        </p:nvSpPr>
        <p:spPr>
          <a:xfrm>
            <a:off x="1260261" y="5465973"/>
            <a:ext cx="4691706" cy="431800"/>
          </a:xfrm>
          <a:prstGeom prst="rect">
            <a:avLst/>
          </a:prstGeom>
        </p:spPr>
        <p:txBody>
          <a:bodyPr/>
          <a:lstStyle>
            <a:lvl1pPr marL="0" indent="0" algn="l">
              <a:buNone/>
              <a:tabLst>
                <a:tab pos="179388" algn="l"/>
              </a:tabLst>
              <a:defRPr sz="2800" b="1" baseline="0">
                <a:solidFill>
                  <a:schemeClr val="bg1"/>
                </a:solidFill>
                <a:latin typeface="Arial" panose="020B0604020202020204" pitchFamily="34" charset="0"/>
                <a:cs typeface="Arial" panose="020B0604020202020204" pitchFamily="34" charset="0"/>
              </a:defRPr>
            </a:lvl1pPr>
          </a:lstStyle>
          <a:p>
            <a:pPr lvl="0"/>
            <a:r>
              <a:rPr lang="fr-BE" dirty="0"/>
              <a:t>	Titre de la présentation</a:t>
            </a:r>
          </a:p>
        </p:txBody>
      </p:sp>
      <p:sp>
        <p:nvSpPr>
          <p:cNvPr id="7" name="Espace réservé du texte 19"/>
          <p:cNvSpPr>
            <a:spLocks noGrp="1"/>
          </p:cNvSpPr>
          <p:nvPr>
            <p:ph type="body" sz="quarter" idx="12" hasCustomPrompt="1"/>
          </p:nvPr>
        </p:nvSpPr>
        <p:spPr>
          <a:xfrm>
            <a:off x="1260261" y="5909200"/>
            <a:ext cx="4691706" cy="431800"/>
          </a:xfrm>
          <a:prstGeom prst="rect">
            <a:avLst/>
          </a:prstGeom>
        </p:spPr>
        <p:txBody>
          <a:bodyPr/>
          <a:lstStyle>
            <a:lvl1pPr marL="0" indent="0" algn="l">
              <a:buNone/>
              <a:tabLst>
                <a:tab pos="179388" algn="l"/>
              </a:tabLst>
              <a:defRPr sz="2000" b="0" baseline="0">
                <a:solidFill>
                  <a:schemeClr val="bg1"/>
                </a:solidFill>
                <a:latin typeface="Arial" panose="020B0604020202020204" pitchFamily="34" charset="0"/>
                <a:cs typeface="Arial" panose="020B0604020202020204" pitchFamily="34" charset="0"/>
              </a:defRPr>
            </a:lvl1pPr>
          </a:lstStyle>
          <a:p>
            <a:pPr lvl="0"/>
            <a:r>
              <a:rPr lang="fr-BE" dirty="0"/>
              <a:t>	DATE</a:t>
            </a:r>
          </a:p>
        </p:txBody>
      </p:sp>
      <p:sp>
        <p:nvSpPr>
          <p:cNvPr id="4" name="Espace réservé du texte 19"/>
          <p:cNvSpPr>
            <a:spLocks noGrp="1"/>
          </p:cNvSpPr>
          <p:nvPr>
            <p:ph type="body" sz="quarter" idx="16" hasCustomPrompt="1"/>
          </p:nvPr>
        </p:nvSpPr>
        <p:spPr>
          <a:xfrm>
            <a:off x="919118" y="1308370"/>
            <a:ext cx="4691706" cy="924280"/>
          </a:xfrm>
          <a:prstGeom prst="rect">
            <a:avLst/>
          </a:prstGeom>
        </p:spPr>
        <p:txBody>
          <a:bodyPr/>
          <a:lstStyle>
            <a:lvl1pPr marL="0" indent="0" algn="l">
              <a:lnSpc>
                <a:spcPct val="100000"/>
              </a:lnSpc>
              <a:spcBef>
                <a:spcPts val="0"/>
              </a:spcBef>
              <a:buNone/>
              <a:tabLst>
                <a:tab pos="179388" algn="l"/>
              </a:tabLst>
              <a:defRPr sz="1700" b="0" baseline="0">
                <a:solidFill>
                  <a:srgbClr val="00214E"/>
                </a:solidFill>
                <a:latin typeface="Arial" panose="020B0604020202020204" pitchFamily="34" charset="0"/>
                <a:cs typeface="Arial" panose="020B0604020202020204" pitchFamily="34" charset="0"/>
              </a:defRPr>
            </a:lvl1pPr>
          </a:lstStyle>
          <a:p>
            <a:pPr lvl="0"/>
            <a:r>
              <a:rPr lang="fr-BE" dirty="0"/>
              <a:t>Entité émettrice</a:t>
            </a:r>
          </a:p>
        </p:txBody>
      </p:sp>
      <p:sp>
        <p:nvSpPr>
          <p:cNvPr id="5" name="Espace réservé du texte 19"/>
          <p:cNvSpPr>
            <a:spLocks noGrp="1"/>
          </p:cNvSpPr>
          <p:nvPr>
            <p:ph type="body" sz="quarter" idx="17" hasCustomPrompt="1"/>
          </p:nvPr>
        </p:nvSpPr>
        <p:spPr>
          <a:xfrm>
            <a:off x="919118" y="1576917"/>
            <a:ext cx="4691706" cy="267485"/>
          </a:xfrm>
          <a:prstGeom prst="rect">
            <a:avLst/>
          </a:prstGeom>
        </p:spPr>
        <p:txBody>
          <a:bodyPr/>
          <a:lstStyle>
            <a:lvl1pPr marL="0" indent="0" algn="l">
              <a:lnSpc>
                <a:spcPct val="100000"/>
              </a:lnSpc>
              <a:spcBef>
                <a:spcPts val="0"/>
              </a:spcBef>
              <a:buNone/>
              <a:tabLst>
                <a:tab pos="179388" algn="l"/>
              </a:tabLst>
              <a:defRPr sz="1700" b="0" baseline="0">
                <a:solidFill>
                  <a:srgbClr val="00214E"/>
                </a:solidFill>
                <a:latin typeface="Arial" panose="020B0604020202020204" pitchFamily="34" charset="0"/>
                <a:cs typeface="Arial" panose="020B0604020202020204" pitchFamily="34" charset="0"/>
              </a:defRPr>
            </a:lvl1pPr>
          </a:lstStyle>
          <a:p>
            <a:pPr lvl="0"/>
            <a:r>
              <a:rPr lang="fr-BE" dirty="0"/>
              <a:t>Faculté </a:t>
            </a:r>
          </a:p>
        </p:txBody>
      </p:sp>
      <p:sp>
        <p:nvSpPr>
          <p:cNvPr id="8" name="Espace réservé du texte 19"/>
          <p:cNvSpPr>
            <a:spLocks noGrp="1"/>
          </p:cNvSpPr>
          <p:nvPr>
            <p:ph type="body" sz="quarter" idx="18" hasCustomPrompt="1"/>
          </p:nvPr>
        </p:nvSpPr>
        <p:spPr>
          <a:xfrm>
            <a:off x="919118" y="1844402"/>
            <a:ext cx="4691706" cy="393962"/>
          </a:xfrm>
          <a:prstGeom prst="rect">
            <a:avLst/>
          </a:prstGeom>
        </p:spPr>
        <p:txBody>
          <a:bodyPr/>
          <a:lstStyle>
            <a:lvl1pPr marL="0" indent="0" algn="l">
              <a:lnSpc>
                <a:spcPct val="100000"/>
              </a:lnSpc>
              <a:spcBef>
                <a:spcPts val="0"/>
              </a:spcBef>
              <a:buNone/>
              <a:tabLst>
                <a:tab pos="179388" algn="l"/>
              </a:tabLst>
              <a:defRPr sz="1700" b="0" baseline="0">
                <a:solidFill>
                  <a:srgbClr val="00214E"/>
                </a:solidFill>
                <a:latin typeface="Arial" panose="020B0604020202020204" pitchFamily="34" charset="0"/>
                <a:cs typeface="Arial" panose="020B0604020202020204" pitchFamily="34" charset="0"/>
              </a:defRPr>
            </a:lvl1pPr>
          </a:lstStyle>
          <a:p>
            <a:pPr lvl="0"/>
            <a:r>
              <a:rPr lang="fr-BE" dirty="0"/>
              <a:t>Ne pas dépasser les 3 lignes</a:t>
            </a:r>
          </a:p>
        </p:txBody>
      </p:sp>
    </p:spTree>
    <p:extLst>
      <p:ext uri="{BB962C8B-B14F-4D97-AF65-F5344CB8AC3E}">
        <p14:creationId xmlns:p14="http://schemas.microsoft.com/office/powerpoint/2010/main" val="35148536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Diapositive de titr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Espace réservé du texte 19"/>
          <p:cNvSpPr>
            <a:spLocks noGrp="1"/>
          </p:cNvSpPr>
          <p:nvPr>
            <p:ph type="body" sz="quarter" idx="11" hasCustomPrompt="1"/>
          </p:nvPr>
        </p:nvSpPr>
        <p:spPr>
          <a:xfrm>
            <a:off x="2285658" y="2878926"/>
            <a:ext cx="7332358" cy="1019324"/>
          </a:xfrm>
          <a:prstGeom prst="rect">
            <a:avLst/>
          </a:prstGeom>
        </p:spPr>
        <p:txBody>
          <a:bodyPr/>
          <a:lstStyle>
            <a:lvl1pPr marL="0" indent="0" algn="l">
              <a:buNone/>
              <a:tabLst>
                <a:tab pos="179388" algn="l"/>
              </a:tabLst>
              <a:defRPr sz="6600" b="1" baseline="0">
                <a:solidFill>
                  <a:schemeClr val="bg1"/>
                </a:solidFill>
                <a:latin typeface="Arial" panose="020B0604020202020204" pitchFamily="34" charset="0"/>
                <a:cs typeface="Arial" panose="020B0604020202020204" pitchFamily="34" charset="0"/>
              </a:defRPr>
            </a:lvl1pPr>
          </a:lstStyle>
          <a:p>
            <a:pPr lvl="0"/>
            <a:r>
              <a:rPr lang="fr-BE" dirty="0"/>
              <a:t>	Titre du chapitre</a:t>
            </a:r>
          </a:p>
        </p:txBody>
      </p:sp>
    </p:spTree>
    <p:extLst>
      <p:ext uri="{BB962C8B-B14F-4D97-AF65-F5344CB8AC3E}">
        <p14:creationId xmlns:p14="http://schemas.microsoft.com/office/powerpoint/2010/main" val="40770115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5BC9837-15B6-A610-EC2C-C5389C6EB2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fr-FR"/>
          </a:p>
        </p:txBody>
      </p:sp>
      <p:sp>
        <p:nvSpPr>
          <p:cNvPr id="3" name="Text Placeholder 2">
            <a:extLst>
              <a:ext uri="{FF2B5EF4-FFF2-40B4-BE49-F238E27FC236}">
                <a16:creationId xmlns:a16="http://schemas.microsoft.com/office/drawing/2014/main" id="{9E67C3A2-3DA9-6EE6-FF36-ED06E237CD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4" name="Date Placeholder 3">
            <a:extLst>
              <a:ext uri="{FF2B5EF4-FFF2-40B4-BE49-F238E27FC236}">
                <a16:creationId xmlns:a16="http://schemas.microsoft.com/office/drawing/2014/main" id="{F78BAE58-A7CF-C8C8-C05E-0B790C4780D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2740A51-EF05-DD4F-83F6-2F52853D6DA4}" type="datetimeFigureOut">
              <a:rPr lang="fr-FR" smtClean="0"/>
              <a:t>22/06/2026</a:t>
            </a:fld>
            <a:endParaRPr lang="fr-FR"/>
          </a:p>
        </p:txBody>
      </p:sp>
      <p:sp>
        <p:nvSpPr>
          <p:cNvPr id="5" name="Footer Placeholder 4">
            <a:extLst>
              <a:ext uri="{FF2B5EF4-FFF2-40B4-BE49-F238E27FC236}">
                <a16:creationId xmlns:a16="http://schemas.microsoft.com/office/drawing/2014/main" id="{363CFD24-CDBF-A086-EFBB-206B5DDBEE4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Slide Number Placeholder 5">
            <a:extLst>
              <a:ext uri="{FF2B5EF4-FFF2-40B4-BE49-F238E27FC236}">
                <a16:creationId xmlns:a16="http://schemas.microsoft.com/office/drawing/2014/main" id="{77588DD8-441D-E989-B9CE-8E10E61809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DBABB92-70A8-4546-9F9E-6AFABEE5958A}" type="slidenum">
              <a:rPr lang="fr-FR" smtClean="0"/>
              <a:t>‹#›</a:t>
            </a:fld>
            <a:endParaRPr lang="fr-FR"/>
          </a:p>
        </p:txBody>
      </p:sp>
    </p:spTree>
    <p:extLst>
      <p:ext uri="{BB962C8B-B14F-4D97-AF65-F5344CB8AC3E}">
        <p14:creationId xmlns:p14="http://schemas.microsoft.com/office/powerpoint/2010/main" val="18703112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microsoft.com/office/2018/10/relationships/comments" Target="../comments/modernComment_127_0.xml"/><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2B_0.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6.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Espace réservé du texte 8">
            <a:extLst>
              <a:ext uri="{FF2B5EF4-FFF2-40B4-BE49-F238E27FC236}">
                <a16:creationId xmlns:a16="http://schemas.microsoft.com/office/drawing/2014/main" id="{91BD156E-8B1B-3149-2744-02C8ED65617C}"/>
              </a:ext>
            </a:extLst>
          </p:cNvPr>
          <p:cNvSpPr>
            <a:spLocks noGrp="1"/>
          </p:cNvSpPr>
          <p:nvPr>
            <p:ph type="body" sz="quarter" idx="13"/>
          </p:nvPr>
        </p:nvSpPr>
        <p:spPr/>
        <p:txBody>
          <a:bodyPr/>
          <a:lstStyle/>
          <a:p>
            <a:endParaRPr lang="fr-FR" dirty="0">
              <a:latin typeface=""/>
            </a:endParaRPr>
          </a:p>
        </p:txBody>
      </p:sp>
      <p:sp>
        <p:nvSpPr>
          <p:cNvPr id="7" name="Espace réservé du texte 6">
            <a:extLst>
              <a:ext uri="{FF2B5EF4-FFF2-40B4-BE49-F238E27FC236}">
                <a16:creationId xmlns:a16="http://schemas.microsoft.com/office/drawing/2014/main" id="{AA0E1C9D-3A67-9E9E-0DC0-F9D59C3136D0}"/>
              </a:ext>
            </a:extLst>
          </p:cNvPr>
          <p:cNvSpPr>
            <a:spLocks noGrp="1"/>
          </p:cNvSpPr>
          <p:nvPr>
            <p:ph type="body" sz="quarter" idx="11"/>
          </p:nvPr>
        </p:nvSpPr>
        <p:spPr>
          <a:xfrm>
            <a:off x="1260261" y="4623540"/>
            <a:ext cx="10679491" cy="844017"/>
          </a:xfrm>
        </p:spPr>
        <p:txBody>
          <a:bodyPr>
            <a:normAutofit lnSpcReduction="10000"/>
          </a:bodyPr>
          <a:lstStyle/>
          <a:p>
            <a:r>
              <a:rPr lang="en-US" dirty="0">
                <a:latin typeface="Aptos Display"/>
              </a:rPr>
              <a:t>Common data for a shared reality - Information extraction from data with statistically enhanced LLMs</a:t>
            </a:r>
            <a:endParaRPr lang="fr-FR" dirty="0"/>
          </a:p>
        </p:txBody>
      </p:sp>
      <p:sp>
        <p:nvSpPr>
          <p:cNvPr id="8" name="Espace réservé du texte 7">
            <a:extLst>
              <a:ext uri="{FF2B5EF4-FFF2-40B4-BE49-F238E27FC236}">
                <a16:creationId xmlns:a16="http://schemas.microsoft.com/office/drawing/2014/main" id="{DD82F8D7-5208-9228-EF70-8D705639D6E2}"/>
              </a:ext>
            </a:extLst>
          </p:cNvPr>
          <p:cNvSpPr>
            <a:spLocks noGrp="1"/>
          </p:cNvSpPr>
          <p:nvPr>
            <p:ph type="body" sz="quarter" idx="12"/>
          </p:nvPr>
        </p:nvSpPr>
        <p:spPr>
          <a:xfrm>
            <a:off x="1260261" y="6294488"/>
            <a:ext cx="4691706" cy="431800"/>
          </a:xfrm>
        </p:spPr>
        <p:txBody>
          <a:bodyPr/>
          <a:lstStyle/>
          <a:p>
            <a:r>
              <a:rPr lang="fr-FR">
                <a:latin typeface="Aptos"/>
              </a:rPr>
              <a:t>Beamm.Conf26</a:t>
            </a:r>
            <a:r>
              <a:rPr lang="fr-FR" dirty="0">
                <a:latin typeface="Aptos"/>
              </a:rPr>
              <a:t>, June 30 2026</a:t>
            </a:r>
          </a:p>
        </p:txBody>
      </p:sp>
      <p:sp>
        <p:nvSpPr>
          <p:cNvPr id="2" name="Espace réservé du texte 7">
            <a:extLst>
              <a:ext uri="{FF2B5EF4-FFF2-40B4-BE49-F238E27FC236}">
                <a16:creationId xmlns:a16="http://schemas.microsoft.com/office/drawing/2014/main" id="{7FD92F26-70F0-D4F5-5E71-1B0D990E9BBD}"/>
              </a:ext>
            </a:extLst>
          </p:cNvPr>
          <p:cNvSpPr txBox="1">
            <a:spLocks/>
          </p:cNvSpPr>
          <p:nvPr/>
        </p:nvSpPr>
        <p:spPr>
          <a:xfrm>
            <a:off x="1260261" y="5946878"/>
            <a:ext cx="8229600" cy="431800"/>
          </a:xfrm>
          <a:prstGeom prst="rect">
            <a:avLst/>
          </a:prstGeom>
        </p:spPr>
        <p:txBody>
          <a:bodyPr wrap="none"/>
          <a:lstStyle>
            <a:lvl1pPr marL="0" indent="0" algn="l" defTabSz="914400" rtl="0" eaLnBrk="1" latinLnBrk="0" hangingPunct="1">
              <a:lnSpc>
                <a:spcPct val="90000"/>
              </a:lnSpc>
              <a:spcBef>
                <a:spcPts val="1000"/>
              </a:spcBef>
              <a:buFont typeface="Arial"/>
              <a:buNone/>
              <a:tabLst>
                <a:tab pos="179388" algn="l"/>
              </a:tabLst>
              <a:defRPr sz="2000" b="0" kern="1200" baseline="0">
                <a:solidFill>
                  <a:schemeClr val="bg1"/>
                </a:solidFill>
                <a:latin typeface="Arial" panose="020B0604020202020204" pitchFamily="34" charset="0"/>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fr-FR" dirty="0">
                <a:latin typeface="Aptos"/>
              </a:rPr>
              <a:t>Antoine Soetewey &amp; Cédric Heuchenne</a:t>
            </a:r>
          </a:p>
        </p:txBody>
      </p:sp>
      <p:pic>
        <p:nvPicPr>
          <p:cNvPr id="6" name="Graphic 5">
            <a:extLst>
              <a:ext uri="{FF2B5EF4-FFF2-40B4-BE49-F238E27FC236}">
                <a16:creationId xmlns:a16="http://schemas.microsoft.com/office/drawing/2014/main" id="{271DBE29-2145-D87B-A2B3-8D73EAEA27C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01538" y="507564"/>
            <a:ext cx="3022600" cy="482600"/>
          </a:xfrm>
          <a:prstGeom prst="rect">
            <a:avLst/>
          </a:prstGeom>
        </p:spPr>
      </p:pic>
    </p:spTree>
    <p:extLst>
      <p:ext uri="{BB962C8B-B14F-4D97-AF65-F5344CB8AC3E}">
        <p14:creationId xmlns:p14="http://schemas.microsoft.com/office/powerpoint/2010/main" val="7297760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Rich data, </a:t>
            </a:r>
            <a:r>
              <a:rPr lang="fr-FR" dirty="0"/>
              <a:t>but </a:t>
            </a:r>
            <a:r>
              <a:rPr dirty="0"/>
              <a:t>hard to use</a:t>
            </a:r>
            <a:r>
              <a:rPr lang="fr-FR" dirty="0"/>
              <a:t>…</a:t>
            </a:r>
            <a:endParaRPr dirty="0"/>
          </a:p>
        </p:txBody>
      </p:sp>
      <p:sp>
        <p:nvSpPr>
          <p:cNvPr id="3" name="Content Placeholder 2"/>
          <p:cNvSpPr>
            <a:spLocks noGrp="1"/>
          </p:cNvSpPr>
          <p:nvPr>
            <p:ph idx="1"/>
          </p:nvPr>
        </p:nvSpPr>
        <p:spPr>
          <a:xfrm>
            <a:off x="838200" y="1828799"/>
            <a:ext cx="10515600" cy="4664076"/>
          </a:xfrm>
        </p:spPr>
        <p:txBody>
          <a:bodyPr wrap="square">
            <a:normAutofit lnSpcReduction="10000"/>
          </a:bodyPr>
          <a:lstStyle/>
          <a:p>
            <a:r>
              <a:rPr lang="en-US" sz="1600" b="1" dirty="0"/>
              <a:t>Belgium and Europe collect large-scale administrative and survey data </a:t>
            </a:r>
            <a:r>
              <a:rPr lang="en-US" sz="1600" dirty="0"/>
              <a:t>on key dimensions of socio-economic life:</a:t>
            </a:r>
          </a:p>
          <a:p>
            <a:pPr lvl="1"/>
            <a:r>
              <a:rPr lang="en-US" sz="1300" dirty="0"/>
              <a:t>Income and taxation (IPCAL, EU-SILC)</a:t>
            </a:r>
          </a:p>
          <a:p>
            <a:pPr lvl="1"/>
            <a:r>
              <a:rPr lang="en-US" sz="1300" dirty="0" err="1"/>
              <a:t>Labour</a:t>
            </a:r>
            <a:r>
              <a:rPr lang="en-US" sz="1300" dirty="0"/>
              <a:t> market and employment (LFS, CBSS)</a:t>
            </a:r>
          </a:p>
          <a:p>
            <a:pPr lvl="1"/>
            <a:r>
              <a:rPr lang="en-US" sz="1300" dirty="0"/>
              <a:t>Housing (EU-SILC, Housing data)</a:t>
            </a:r>
          </a:p>
          <a:p>
            <a:pPr lvl="1"/>
            <a:r>
              <a:rPr lang="en-US" sz="1300" dirty="0"/>
              <a:t>Consumption (HBS)</a:t>
            </a:r>
          </a:p>
          <a:p>
            <a:pPr lvl="1"/>
            <a:r>
              <a:rPr lang="en-US" sz="1300" dirty="0"/>
              <a:t>Mobility (OVG, Beldam, Monitor)</a:t>
            </a:r>
          </a:p>
          <a:p>
            <a:pPr lvl="1"/>
            <a:r>
              <a:rPr lang="en-US" sz="1300" dirty="0"/>
              <a:t>Household finances (HFCS)</a:t>
            </a:r>
          </a:p>
          <a:p>
            <a:pPr lvl="1"/>
            <a:r>
              <a:rPr lang="en-US" sz="1300" dirty="0"/>
              <a:t>Time use (HETUS)</a:t>
            </a:r>
          </a:p>
          <a:p>
            <a:pPr lvl="1"/>
            <a:r>
              <a:rPr lang="en-US" sz="1300" dirty="0"/>
              <a:t>etc.</a:t>
            </a:r>
          </a:p>
          <a:p>
            <a:pPr>
              <a:spcAft>
                <a:spcPts val="400"/>
              </a:spcAft>
            </a:pPr>
            <a:r>
              <a:rPr lang="en-US" sz="1600" b="1" i="0" noProof="0" dirty="0">
                <a:solidFill>
                  <a:srgbClr val="222A33"/>
                </a:solidFill>
              </a:rPr>
              <a:t>Data is not public for obvious confidentiality reasons</a:t>
            </a:r>
            <a:r>
              <a:rPr lang="en-US" sz="1600" dirty="0">
                <a:solidFill>
                  <a:srgbClr val="222A33"/>
                </a:solidFill>
              </a:rPr>
              <a:t>, but Beamm r</a:t>
            </a:r>
            <a:r>
              <a:rPr lang="en-US" sz="1600" i="0" noProof="0" dirty="0" err="1">
                <a:solidFill>
                  <a:srgbClr val="222A33"/>
                </a:solidFill>
              </a:rPr>
              <a:t>esearchers</a:t>
            </a:r>
            <a:r>
              <a:rPr lang="en-US" sz="1600" b="0" i="0" noProof="0" dirty="0">
                <a:solidFill>
                  <a:srgbClr val="222A33"/>
                </a:solidFill>
              </a:rPr>
              <a:t> have access under strict confidentiality and data-protection rules</a:t>
            </a:r>
          </a:p>
          <a:p>
            <a:pPr>
              <a:spcAft>
                <a:spcPts val="400"/>
              </a:spcAft>
            </a:pPr>
            <a:r>
              <a:rPr lang="en-US" sz="1600" b="1" i="0" noProof="0" dirty="0">
                <a:solidFill>
                  <a:srgbClr val="222A33"/>
                </a:solidFill>
              </a:rPr>
              <a:t>Even with access, it is hard to use:</a:t>
            </a:r>
            <a:endParaRPr lang="en-US" sz="1600" b="1" dirty="0">
              <a:solidFill>
                <a:srgbClr val="222A33"/>
              </a:solidFill>
            </a:endParaRPr>
          </a:p>
          <a:p>
            <a:pPr lvl="1">
              <a:spcAft>
                <a:spcPts val="400"/>
              </a:spcAft>
            </a:pPr>
            <a:r>
              <a:rPr lang="en-US" sz="1300" dirty="0">
                <a:solidFill>
                  <a:srgbClr val="222A33"/>
                </a:solidFill>
              </a:rPr>
              <a:t>V</a:t>
            </a:r>
            <a:r>
              <a:rPr lang="en-US" sz="1300" b="0" i="0" noProof="0" dirty="0" err="1">
                <a:solidFill>
                  <a:srgbClr val="222A33"/>
                </a:solidFill>
              </a:rPr>
              <a:t>ariables</a:t>
            </a:r>
            <a:r>
              <a:rPr lang="en-US" sz="1300" b="0" i="0" noProof="0" dirty="0">
                <a:solidFill>
                  <a:srgbClr val="222A33"/>
                </a:solidFill>
              </a:rPr>
              <a:t> hide behind opaque names (e.g., HY040G, PL031) and </a:t>
            </a:r>
            <a:r>
              <a:rPr lang="en-US" sz="1300" dirty="0">
                <a:solidFill>
                  <a:srgbClr val="222A33"/>
                </a:solidFill>
              </a:rPr>
              <a:t>descriptions are </a:t>
            </a:r>
            <a:r>
              <a:rPr lang="en-US" sz="1300" b="0" i="0" noProof="0" dirty="0">
                <a:solidFill>
                  <a:srgbClr val="222A33"/>
                </a:solidFill>
              </a:rPr>
              <a:t>in codebooks of 200 to 600 pages</a:t>
            </a:r>
          </a:p>
          <a:p>
            <a:pPr lvl="1">
              <a:spcAft>
                <a:spcPts val="400"/>
              </a:spcAft>
            </a:pPr>
            <a:r>
              <a:rPr lang="en-US" sz="1300" dirty="0">
                <a:solidFill>
                  <a:srgbClr val="222A33"/>
                </a:solidFill>
              </a:rPr>
              <a:t>Even with a perfect description for each variable, it would be hard to navigate across all of them, and even more complicated to see associations between them</a:t>
            </a:r>
          </a:p>
          <a:p>
            <a:pPr lvl="1">
              <a:spcAft>
                <a:spcPts val="400"/>
              </a:spcAft>
            </a:pPr>
            <a:endParaRPr lang="en-US" sz="1200" b="0" i="0" noProof="0" dirty="0">
              <a:solidFill>
                <a:srgbClr val="222A33"/>
              </a:solidFill>
            </a:endParaRPr>
          </a:p>
          <a:p>
            <a:pPr marL="0" indent="0">
              <a:spcAft>
                <a:spcPts val="400"/>
              </a:spcAft>
              <a:buNone/>
            </a:pPr>
            <a:r>
              <a:rPr lang="en-US" sz="1600" dirty="0">
                <a:sym typeface="Wingdings" pitchFamily="2" charset="2"/>
              </a:rPr>
              <a:t> </a:t>
            </a:r>
            <a:r>
              <a:rPr lang="en-US" sz="1600" dirty="0"/>
              <a:t>Unlocking this data's full potential requires new tools</a:t>
            </a:r>
            <a:endParaRPr lang="en-US" sz="1600" b="0" i="0" noProof="0" dirty="0">
              <a:solidFill>
                <a:srgbClr val="222A33"/>
              </a:solidFill>
            </a:endParaRPr>
          </a:p>
        </p:txBody>
      </p:sp>
    </p:spTree>
  </p:cSld>
  <p:clrMapOvr>
    <a:masterClrMapping/>
  </p:clrMapOvr>
  <p:extLst>
    <p:ext uri="{6950BFC3-D8DA-4A85-94F7-54DA5524770B}">
      <p188:commentRel xmlns:p188="http://schemas.microsoft.com/office/powerpoint/2018/8/main" r:id="rId3"/>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Two halves of a solution</a:t>
            </a:r>
          </a:p>
        </p:txBody>
      </p:sp>
      <p:sp>
        <p:nvSpPr>
          <p:cNvPr id="4" name="TextBox 3"/>
          <p:cNvSpPr txBox="1"/>
          <p:nvPr/>
        </p:nvSpPr>
        <p:spPr>
          <a:xfrm>
            <a:off x="838200" y="1783080"/>
            <a:ext cx="5242560" cy="2344231"/>
          </a:xfrm>
          <a:prstGeom prst="rect">
            <a:avLst/>
          </a:prstGeom>
          <a:noFill/>
        </p:spPr>
        <p:txBody>
          <a:bodyPr wrap="square" anchor="t">
            <a:spAutoFit/>
          </a:bodyPr>
          <a:lstStyle/>
          <a:p>
            <a:pPr marL="285750" indent="-285750">
              <a:spcAft>
                <a:spcPts val="1100"/>
              </a:spcAft>
              <a:buFont typeface="Arial" panose="020B0604020202020204" pitchFamily="34" charset="0"/>
              <a:buChar char="•"/>
            </a:pPr>
            <a:r>
              <a:rPr sz="1600" b="1" i="0" dirty="0">
                <a:solidFill>
                  <a:srgbClr val="222A33"/>
                </a:solidFill>
              </a:rPr>
              <a:t>LLMs make data accessible</a:t>
            </a:r>
            <a:r>
              <a:rPr sz="1600" b="0" i="0" dirty="0">
                <a:solidFill>
                  <a:srgbClr val="222A33"/>
                </a:solidFill>
              </a:rPr>
              <a:t> through plain language, but on their own they are unreliable: they can hallucinate, cannot quantify, and may call a trivial association interesting</a:t>
            </a:r>
          </a:p>
          <a:p>
            <a:pPr marL="285750" indent="-285750">
              <a:spcAft>
                <a:spcPts val="1100"/>
              </a:spcAft>
              <a:buFont typeface="Arial" panose="020B0604020202020204" pitchFamily="34" charset="0"/>
              <a:buChar char="•"/>
            </a:pPr>
            <a:r>
              <a:rPr sz="1600" b="1" i="0" dirty="0">
                <a:solidFill>
                  <a:srgbClr val="222A33"/>
                </a:solidFill>
              </a:rPr>
              <a:t>Statistics are rigorous and quantified</a:t>
            </a:r>
            <a:r>
              <a:rPr sz="1600" b="0" i="0" dirty="0">
                <a:solidFill>
                  <a:srgbClr val="222A33"/>
                </a:solidFill>
              </a:rPr>
              <a:t>, but opaque to a non-technical audience</a:t>
            </a:r>
          </a:p>
          <a:p>
            <a:pPr marL="285750" indent="-285750">
              <a:spcAft>
                <a:spcPts val="400"/>
              </a:spcAft>
              <a:buFont typeface="Arial" panose="020B0604020202020204" pitchFamily="34" charset="0"/>
              <a:buChar char="•"/>
            </a:pPr>
            <a:r>
              <a:rPr sz="1600" b="1" i="0" dirty="0">
                <a:solidFill>
                  <a:srgbClr val="222A33"/>
                </a:solidFill>
              </a:rPr>
              <a:t>The project combines the two</a:t>
            </a:r>
            <a:r>
              <a:rPr sz="1600" b="0" i="0" dirty="0">
                <a:solidFill>
                  <a:srgbClr val="222A33"/>
                </a:solidFill>
              </a:rPr>
              <a:t>: statistically enhanced LLMs, for common data and a shared reality</a:t>
            </a:r>
          </a:p>
        </p:txBody>
      </p:sp>
      <p:pic>
        <p:nvPicPr>
          <p:cNvPr id="6" name="Picture 5">
            <a:extLst>
              <a:ext uri="{FF2B5EF4-FFF2-40B4-BE49-F238E27FC236}">
                <a16:creationId xmlns:a16="http://schemas.microsoft.com/office/drawing/2014/main" id="{3661B0B8-BBBB-2D9C-661E-5B9E4527F951}"/>
              </a:ext>
            </a:extLst>
          </p:cNvPr>
          <p:cNvPicPr>
            <a:picLocks noChangeAspect="1"/>
          </p:cNvPicPr>
          <p:nvPr/>
        </p:nvPicPr>
        <p:blipFill>
          <a:blip r:embed="rId3"/>
          <a:stretch>
            <a:fillRect/>
          </a:stretch>
        </p:blipFill>
        <p:spPr>
          <a:xfrm>
            <a:off x="6080760" y="1486518"/>
            <a:ext cx="6030466" cy="3572375"/>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 three-</a:t>
            </a:r>
            <a:r>
              <a:rPr lang="fr-FR" dirty="0" err="1"/>
              <a:t>tool</a:t>
            </a:r>
            <a:r>
              <a:rPr dirty="0"/>
              <a:t> </a:t>
            </a:r>
            <a:r>
              <a:rPr lang="fr-FR" dirty="0"/>
              <a:t>workflow</a:t>
            </a:r>
            <a:endParaRPr dirty="0"/>
          </a:p>
        </p:txBody>
      </p:sp>
      <p:pic>
        <p:nvPicPr>
          <p:cNvPr id="4" name="Graphic 3">
            <a:extLst>
              <a:ext uri="{FF2B5EF4-FFF2-40B4-BE49-F238E27FC236}">
                <a16:creationId xmlns:a16="http://schemas.microsoft.com/office/drawing/2014/main" id="{C26BA43D-9EA0-A490-2A66-AD6B401291F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05050" y="1690688"/>
            <a:ext cx="7581900" cy="468293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Tool 1</a:t>
            </a:r>
            <a:r>
              <a:rPr dirty="0"/>
              <a:t>: </a:t>
            </a:r>
            <a:r>
              <a:rPr lang="fr-FR" dirty="0" err="1"/>
              <a:t>Semantic</a:t>
            </a:r>
            <a:r>
              <a:rPr lang="fr-FR" dirty="0"/>
              <a:t> </a:t>
            </a:r>
            <a:r>
              <a:rPr lang="fr-FR" dirty="0" err="1"/>
              <a:t>search</a:t>
            </a:r>
            <a:br>
              <a:rPr lang="fr-FR" dirty="0"/>
            </a:br>
            <a:r>
              <a:rPr lang="fr-FR" sz="3200" dirty="0"/>
              <a:t>Or how to </a:t>
            </a:r>
            <a:r>
              <a:rPr lang="fr-FR" sz="3200" dirty="0" err="1"/>
              <a:t>navigate</a:t>
            </a:r>
            <a:r>
              <a:rPr lang="fr-FR" sz="3200" dirty="0"/>
              <a:t> </a:t>
            </a:r>
            <a:r>
              <a:rPr lang="fr-FR" sz="3200" dirty="0" err="1"/>
              <a:t>among</a:t>
            </a:r>
            <a:r>
              <a:rPr lang="fr-FR" sz="3200" dirty="0"/>
              <a:t> variables?</a:t>
            </a:r>
            <a:endParaRPr sz="3200" dirty="0"/>
          </a:p>
        </p:txBody>
      </p:sp>
      <p:sp>
        <p:nvSpPr>
          <p:cNvPr id="3" name="TextBox 2"/>
          <p:cNvSpPr txBox="1"/>
          <p:nvPr/>
        </p:nvSpPr>
        <p:spPr>
          <a:xfrm>
            <a:off x="838200" y="1690688"/>
            <a:ext cx="7040880" cy="276999"/>
          </a:xfrm>
          <a:prstGeom prst="rect">
            <a:avLst/>
          </a:prstGeom>
          <a:noFill/>
        </p:spPr>
        <p:txBody>
          <a:bodyPr wrap="square" anchor="t">
            <a:spAutoFit/>
          </a:bodyPr>
          <a:lstStyle/>
          <a:p>
            <a:pPr>
              <a:spcAft>
                <a:spcPts val="400"/>
              </a:spcAft>
              <a:buNone/>
            </a:pPr>
            <a:r>
              <a:rPr lang="fr-FR" sz="1200" i="1" dirty="0">
                <a:solidFill>
                  <a:srgbClr val="6B7280"/>
                </a:solidFill>
              </a:rPr>
              <a:t>C</a:t>
            </a:r>
            <a:r>
              <a:rPr lang="fr-FR" sz="1200" b="0" i="1" dirty="0">
                <a:solidFill>
                  <a:srgbClr val="6B7280"/>
                </a:solidFill>
              </a:rPr>
              <a:t>ollaboration </a:t>
            </a:r>
            <a:r>
              <a:rPr lang="fr-FR" sz="1200" b="0" i="1" dirty="0" err="1">
                <a:solidFill>
                  <a:srgbClr val="6B7280"/>
                </a:solidFill>
              </a:rPr>
              <a:t>with</a:t>
            </a:r>
            <a:r>
              <a:rPr lang="fr-FR" sz="1200" b="0" i="1" dirty="0">
                <a:solidFill>
                  <a:srgbClr val="6B7280"/>
                </a:solidFill>
              </a:rPr>
              <a:t> </a:t>
            </a:r>
            <a:r>
              <a:rPr sz="1200" b="0" i="1" dirty="0">
                <a:solidFill>
                  <a:srgbClr val="6B7280"/>
                </a:solidFill>
              </a:rPr>
              <a:t>Carnot Dongmo Mbane</a:t>
            </a:r>
            <a:r>
              <a:rPr lang="fr-FR" sz="1200" b="0" i="1" dirty="0">
                <a:solidFill>
                  <a:srgbClr val="6B7280"/>
                </a:solidFill>
              </a:rPr>
              <a:t> and Hugues </a:t>
            </a:r>
            <a:r>
              <a:rPr sz="1200" b="0" i="1" dirty="0" err="1">
                <a:solidFill>
                  <a:srgbClr val="6B7280"/>
                </a:solidFill>
              </a:rPr>
              <a:t>Annoye</a:t>
            </a:r>
            <a:endParaRPr sz="1200" b="0" i="1" dirty="0">
              <a:solidFill>
                <a:srgbClr val="6B7280"/>
              </a:solidFill>
            </a:endParaRPr>
          </a:p>
        </p:txBody>
      </p:sp>
      <p:sp>
        <p:nvSpPr>
          <p:cNvPr id="4" name="TextBox 3"/>
          <p:cNvSpPr txBox="1"/>
          <p:nvPr/>
        </p:nvSpPr>
        <p:spPr>
          <a:xfrm>
            <a:off x="838200" y="2287114"/>
            <a:ext cx="6842760" cy="2331407"/>
          </a:xfrm>
          <a:prstGeom prst="rect">
            <a:avLst/>
          </a:prstGeom>
          <a:noFill/>
        </p:spPr>
        <p:txBody>
          <a:bodyPr wrap="square" anchor="t">
            <a:spAutoFit/>
          </a:bodyPr>
          <a:lstStyle/>
          <a:p>
            <a:pPr marL="285750" indent="-285750">
              <a:spcAft>
                <a:spcPts val="700"/>
              </a:spcAft>
              <a:buFont typeface="Arial" panose="020B0604020202020204" pitchFamily="34" charset="0"/>
              <a:buChar char="•"/>
            </a:pPr>
            <a:r>
              <a:rPr lang="en-US" sz="1600" b="1" i="0" noProof="0" dirty="0">
                <a:solidFill>
                  <a:srgbClr val="222A33"/>
                </a:solidFill>
              </a:rPr>
              <a:t>6 Belgian datasets: </a:t>
            </a:r>
            <a:r>
              <a:rPr lang="en-US" sz="1600" b="0" i="0" noProof="0" dirty="0">
                <a:solidFill>
                  <a:srgbClr val="222A33"/>
                </a:solidFill>
              </a:rPr>
              <a:t>EU-SILC (</a:t>
            </a:r>
            <a:r>
              <a:rPr lang="en-US" sz="1600" noProof="0" dirty="0">
                <a:solidFill>
                  <a:srgbClr val="222A33"/>
                </a:solidFill>
              </a:rPr>
              <a:t>i</a:t>
            </a:r>
            <a:r>
              <a:rPr lang="en-US" sz="1600" b="0" i="0" noProof="0" dirty="0">
                <a:solidFill>
                  <a:srgbClr val="222A33"/>
                </a:solidFill>
              </a:rPr>
              <a:t>ncome and living conditions), EU-LFS (labor), HBS (household consumption), HFCS (household finances), IPCAL (tax records), DEMOBEL (demographics)</a:t>
            </a:r>
          </a:p>
          <a:p>
            <a:pPr marL="285750" indent="-285750">
              <a:spcAft>
                <a:spcPts val="700"/>
              </a:spcAft>
              <a:buFont typeface="Arial" panose="020B0604020202020204" pitchFamily="34" charset="0"/>
              <a:buChar char="•"/>
            </a:pPr>
            <a:r>
              <a:rPr lang="en-US" sz="1600" b="1" i="0" noProof="0" dirty="0">
                <a:solidFill>
                  <a:srgbClr val="222A33"/>
                </a:solidFill>
              </a:rPr>
              <a:t>7,010 variables in total. </a:t>
            </a:r>
            <a:r>
              <a:rPr lang="en-US" sz="1600" b="0" i="0" noProof="0" dirty="0">
                <a:solidFill>
                  <a:srgbClr val="222A33"/>
                </a:solidFill>
              </a:rPr>
              <a:t>Codes like HY040G, PL031, A0270 mean nothing without the manual</a:t>
            </a:r>
          </a:p>
          <a:p>
            <a:pPr marL="285750" indent="-285750">
              <a:spcAft>
                <a:spcPts val="700"/>
              </a:spcAft>
              <a:buFont typeface="Arial" panose="020B0604020202020204" pitchFamily="34" charset="0"/>
              <a:buChar char="•"/>
            </a:pPr>
            <a:r>
              <a:rPr lang="en-US" sz="1600" b="1" i="0" noProof="0" dirty="0">
                <a:solidFill>
                  <a:srgbClr val="222A33"/>
                </a:solidFill>
              </a:rPr>
              <a:t>Documentation is spread </a:t>
            </a:r>
            <a:r>
              <a:rPr lang="en-US" sz="1600" b="0" i="0" noProof="0" dirty="0">
                <a:solidFill>
                  <a:srgbClr val="222A33"/>
                </a:solidFill>
              </a:rPr>
              <a:t>across codebooks of 200 to 600 pages, in French, Dutch and English (and with a lot of technical details)</a:t>
            </a:r>
          </a:p>
          <a:p>
            <a:pPr marL="285750" indent="-285750">
              <a:spcAft>
                <a:spcPts val="400"/>
              </a:spcAft>
              <a:buFont typeface="Arial" panose="020B0604020202020204" pitchFamily="34" charset="0"/>
              <a:buChar char="•"/>
            </a:pPr>
            <a:r>
              <a:rPr lang="en-US" sz="1600" i="0" noProof="0" dirty="0">
                <a:solidFill>
                  <a:srgbClr val="222A33"/>
                </a:solidFill>
              </a:rPr>
              <a:t>A researcher studying a specific topic </a:t>
            </a:r>
            <a:r>
              <a:rPr lang="en-US" sz="1600" b="0" i="0" noProof="0" dirty="0">
                <a:solidFill>
                  <a:srgbClr val="222A33"/>
                </a:solidFill>
              </a:rPr>
              <a:t>has </a:t>
            </a:r>
            <a:r>
              <a:rPr lang="en-US" sz="1600" b="1" i="0" noProof="0" dirty="0">
                <a:solidFill>
                  <a:srgbClr val="222A33"/>
                </a:solidFill>
              </a:rPr>
              <a:t>no obvious entry point</a:t>
            </a:r>
          </a:p>
        </p:txBody>
      </p:sp>
      <p:sp>
        <p:nvSpPr>
          <p:cNvPr id="5" name="Rounded Rectangle 4"/>
          <p:cNvSpPr/>
          <p:nvPr/>
        </p:nvSpPr>
        <p:spPr>
          <a:xfrm>
            <a:off x="8092440" y="2011680"/>
            <a:ext cx="3474720" cy="1783080"/>
          </a:xfrm>
          <a:prstGeom prst="roundRect">
            <a:avLst>
              <a:gd name="adj" fmla="val 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rPr>
              <a:t>7,010</a:t>
            </a:r>
          </a:p>
          <a:p>
            <a:pPr algn="ctr"/>
            <a:r>
              <a:rPr sz="1300">
                <a:solidFill>
                  <a:srgbClr val="FFFFFF"/>
                </a:solidFill>
              </a:rPr>
              <a:t>variables across 6 datasets</a:t>
            </a:r>
          </a:p>
        </p:txBody>
      </p:sp>
      <p:sp>
        <p:nvSpPr>
          <p:cNvPr id="6" name="Rounded Rectangle 5"/>
          <p:cNvSpPr/>
          <p:nvPr/>
        </p:nvSpPr>
        <p:spPr>
          <a:xfrm>
            <a:off x="8092440" y="3977639"/>
            <a:ext cx="3474720" cy="1554480"/>
          </a:xfrm>
          <a:prstGeom prst="roundRect">
            <a:avLst>
              <a:gd name="adj" fmla="val 5000"/>
            </a:avLst>
          </a:prstGeom>
          <a:solidFill>
            <a:srgbClr val="0E2841"/>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4000" b="1">
                <a:solidFill>
                  <a:srgbClr val="FFFFFF"/>
                </a:solidFill>
              </a:rPr>
              <a:t>200 to 600</a:t>
            </a:r>
          </a:p>
          <a:p>
            <a:pPr algn="ctr"/>
            <a:r>
              <a:rPr sz="1300">
                <a:solidFill>
                  <a:srgbClr val="FFFFFF"/>
                </a:solidFill>
              </a:rPr>
              <a:t>pages of codebook each</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The solution: Simply a</a:t>
            </a:r>
            <a:r>
              <a:rPr dirty="0" err="1"/>
              <a:t>sk</a:t>
            </a:r>
            <a:r>
              <a:rPr dirty="0"/>
              <a:t> in plain language</a:t>
            </a:r>
          </a:p>
        </p:txBody>
      </p:sp>
      <p:sp>
        <p:nvSpPr>
          <p:cNvPr id="3" name="Content Placeholder 2"/>
          <p:cNvSpPr>
            <a:spLocks noGrp="1"/>
          </p:cNvSpPr>
          <p:nvPr>
            <p:ph idx="1"/>
          </p:nvPr>
        </p:nvSpPr>
        <p:spPr>
          <a:xfrm>
            <a:off x="838200" y="1825625"/>
            <a:ext cx="5716836" cy="4351338"/>
          </a:xfrm>
        </p:spPr>
        <p:txBody>
          <a:bodyPr wrap="square"/>
          <a:lstStyle/>
          <a:p>
            <a:pPr>
              <a:spcAft>
                <a:spcPts val="400"/>
              </a:spcAft>
            </a:pPr>
            <a:r>
              <a:rPr sz="1600" b="1" i="0" dirty="0">
                <a:solidFill>
                  <a:srgbClr val="222A33"/>
                </a:solidFill>
              </a:rPr>
              <a:t>Query the corpus in natural language</a:t>
            </a:r>
            <a:r>
              <a:rPr sz="1600" b="0" i="0" dirty="0">
                <a:solidFill>
                  <a:srgbClr val="222A33"/>
                </a:solidFill>
              </a:rPr>
              <a:t>, instead of </a:t>
            </a:r>
            <a:r>
              <a:rPr sz="1600" b="0" i="0" dirty="0" err="1">
                <a:solidFill>
                  <a:srgbClr val="222A33"/>
                </a:solidFill>
              </a:rPr>
              <a:t>memorising</a:t>
            </a:r>
            <a:r>
              <a:rPr sz="1600" b="0" i="0" dirty="0">
                <a:solidFill>
                  <a:srgbClr val="222A33"/>
                </a:solidFill>
              </a:rPr>
              <a:t> codes</a:t>
            </a:r>
          </a:p>
          <a:p>
            <a:pPr>
              <a:spcAft>
                <a:spcPts val="400"/>
              </a:spcAft>
            </a:pPr>
            <a:r>
              <a:rPr sz="1600" b="1" i="0" dirty="0">
                <a:solidFill>
                  <a:srgbClr val="222A33"/>
                </a:solidFill>
              </a:rPr>
              <a:t>Two directions:</a:t>
            </a:r>
            <a:endParaRPr lang="fr-FR" sz="1600" b="1" i="0" dirty="0">
              <a:solidFill>
                <a:srgbClr val="222A33"/>
              </a:solidFill>
            </a:endParaRPr>
          </a:p>
          <a:p>
            <a:pPr lvl="1">
              <a:spcAft>
                <a:spcPts val="400"/>
              </a:spcAft>
              <a:buFont typeface="+mj-lt"/>
              <a:buAutoNum type="arabicPeriod"/>
            </a:pPr>
            <a:r>
              <a:rPr lang="fr-FR" sz="1400" dirty="0">
                <a:solidFill>
                  <a:srgbClr val="222A33"/>
                </a:solidFill>
              </a:rPr>
              <a:t>Find variables: </a:t>
            </a:r>
            <a:r>
              <a:rPr lang="fr-FR" sz="1400" dirty="0" err="1">
                <a:solidFill>
                  <a:srgbClr val="222A33"/>
                </a:solidFill>
              </a:rPr>
              <a:t>f</a:t>
            </a:r>
            <a:r>
              <a:rPr lang="fr-FR" sz="1400" b="0" i="0" dirty="0" err="1">
                <a:solidFill>
                  <a:srgbClr val="222A33"/>
                </a:solidFill>
              </a:rPr>
              <a:t>rom</a:t>
            </a:r>
            <a:r>
              <a:rPr lang="fr-FR" sz="1400" b="0" i="0" dirty="0">
                <a:solidFill>
                  <a:srgbClr val="222A33"/>
                </a:solidFill>
              </a:rPr>
              <a:t> a question/topic to the relevant variables (« help </a:t>
            </a:r>
            <a:r>
              <a:rPr lang="fr-FR" sz="1400" b="0" i="0" dirty="0" err="1">
                <a:solidFill>
                  <a:srgbClr val="222A33"/>
                </a:solidFill>
              </a:rPr>
              <a:t>you</a:t>
            </a:r>
            <a:r>
              <a:rPr lang="fr-FR" sz="1400" b="0" i="0" dirty="0">
                <a:solidFill>
                  <a:srgbClr val="222A33"/>
                </a:solidFill>
              </a:rPr>
              <a:t> </a:t>
            </a:r>
            <a:r>
              <a:rPr lang="fr-FR" sz="1400" b="0" i="0" dirty="0" err="1">
                <a:solidFill>
                  <a:srgbClr val="222A33"/>
                </a:solidFill>
              </a:rPr>
              <a:t>discover</a:t>
            </a:r>
            <a:r>
              <a:rPr lang="fr-FR" sz="1400" b="0" i="0" dirty="0">
                <a:solidFill>
                  <a:srgbClr val="222A33"/>
                </a:solidFill>
              </a:rPr>
              <a:t> »)</a:t>
            </a:r>
            <a:endParaRPr lang="fr-FR" sz="1400" dirty="0">
              <a:solidFill>
                <a:srgbClr val="222A33"/>
              </a:solidFill>
            </a:endParaRPr>
          </a:p>
          <a:p>
            <a:pPr lvl="1">
              <a:spcAft>
                <a:spcPts val="400"/>
              </a:spcAft>
              <a:buFont typeface="+mj-lt"/>
              <a:buAutoNum type="arabicPeriod"/>
            </a:pPr>
            <a:r>
              <a:rPr lang="fr-FR" sz="1400" dirty="0" err="1">
                <a:solidFill>
                  <a:srgbClr val="222A33"/>
                </a:solidFill>
              </a:rPr>
              <a:t>Describe</a:t>
            </a:r>
            <a:r>
              <a:rPr lang="fr-FR" sz="1400" dirty="0">
                <a:solidFill>
                  <a:srgbClr val="222A33"/>
                </a:solidFill>
              </a:rPr>
              <a:t> variables: f</a:t>
            </a:r>
            <a:r>
              <a:rPr sz="1400" b="0" i="0" dirty="0">
                <a:solidFill>
                  <a:srgbClr val="222A33"/>
                </a:solidFill>
              </a:rPr>
              <a:t>rom a code to a readable description</a:t>
            </a:r>
            <a:r>
              <a:rPr lang="fr-FR" sz="1400" b="0" i="0" dirty="0">
                <a:solidFill>
                  <a:srgbClr val="222A33"/>
                </a:solidFill>
              </a:rPr>
              <a:t> (« help </a:t>
            </a:r>
            <a:r>
              <a:rPr lang="fr-FR" sz="1400" b="0" i="0" dirty="0" err="1">
                <a:solidFill>
                  <a:srgbClr val="222A33"/>
                </a:solidFill>
              </a:rPr>
              <a:t>you</a:t>
            </a:r>
            <a:r>
              <a:rPr lang="fr-FR" sz="1400" b="0" i="0" dirty="0">
                <a:solidFill>
                  <a:srgbClr val="222A33"/>
                </a:solidFill>
              </a:rPr>
              <a:t> </a:t>
            </a:r>
            <a:r>
              <a:rPr lang="fr-FR" sz="1400" b="0" i="0" dirty="0" err="1">
                <a:solidFill>
                  <a:srgbClr val="222A33"/>
                </a:solidFill>
              </a:rPr>
              <a:t>understand</a:t>
            </a:r>
            <a:r>
              <a:rPr lang="fr-FR" sz="1400" dirty="0">
                <a:solidFill>
                  <a:srgbClr val="222A33"/>
                </a:solidFill>
              </a:rPr>
              <a:t> »)</a:t>
            </a:r>
            <a:endParaRPr sz="1400" b="0" i="0" dirty="0">
              <a:solidFill>
                <a:srgbClr val="222A33"/>
              </a:solidFill>
            </a:endParaRPr>
          </a:p>
        </p:txBody>
      </p:sp>
      <p:sp>
        <p:nvSpPr>
          <p:cNvPr id="4" name="Rectangle 3">
            <a:extLst>
              <a:ext uri="{FF2B5EF4-FFF2-40B4-BE49-F238E27FC236}">
                <a16:creationId xmlns:a16="http://schemas.microsoft.com/office/drawing/2014/main" id="{20BB93A0-B0A7-1F39-F4ED-4D24E1CCC2CE}"/>
              </a:ext>
            </a:extLst>
          </p:cNvPr>
          <p:cNvSpPr/>
          <p:nvPr/>
        </p:nvSpPr>
        <p:spPr>
          <a:xfrm>
            <a:off x="7783284" y="1828800"/>
            <a:ext cx="3783876" cy="2830286"/>
          </a:xfrm>
          <a:prstGeom prst="rect">
            <a:avLst/>
          </a:prstGeom>
          <a:solidFill>
            <a:srgbClr val="F2F2F2"/>
          </a:solidFill>
          <a:ln w="19050">
            <a:solidFill>
              <a:srgbClr val="B8C0C8"/>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i="1">
                <a:solidFill>
                  <a:srgbClr val="6B7280"/>
                </a:solidFill>
              </a:rPr>
              <a:t>Screenshot placeholder
Gradio interface
(insert your capture here)</a:t>
            </a:r>
          </a:p>
        </p:txBody>
      </p:sp>
      <p:sp>
        <p:nvSpPr>
          <p:cNvPr id="5" name="Rectangle 4">
            <a:extLst>
              <a:ext uri="{FF2B5EF4-FFF2-40B4-BE49-F238E27FC236}">
                <a16:creationId xmlns:a16="http://schemas.microsoft.com/office/drawing/2014/main" id="{27AF9AE8-FA74-937A-234E-DB334F131A87}"/>
              </a:ext>
            </a:extLst>
          </p:cNvPr>
          <p:cNvSpPr/>
          <p:nvPr/>
        </p:nvSpPr>
        <p:spPr>
          <a:xfrm>
            <a:off x="4517570" y="4038599"/>
            <a:ext cx="3783875" cy="2658291"/>
          </a:xfrm>
          <a:prstGeom prst="rect">
            <a:avLst/>
          </a:prstGeom>
          <a:solidFill>
            <a:srgbClr val="F2F2F2"/>
          </a:solidFill>
          <a:ln w="19050">
            <a:solidFill>
              <a:srgbClr val="B8C0C8"/>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i="1">
                <a:solidFill>
                  <a:srgbClr val="6B7280"/>
                </a:solidFill>
              </a:rPr>
              <a:t>Screenshot placeholder
Gradio interface
(insert your capture here)</a:t>
            </a:r>
          </a:p>
        </p:txBody>
      </p:sp>
    </p:spTree>
  </p:cSld>
  <p:clrMapOvr>
    <a:masterClrMapping/>
  </p:clrMapOvr>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The process: </a:t>
            </a:r>
            <a:r>
              <a:rPr dirty="0"/>
              <a:t>A five-step pipeline</a:t>
            </a:r>
          </a:p>
        </p:txBody>
      </p:sp>
      <p:sp>
        <p:nvSpPr>
          <p:cNvPr id="5" name="TextBox 4">
            <a:extLst>
              <a:ext uri="{FF2B5EF4-FFF2-40B4-BE49-F238E27FC236}">
                <a16:creationId xmlns:a16="http://schemas.microsoft.com/office/drawing/2014/main" id="{CE7C5DA3-338E-A973-7A80-FB835301B56B}"/>
              </a:ext>
            </a:extLst>
          </p:cNvPr>
          <p:cNvSpPr txBox="1"/>
          <p:nvPr/>
        </p:nvSpPr>
        <p:spPr>
          <a:xfrm>
            <a:off x="838200" y="3697499"/>
            <a:ext cx="10515599" cy="2308324"/>
          </a:xfrm>
          <a:prstGeom prst="rect">
            <a:avLst/>
          </a:prstGeom>
          <a:noFill/>
        </p:spPr>
        <p:txBody>
          <a:bodyPr wrap="square" rtlCol="0">
            <a:spAutoFit/>
          </a:bodyPr>
          <a:lstStyle/>
          <a:p>
            <a:pPr marL="342900" indent="-342900">
              <a:buFont typeface="+mj-lt"/>
              <a:buAutoNum type="arabicPeriod"/>
            </a:pPr>
            <a:r>
              <a:rPr lang="en-US" sz="1600" b="1" dirty="0"/>
              <a:t>Unify</a:t>
            </a:r>
            <a:r>
              <a:rPr lang="en-US" sz="1600" dirty="0"/>
              <a:t>: each dataset has its own format; a per-dataset function maps it into one common JSON dictionary, one record per variable (with code, source, short and long description, category, etc.)</a:t>
            </a:r>
          </a:p>
          <a:p>
            <a:pPr marL="342900" indent="-342900">
              <a:buFont typeface="+mj-lt"/>
              <a:buAutoNum type="arabicPeriod"/>
            </a:pPr>
            <a:r>
              <a:rPr lang="en-US" sz="1600" b="1" dirty="0"/>
              <a:t>Embeddings</a:t>
            </a:r>
            <a:r>
              <a:rPr lang="en-US" sz="1600" dirty="0"/>
              <a:t>: every description becomes a 1024-dimensional vector with multilingual-e5-large (XLM-</a:t>
            </a:r>
            <a:r>
              <a:rPr lang="en-US" sz="1600" dirty="0" err="1"/>
              <a:t>RoBERTa</a:t>
            </a:r>
            <a:r>
              <a:rPr lang="en-US" sz="1600" dirty="0"/>
              <a:t> encoder, ~560M parameters), stored in </a:t>
            </a:r>
            <a:r>
              <a:rPr lang="en-US" sz="1600" dirty="0" err="1"/>
              <a:t>ChromaDB</a:t>
            </a:r>
            <a:r>
              <a:rPr lang="en-US" sz="1600" dirty="0"/>
              <a:t>; similar meanings sit close together, even across languages</a:t>
            </a:r>
          </a:p>
          <a:p>
            <a:pPr marL="342900" indent="-342900">
              <a:buFont typeface="+mj-lt"/>
              <a:buAutoNum type="arabicPeriod"/>
            </a:pPr>
            <a:r>
              <a:rPr lang="en-US" sz="1600" b="1" dirty="0"/>
              <a:t>Semantic search</a:t>
            </a:r>
            <a:r>
              <a:rPr lang="en-US" sz="1600" dirty="0"/>
              <a:t>: the user's question is embedded too, and variables are ranked by cosine similarity (i.e., cosine of the angle between vectors)</a:t>
            </a:r>
          </a:p>
          <a:p>
            <a:pPr marL="342900" indent="-342900">
              <a:buFont typeface="+mj-lt"/>
              <a:buAutoNum type="arabicPeriod"/>
            </a:pPr>
            <a:r>
              <a:rPr lang="en-US" sz="1600" b="1" dirty="0"/>
              <a:t>LLM validation</a:t>
            </a:r>
            <a:r>
              <a:rPr lang="en-US" sz="1600" dirty="0"/>
              <a:t>: a local model (Llama 3.2 via </a:t>
            </a:r>
            <a:r>
              <a:rPr lang="en-US" sz="1600" dirty="0" err="1"/>
              <a:t>Ollama</a:t>
            </a:r>
            <a:r>
              <a:rPr lang="en-US" sz="1600" dirty="0"/>
              <a:t>) reads the top candidates and classifies each as truly relevant, partially relevant, or off-topic, with a short justification</a:t>
            </a:r>
          </a:p>
          <a:p>
            <a:pPr marL="342900" indent="-342900">
              <a:buFont typeface="+mj-lt"/>
              <a:buAutoNum type="arabicPeriod"/>
            </a:pPr>
            <a:r>
              <a:rPr lang="en-US" sz="1600" b="1" dirty="0"/>
              <a:t>Interface</a:t>
            </a:r>
            <a:r>
              <a:rPr lang="en-US" sz="1600" dirty="0"/>
              <a:t>: a </a:t>
            </a:r>
            <a:r>
              <a:rPr lang="en-US" sz="1600" dirty="0" err="1"/>
              <a:t>Gradio</a:t>
            </a:r>
            <a:r>
              <a:rPr lang="en-US" sz="1600" dirty="0"/>
              <a:t> web app ties it together</a:t>
            </a:r>
          </a:p>
        </p:txBody>
      </p:sp>
      <p:pic>
        <p:nvPicPr>
          <p:cNvPr id="7" name="Picture 6">
            <a:extLst>
              <a:ext uri="{FF2B5EF4-FFF2-40B4-BE49-F238E27FC236}">
                <a16:creationId xmlns:a16="http://schemas.microsoft.com/office/drawing/2014/main" id="{2DA9390A-AABB-B87C-8750-27FDBF88FB51}"/>
              </a:ext>
            </a:extLst>
          </p:cNvPr>
          <p:cNvPicPr>
            <a:picLocks noChangeAspect="1"/>
          </p:cNvPicPr>
          <p:nvPr/>
        </p:nvPicPr>
        <p:blipFill>
          <a:blip r:embed="rId3"/>
          <a:stretch>
            <a:fillRect/>
          </a:stretch>
        </p:blipFill>
        <p:spPr>
          <a:xfrm>
            <a:off x="2051957" y="1797818"/>
            <a:ext cx="7772400" cy="124358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Two design choices: RAG, and running locally</a:t>
            </a:r>
          </a:p>
        </p:txBody>
      </p:sp>
      <p:sp>
        <p:nvSpPr>
          <p:cNvPr id="3" name="Content Placeholder 2"/>
          <p:cNvSpPr>
            <a:spLocks noGrp="1"/>
          </p:cNvSpPr>
          <p:nvPr>
            <p:ph idx="1"/>
          </p:nvPr>
        </p:nvSpPr>
        <p:spPr/>
        <p:txBody>
          <a:bodyPr wrap="square"/>
          <a:lstStyle/>
          <a:p>
            <a:pPr>
              <a:spcAft>
                <a:spcPts val="400"/>
              </a:spcAft>
            </a:pPr>
            <a:r>
              <a:rPr sz="1500" b="1" i="0" dirty="0">
                <a:solidFill>
                  <a:srgbClr val="222A33"/>
                </a:solidFill>
              </a:rPr>
              <a:t>Embedding: </a:t>
            </a:r>
            <a:r>
              <a:rPr sz="1500" b="0" i="0" dirty="0">
                <a:solidFill>
                  <a:srgbClr val="222A33"/>
                </a:solidFill>
              </a:rPr>
              <a:t>a piece of text mapped to a vector, so similar meanings sit close together, even across languages</a:t>
            </a:r>
          </a:p>
          <a:p>
            <a:pPr>
              <a:spcAft>
                <a:spcPts val="400"/>
              </a:spcAft>
            </a:pPr>
            <a:r>
              <a:rPr sz="1500" b="1" i="0" dirty="0">
                <a:solidFill>
                  <a:srgbClr val="222A33"/>
                </a:solidFill>
              </a:rPr>
              <a:t>Model: </a:t>
            </a:r>
            <a:r>
              <a:rPr sz="1500" b="0" i="0" dirty="0">
                <a:solidFill>
                  <a:srgbClr val="222A33"/>
                </a:solidFill>
              </a:rPr>
              <a:t>multilingual-e5-large (XLM-</a:t>
            </a:r>
            <a:r>
              <a:rPr sz="1500" b="0" i="0" dirty="0" err="1">
                <a:solidFill>
                  <a:srgbClr val="222A33"/>
                </a:solidFill>
              </a:rPr>
              <a:t>RoBERTa</a:t>
            </a:r>
            <a:r>
              <a:rPr sz="1500" b="0" i="0" dirty="0">
                <a:solidFill>
                  <a:srgbClr val="222A33"/>
                </a:solidFill>
              </a:rPr>
              <a:t> encoder, 24 layers, about 560M parameters), 1024-dimensional vectors in a </a:t>
            </a:r>
            <a:r>
              <a:rPr sz="1500" b="0" i="0" dirty="0" err="1">
                <a:solidFill>
                  <a:srgbClr val="222A33"/>
                </a:solidFill>
              </a:rPr>
              <a:t>ChromaDB</a:t>
            </a:r>
            <a:r>
              <a:rPr sz="1500" b="0" i="0" dirty="0">
                <a:solidFill>
                  <a:srgbClr val="222A33"/>
                </a:solidFill>
              </a:rPr>
              <a:t> store, ranked by cosine similarity</a:t>
            </a:r>
          </a:p>
          <a:p>
            <a:pPr>
              <a:spcAft>
                <a:spcPts val="400"/>
              </a:spcAft>
            </a:pPr>
            <a:r>
              <a:rPr sz="1500" b="1" i="0" dirty="0">
                <a:solidFill>
                  <a:srgbClr val="222A33"/>
                </a:solidFill>
              </a:rPr>
              <a:t>RAG (Retrieval-Augmented Generation): </a:t>
            </a:r>
            <a:r>
              <a:rPr sz="1500" b="0" i="0" dirty="0">
                <a:solidFill>
                  <a:srgbClr val="222A33"/>
                </a:solidFill>
              </a:rPr>
              <a:t>we do not retrain the model; we retrieve the relevant variables and pass them as context at query time</a:t>
            </a:r>
          </a:p>
          <a:p>
            <a:pPr>
              <a:spcAft>
                <a:spcPts val="400"/>
              </a:spcAft>
            </a:pPr>
            <a:r>
              <a:rPr sz="1500" b="1" i="0" dirty="0">
                <a:solidFill>
                  <a:srgbClr val="222A33"/>
                </a:solidFill>
              </a:rPr>
              <a:t>Why RAG over fine-tuning: </a:t>
            </a:r>
            <a:r>
              <a:rPr sz="1500" b="0" i="0" dirty="0">
                <a:solidFill>
                  <a:srgbClr val="222A33"/>
                </a:solidFill>
              </a:rPr>
              <a:t>a new dataset needs no retraining, the retrieved variables stay visible, and the model invents fewer non-existent codes</a:t>
            </a:r>
          </a:p>
          <a:p>
            <a:pPr>
              <a:spcAft>
                <a:spcPts val="400"/>
              </a:spcAft>
            </a:pPr>
            <a:r>
              <a:rPr sz="1500" b="1" i="0" dirty="0">
                <a:solidFill>
                  <a:srgbClr val="222A33"/>
                </a:solidFill>
              </a:rPr>
              <a:t>Local execution: </a:t>
            </a:r>
            <a:r>
              <a:rPr sz="1500" b="0" i="0" dirty="0">
                <a:solidFill>
                  <a:srgbClr val="222A33"/>
                </a:solidFill>
              </a:rPr>
              <a:t>Llama 3.2 through </a:t>
            </a:r>
            <a:r>
              <a:rPr sz="1500" b="0" i="0" dirty="0" err="1">
                <a:solidFill>
                  <a:srgbClr val="222A33"/>
                </a:solidFill>
              </a:rPr>
              <a:t>Ollama</a:t>
            </a:r>
            <a:r>
              <a:rPr sz="1500" b="0" i="0" dirty="0">
                <a:solidFill>
                  <a:srgbClr val="222A33"/>
                </a:solidFill>
              </a:rPr>
              <a:t>; the data never leaves the machine, which matters for confidential records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13843E-E6F0-7A5E-3B35-4A7DFC0BA3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7308A8B-BB35-3C33-FEC2-007F4751C0EC}"/>
              </a:ext>
            </a:extLst>
          </p:cNvPr>
          <p:cNvSpPr>
            <a:spLocks noGrp="1"/>
          </p:cNvSpPr>
          <p:nvPr>
            <p:ph type="title"/>
          </p:nvPr>
        </p:nvSpPr>
        <p:spPr/>
        <p:txBody>
          <a:bodyPr/>
          <a:lstStyle/>
          <a:p>
            <a:r>
              <a:rPr dirty="0"/>
              <a:t>Two design choices: RAG, and running locally</a:t>
            </a:r>
          </a:p>
        </p:txBody>
      </p:sp>
      <p:sp>
        <p:nvSpPr>
          <p:cNvPr id="3" name="Content Placeholder 2">
            <a:extLst>
              <a:ext uri="{FF2B5EF4-FFF2-40B4-BE49-F238E27FC236}">
                <a16:creationId xmlns:a16="http://schemas.microsoft.com/office/drawing/2014/main" id="{631FDBD7-14FD-9DDB-9139-F7E4C23747BB}"/>
              </a:ext>
            </a:extLst>
          </p:cNvPr>
          <p:cNvSpPr>
            <a:spLocks noGrp="1"/>
          </p:cNvSpPr>
          <p:nvPr>
            <p:ph idx="1"/>
          </p:nvPr>
        </p:nvSpPr>
        <p:spPr/>
        <p:txBody>
          <a:bodyPr wrap="square"/>
          <a:lstStyle/>
          <a:p>
            <a:r>
              <a:rPr lang="en-US" sz="1600" b="1" dirty="0"/>
              <a:t>Fine-tuning</a:t>
            </a:r>
            <a:r>
              <a:rPr lang="en-US" sz="1600" dirty="0"/>
              <a:t> means retraining the model on our 7,000 variables so it “</a:t>
            </a:r>
            <a:r>
              <a:rPr lang="en-US" sz="1600" dirty="0" err="1"/>
              <a:t>memorises</a:t>
            </a:r>
            <a:r>
              <a:rPr lang="en-US" sz="1600" dirty="0"/>
              <a:t>” them</a:t>
            </a:r>
          </a:p>
          <a:p>
            <a:r>
              <a:rPr lang="en-US" sz="1600" b="1" dirty="0"/>
              <a:t>RAG</a:t>
            </a:r>
            <a:r>
              <a:rPr lang="en-US" sz="1600" dirty="0"/>
              <a:t> (Retrieval-Augmented Generation) works differently: the model never sees our variables during training; instead, when a question arrives, we first search for the most relevant variables (step 3, the </a:t>
            </a:r>
            <a:r>
              <a:rPr lang="en-US" sz="1600" b="1" dirty="0"/>
              <a:t>retrieval</a:t>
            </a:r>
            <a:r>
              <a:rPr lang="en-US" sz="1600" dirty="0"/>
              <a:t> part), then hand them to the model as a note to read before answering (step 4, the </a:t>
            </a:r>
            <a:r>
              <a:rPr lang="en-US" sz="1600" b="1" dirty="0"/>
              <a:t>augmented generation</a:t>
            </a:r>
            <a:r>
              <a:rPr lang="en-US" sz="1600" dirty="0"/>
              <a:t> part)</a:t>
            </a:r>
          </a:p>
          <a:p>
            <a:r>
              <a:rPr lang="en-US" sz="1600" dirty="0"/>
              <a:t>We started with the fine-tuning approach (</a:t>
            </a:r>
            <a:r>
              <a:rPr lang="en-US" sz="1600" dirty="0" err="1"/>
              <a:t>LoRA</a:t>
            </a:r>
            <a:r>
              <a:rPr lang="en-US" sz="1600" dirty="0"/>
              <a:t> on Llama-3-8B) but moved to RAG because:</a:t>
            </a:r>
          </a:p>
          <a:p>
            <a:pPr lvl="1"/>
            <a:r>
              <a:rPr lang="en-US" sz="1200" dirty="0"/>
              <a:t>adding a new dataset requires no retraining; just embedding and indexing the new variables (faster)</a:t>
            </a:r>
          </a:p>
          <a:p>
            <a:pPr lvl="1"/>
            <a:r>
              <a:rPr lang="en-US" sz="1200" dirty="0"/>
              <a:t>we always know exactly which variables were given to the model (more transparent)</a:t>
            </a:r>
          </a:p>
          <a:p>
            <a:pPr lvl="1"/>
            <a:r>
              <a:rPr lang="en-US" sz="1200" dirty="0"/>
              <a:t>it can only refer to variables we actually gave, not invent codes from an imperfect memory (fewer hallucinations)</a:t>
            </a:r>
          </a:p>
          <a:p>
            <a:pPr>
              <a:spcAft>
                <a:spcPts val="400"/>
              </a:spcAft>
            </a:pPr>
            <a:endParaRPr lang="fr-FR" sz="1500" b="0" i="0" dirty="0">
              <a:solidFill>
                <a:srgbClr val="222A33"/>
              </a:solidFill>
            </a:endParaRPr>
          </a:p>
          <a:p>
            <a:pPr>
              <a:spcAft>
                <a:spcPts val="400"/>
              </a:spcAft>
            </a:pPr>
            <a:r>
              <a:rPr lang="en-US" sz="1600" b="1" dirty="0"/>
              <a:t>Local execution</a:t>
            </a:r>
            <a:r>
              <a:rPr lang="en-US" sz="1600" dirty="0"/>
              <a:t>: both the embedder and Llama 3.2 run locally through </a:t>
            </a:r>
            <a:r>
              <a:rPr lang="en-US" sz="1600" dirty="0" err="1"/>
              <a:t>Ollama</a:t>
            </a:r>
            <a:r>
              <a:rPr lang="en-US" sz="1600" dirty="0"/>
              <a:t>; might be weaker than a hosted model, but we accept it in return for:</a:t>
            </a:r>
          </a:p>
          <a:p>
            <a:pPr lvl="1">
              <a:spcAft>
                <a:spcPts val="400"/>
              </a:spcAft>
            </a:pPr>
            <a:r>
              <a:rPr lang="en-US" sz="1200" dirty="0">
                <a:solidFill>
                  <a:srgbClr val="222A33"/>
                </a:solidFill>
              </a:rPr>
              <a:t>Price (free)</a:t>
            </a:r>
          </a:p>
          <a:p>
            <a:pPr lvl="1">
              <a:spcAft>
                <a:spcPts val="400"/>
              </a:spcAft>
            </a:pPr>
            <a:r>
              <a:rPr lang="en-US" sz="1200" b="0" i="0" dirty="0">
                <a:solidFill>
                  <a:srgbClr val="222A33"/>
                </a:solidFill>
              </a:rPr>
              <a:t>Privacy (no change in the architecture if confidential metadata is added later)</a:t>
            </a:r>
            <a:endParaRPr sz="1200" b="0" i="0" dirty="0">
              <a:solidFill>
                <a:srgbClr val="222A33"/>
              </a:solidFill>
            </a:endParaRPr>
          </a:p>
        </p:txBody>
      </p:sp>
    </p:spTree>
    <p:extLst>
      <p:ext uri="{BB962C8B-B14F-4D97-AF65-F5344CB8AC3E}">
        <p14:creationId xmlns:p14="http://schemas.microsoft.com/office/powerpoint/2010/main" val="22730061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Making variables </a:t>
            </a:r>
            <a:r>
              <a:rPr lang="fr-FR" dirty="0"/>
              <a:t>more </a:t>
            </a:r>
            <a:r>
              <a:rPr lang="en-US" dirty="0"/>
              <a:t>readable</a:t>
            </a:r>
            <a:endParaRPr dirty="0"/>
          </a:p>
        </p:txBody>
      </p:sp>
      <p:sp>
        <p:nvSpPr>
          <p:cNvPr id="3" name="TextBox 2"/>
          <p:cNvSpPr txBox="1"/>
          <p:nvPr/>
        </p:nvSpPr>
        <p:spPr>
          <a:xfrm>
            <a:off x="838200" y="1828800"/>
            <a:ext cx="3439886" cy="3785652"/>
          </a:xfrm>
          <a:prstGeom prst="rect">
            <a:avLst/>
          </a:prstGeom>
          <a:noFill/>
        </p:spPr>
        <p:txBody>
          <a:bodyPr wrap="square" anchor="t">
            <a:spAutoFit/>
          </a:bodyPr>
          <a:lstStyle/>
          <a:p>
            <a:pPr marL="285750" indent="-285750">
              <a:buFont typeface="Arial" panose="020B0604020202020204" pitchFamily="34" charset="0"/>
              <a:buChar char="•"/>
            </a:pPr>
            <a:r>
              <a:rPr lang="en-US" sz="1600" dirty="0"/>
              <a:t>Codebook labels are often too </a:t>
            </a:r>
            <a:r>
              <a:rPr lang="en-US" sz="1600" b="1" dirty="0"/>
              <a:t>short and/or technical </a:t>
            </a:r>
            <a:r>
              <a:rPr lang="en-US" sz="1600" dirty="0"/>
              <a:t>to give good search results</a:t>
            </a:r>
          </a:p>
          <a:p>
            <a:pPr marL="285750" indent="-285750">
              <a:buFont typeface="Arial" panose="020B0604020202020204" pitchFamily="34" charset="0"/>
              <a:buChar char="•"/>
            </a:pPr>
            <a:r>
              <a:rPr lang="en-US" sz="1600" dirty="0"/>
              <a:t>A second loop generates a long, </a:t>
            </a:r>
            <a:r>
              <a:rPr lang="en-US" sz="1600" b="1" dirty="0"/>
              <a:t>plain-language description </a:t>
            </a:r>
            <a:r>
              <a:rPr lang="en-US" sz="1600" dirty="0"/>
              <a:t>for each variable</a:t>
            </a:r>
          </a:p>
          <a:p>
            <a:pPr marL="285750" indent="-285750">
              <a:buFont typeface="Arial" panose="020B0604020202020204" pitchFamily="34" charset="0"/>
              <a:buChar char="•"/>
            </a:pPr>
            <a:r>
              <a:rPr lang="en-US" sz="1600" dirty="0"/>
              <a:t>Two generators: a rule-based one (instant, always available) and an LLM one (richer, with a worked example)</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dirty="0"/>
              <a:t>These </a:t>
            </a:r>
            <a:r>
              <a:rPr lang="en-US" sz="1600" b="1" dirty="0"/>
              <a:t>enriched descriptions </a:t>
            </a:r>
            <a:r>
              <a:rPr lang="en-US" sz="1600" dirty="0"/>
              <a:t>are used as inputs for step 2, making the semantic search much more effective</a:t>
            </a:r>
          </a:p>
        </p:txBody>
      </p:sp>
      <p:pic>
        <p:nvPicPr>
          <p:cNvPr id="12" name="Graphic 11">
            <a:extLst>
              <a:ext uri="{FF2B5EF4-FFF2-40B4-BE49-F238E27FC236}">
                <a16:creationId xmlns:a16="http://schemas.microsoft.com/office/drawing/2014/main" id="{B37C13F8-92CC-72F0-F990-92960242406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08714" y="2192564"/>
            <a:ext cx="7783286" cy="331171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Tool 2: </a:t>
            </a:r>
            <a:r>
              <a:rPr lang="fr-FR" dirty="0" err="1"/>
              <a:t>AssociationExplorer</a:t>
            </a:r>
            <a:br>
              <a:rPr lang="fr-FR" dirty="0"/>
            </a:br>
            <a:r>
              <a:rPr lang="fr-FR" sz="3200" dirty="0"/>
              <a:t>F</a:t>
            </a:r>
            <a:r>
              <a:rPr sz="3200" dirty="0"/>
              <a:t>rom variables to associations</a:t>
            </a:r>
          </a:p>
        </p:txBody>
      </p:sp>
      <p:sp>
        <p:nvSpPr>
          <p:cNvPr id="3" name="Content Placeholder 2"/>
          <p:cNvSpPr>
            <a:spLocks noGrp="1"/>
          </p:cNvSpPr>
          <p:nvPr>
            <p:ph idx="1"/>
          </p:nvPr>
        </p:nvSpPr>
        <p:spPr/>
        <p:txBody>
          <a:bodyPr wrap="square"/>
          <a:lstStyle/>
          <a:p>
            <a:pPr>
              <a:spcAft>
                <a:spcPts val="400"/>
              </a:spcAft>
            </a:pPr>
            <a:r>
              <a:rPr sz="1600" b="0" i="0" dirty="0">
                <a:solidFill>
                  <a:srgbClr val="222A33"/>
                </a:solidFill>
              </a:rPr>
              <a:t>We now have a shortlist of relevant variables</a:t>
            </a:r>
            <a:endParaRPr lang="fr-FR" sz="1600" dirty="0">
              <a:solidFill>
                <a:srgbClr val="222A33"/>
              </a:solidFill>
            </a:endParaRPr>
          </a:p>
          <a:p>
            <a:pPr>
              <a:spcAft>
                <a:spcPts val="400"/>
              </a:spcAft>
            </a:pPr>
            <a:r>
              <a:rPr sz="1600" i="0" dirty="0">
                <a:solidFill>
                  <a:srgbClr val="222A33"/>
                </a:solidFill>
              </a:rPr>
              <a:t>Which of them are actually </a:t>
            </a:r>
            <a:r>
              <a:rPr sz="1600" b="1" i="0" dirty="0">
                <a:solidFill>
                  <a:srgbClr val="222A33"/>
                </a:solidFill>
              </a:rPr>
              <a:t>related</a:t>
            </a:r>
            <a:r>
              <a:rPr sz="1600" i="0" dirty="0">
                <a:solidFill>
                  <a:srgbClr val="222A33"/>
                </a:solidFill>
              </a:rPr>
              <a:t>,</a:t>
            </a:r>
            <a:r>
              <a:rPr lang="fr-FR" sz="1600" i="0" dirty="0">
                <a:solidFill>
                  <a:srgbClr val="222A33"/>
                </a:solidFill>
              </a:rPr>
              <a:t> and</a:t>
            </a:r>
            <a:r>
              <a:rPr sz="1600" i="0" dirty="0">
                <a:solidFill>
                  <a:srgbClr val="222A33"/>
                </a:solidFill>
              </a:rPr>
              <a:t> </a:t>
            </a:r>
            <a:r>
              <a:rPr sz="1600" b="1" i="0" dirty="0">
                <a:solidFill>
                  <a:srgbClr val="222A33"/>
                </a:solidFill>
              </a:rPr>
              <a:t>which</a:t>
            </a:r>
            <a:r>
              <a:rPr sz="1600" i="0" dirty="0">
                <a:solidFill>
                  <a:srgbClr val="222A33"/>
                </a:solidFill>
              </a:rPr>
              <a:t> </a:t>
            </a:r>
            <a:r>
              <a:rPr sz="1600" b="1" i="0" dirty="0">
                <a:solidFill>
                  <a:srgbClr val="222A33"/>
                </a:solidFill>
              </a:rPr>
              <a:t>links deserve a closer look</a:t>
            </a:r>
            <a:r>
              <a:rPr lang="fr-FR" sz="1600" b="1" dirty="0">
                <a:solidFill>
                  <a:srgbClr val="222A33"/>
                </a:solidFill>
              </a:rPr>
              <a:t>?</a:t>
            </a:r>
            <a:endParaRPr sz="1600" i="0" dirty="0">
              <a:solidFill>
                <a:srgbClr val="222A33"/>
              </a:solidFill>
            </a:endParaRPr>
          </a:p>
          <a:p>
            <a:pPr>
              <a:spcAft>
                <a:spcPts val="400"/>
              </a:spcAft>
            </a:pPr>
            <a:r>
              <a:rPr sz="1600" b="1" i="0" dirty="0" err="1">
                <a:solidFill>
                  <a:srgbClr val="222A33"/>
                </a:solidFill>
              </a:rPr>
              <a:t>AssociationExplorer</a:t>
            </a:r>
            <a:r>
              <a:rPr sz="1600" b="1" i="0" dirty="0">
                <a:solidFill>
                  <a:srgbClr val="222A33"/>
                </a:solidFill>
              </a:rPr>
              <a:t> </a:t>
            </a:r>
            <a:r>
              <a:rPr lang="fr-FR" sz="1600" i="0" dirty="0" err="1">
                <a:solidFill>
                  <a:srgbClr val="222A33"/>
                </a:solidFill>
              </a:rPr>
              <a:t>fill</a:t>
            </a:r>
            <a:r>
              <a:rPr lang="fr-FR" sz="1600" dirty="0" err="1">
                <a:solidFill>
                  <a:srgbClr val="222A33"/>
                </a:solidFill>
              </a:rPr>
              <a:t>s</a:t>
            </a:r>
            <a:r>
              <a:rPr lang="fr-FR" sz="1600" dirty="0">
                <a:solidFill>
                  <a:srgbClr val="222A33"/>
                </a:solidFill>
              </a:rPr>
              <a:t> </a:t>
            </a:r>
            <a:r>
              <a:rPr lang="fr-FR" sz="1600" dirty="0" err="1">
                <a:solidFill>
                  <a:srgbClr val="222A33"/>
                </a:solidFill>
              </a:rPr>
              <a:t>this</a:t>
            </a:r>
            <a:r>
              <a:rPr lang="fr-FR" sz="1600" dirty="0">
                <a:solidFill>
                  <a:srgbClr val="222A33"/>
                </a:solidFill>
              </a:rPr>
              <a:t> gap:</a:t>
            </a:r>
          </a:p>
          <a:p>
            <a:pPr lvl="1">
              <a:spcAft>
                <a:spcPts val="400"/>
              </a:spcAft>
            </a:pPr>
            <a:r>
              <a:rPr lang="fr-FR" sz="1200" dirty="0">
                <a:solidFill>
                  <a:srgbClr val="222A33"/>
                </a:solidFill>
              </a:rPr>
              <a:t>C</a:t>
            </a:r>
            <a:r>
              <a:rPr sz="1200" i="0" dirty="0" err="1">
                <a:solidFill>
                  <a:srgbClr val="222A33"/>
                </a:solidFill>
              </a:rPr>
              <a:t>omputes</a:t>
            </a:r>
            <a:r>
              <a:rPr sz="1200" i="0" dirty="0">
                <a:solidFill>
                  <a:srgbClr val="222A33"/>
                </a:solidFill>
              </a:rPr>
              <a:t> associations </a:t>
            </a:r>
            <a:r>
              <a:rPr lang="fr-FR" sz="1200" i="0" dirty="0">
                <a:solidFill>
                  <a:srgbClr val="222A33"/>
                </a:solidFill>
              </a:rPr>
              <a:t>of </a:t>
            </a:r>
            <a:r>
              <a:rPr lang="fr-FR" sz="1200" i="0" dirty="0" err="1">
                <a:solidFill>
                  <a:srgbClr val="222A33"/>
                </a:solidFill>
              </a:rPr>
              <a:t>every</a:t>
            </a:r>
            <a:r>
              <a:rPr lang="fr-FR" sz="1200" i="0" dirty="0">
                <a:solidFill>
                  <a:srgbClr val="222A33"/>
                </a:solidFill>
              </a:rPr>
              <a:t> pair </a:t>
            </a:r>
            <a:r>
              <a:rPr sz="1200" i="0" dirty="0">
                <a:solidFill>
                  <a:srgbClr val="222A33"/>
                </a:solidFill>
              </a:rPr>
              <a:t>among the</a:t>
            </a:r>
            <a:r>
              <a:rPr sz="1200" b="1" i="0" dirty="0">
                <a:solidFill>
                  <a:srgbClr val="222A33"/>
                </a:solidFill>
              </a:rPr>
              <a:t> selected variables</a:t>
            </a:r>
            <a:endParaRPr lang="fr-FR" sz="1200" dirty="0">
              <a:solidFill>
                <a:srgbClr val="222A33"/>
              </a:solidFill>
            </a:endParaRPr>
          </a:p>
          <a:p>
            <a:pPr lvl="1">
              <a:spcAft>
                <a:spcPts val="400"/>
              </a:spcAft>
            </a:pPr>
            <a:r>
              <a:rPr lang="fr-FR" sz="1200" b="0" i="0" dirty="0">
                <a:solidFill>
                  <a:srgbClr val="222A33"/>
                </a:solidFill>
              </a:rPr>
              <a:t>But </a:t>
            </a:r>
            <a:r>
              <a:rPr lang="fr-FR" sz="1200" b="0" i="0" dirty="0" err="1">
                <a:solidFill>
                  <a:srgbClr val="222A33"/>
                </a:solidFill>
              </a:rPr>
              <a:t>also</a:t>
            </a:r>
            <a:r>
              <a:rPr lang="fr-FR" sz="1200" b="0" i="0" dirty="0">
                <a:solidFill>
                  <a:srgbClr val="222A33"/>
                </a:solidFill>
              </a:rPr>
              <a:t>:</a:t>
            </a:r>
            <a:r>
              <a:rPr sz="1200" b="0" i="0" dirty="0">
                <a:solidFill>
                  <a:srgbClr val="222A33"/>
                </a:solidFill>
              </a:rPr>
              <a:t> </a:t>
            </a:r>
            <a:r>
              <a:rPr lang="fr-FR" sz="1200" b="0" i="0" dirty="0" err="1">
                <a:solidFill>
                  <a:srgbClr val="222A33"/>
                </a:solidFill>
              </a:rPr>
              <a:t>every</a:t>
            </a:r>
            <a:r>
              <a:rPr lang="fr-FR" sz="1200" b="0" i="0" dirty="0">
                <a:solidFill>
                  <a:srgbClr val="222A33"/>
                </a:solidFill>
              </a:rPr>
              <a:t> pair </a:t>
            </a:r>
            <a:r>
              <a:rPr sz="1200" b="0" i="0" dirty="0">
                <a:solidFill>
                  <a:srgbClr val="222A33"/>
                </a:solidFill>
              </a:rPr>
              <a:t>between </a:t>
            </a:r>
            <a:r>
              <a:rPr lang="fr-FR" sz="1200" b="0" i="0" dirty="0">
                <a:solidFill>
                  <a:srgbClr val="222A33"/>
                </a:solidFill>
              </a:rPr>
              <a:t>the </a:t>
            </a:r>
            <a:r>
              <a:rPr lang="fr-FR" sz="1200" b="0" i="0" dirty="0" err="1">
                <a:solidFill>
                  <a:srgbClr val="222A33"/>
                </a:solidFill>
              </a:rPr>
              <a:t>selected</a:t>
            </a:r>
            <a:r>
              <a:rPr lang="fr-FR" sz="1200" b="0" i="0" dirty="0">
                <a:solidFill>
                  <a:srgbClr val="222A33"/>
                </a:solidFill>
              </a:rPr>
              <a:t> variables</a:t>
            </a:r>
            <a:r>
              <a:rPr sz="1200" b="0" i="0" dirty="0">
                <a:solidFill>
                  <a:srgbClr val="222A33"/>
                </a:solidFill>
              </a:rPr>
              <a:t> </a:t>
            </a:r>
            <a:r>
              <a:rPr sz="1200" b="1" i="0" dirty="0">
                <a:solidFill>
                  <a:srgbClr val="222A33"/>
                </a:solidFill>
              </a:rPr>
              <a:t>and the rest of the data</a:t>
            </a:r>
            <a:r>
              <a:rPr lang="fr-FR" sz="1200" b="1" i="0" dirty="0">
                <a:solidFill>
                  <a:srgbClr val="222A33"/>
                </a:solidFill>
              </a:rPr>
              <a:t> </a:t>
            </a:r>
            <a:r>
              <a:rPr lang="fr-FR" sz="1200" i="0" dirty="0">
                <a:solidFill>
                  <a:srgbClr val="222A33"/>
                </a:solidFill>
              </a:rPr>
              <a:t>to highlight </a:t>
            </a:r>
            <a:r>
              <a:rPr lang="fr-FR" sz="1200" i="0" dirty="0" err="1">
                <a:solidFill>
                  <a:srgbClr val="222A33"/>
                </a:solidFill>
              </a:rPr>
              <a:t>unexpected</a:t>
            </a:r>
            <a:r>
              <a:rPr lang="fr-FR" sz="1200" i="0" dirty="0">
                <a:solidFill>
                  <a:srgbClr val="222A33"/>
                </a:solidFill>
              </a:rPr>
              <a:t> associations</a:t>
            </a:r>
          </a:p>
          <a:p>
            <a:pPr lvl="1">
              <a:spcAft>
                <a:spcPts val="400"/>
              </a:spcAft>
            </a:pPr>
            <a:endParaRPr sz="1200" i="0" dirty="0">
              <a:solidFill>
                <a:srgbClr val="222A33"/>
              </a:solidFill>
            </a:endParaRPr>
          </a:p>
          <a:p>
            <a:pPr>
              <a:spcAft>
                <a:spcPts val="400"/>
              </a:spcAft>
            </a:pPr>
            <a:r>
              <a:rPr lang="en-US" sz="1600" dirty="0">
                <a:solidFill>
                  <a:srgbClr val="222A33"/>
                </a:solidFill>
              </a:rPr>
              <a:t>First, how do we actually compute associations?</a:t>
            </a:r>
            <a:endParaRPr sz="1600" b="0" i="0" dirty="0">
              <a:solidFill>
                <a:srgbClr val="222A33"/>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Three measures</a:t>
            </a:r>
            <a:r>
              <a:rPr lang="fr-FR" dirty="0"/>
              <a:t> </a:t>
            </a:r>
            <a:r>
              <a:rPr lang="fr-FR" dirty="0" err="1"/>
              <a:t>depending</a:t>
            </a:r>
            <a:r>
              <a:rPr lang="fr-FR" dirty="0"/>
              <a:t> on variable type</a:t>
            </a:r>
            <a:endParaRPr dirty="0"/>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wrap="square">
                <a:normAutofit/>
              </a:bodyPr>
              <a:lstStyle/>
              <a:p>
                <a:pPr marL="0" indent="0">
                  <a:spcAft>
                    <a:spcPts val="400"/>
                  </a:spcAft>
                  <a:buNone/>
                </a:pPr>
                <a:r>
                  <a:rPr lang="fr-FR" sz="1600" dirty="0">
                    <a:solidFill>
                      <a:srgbClr val="222A33"/>
                    </a:solidFill>
                  </a:rPr>
                  <a:t>A v</a:t>
                </a:r>
                <a:r>
                  <a:rPr lang="fr-FR" sz="1600" i="0" dirty="0">
                    <a:solidFill>
                      <a:srgbClr val="222A33"/>
                    </a:solidFill>
                  </a:rPr>
                  <a:t>ariable can </a:t>
                </a:r>
                <a:r>
                  <a:rPr lang="fr-FR" sz="1600" i="0" dirty="0" err="1">
                    <a:solidFill>
                      <a:srgbClr val="222A33"/>
                    </a:solidFill>
                  </a:rPr>
                  <a:t>be</a:t>
                </a:r>
                <a:r>
                  <a:rPr lang="fr-FR" sz="1600" i="0" dirty="0">
                    <a:solidFill>
                      <a:srgbClr val="222A33"/>
                    </a:solidFill>
                  </a:rPr>
                  <a:t> of 2 types (</a:t>
                </a:r>
                <a:r>
                  <a:rPr lang="fr-FR" sz="1600" i="0" dirty="0" err="1">
                    <a:solidFill>
                      <a:srgbClr val="222A33"/>
                    </a:solidFill>
                  </a:rPr>
                  <a:t>numeric</a:t>
                </a:r>
                <a:r>
                  <a:rPr lang="fr-FR" sz="1600" dirty="0">
                    <a:solidFill>
                      <a:srgbClr val="222A33"/>
                    </a:solidFill>
                  </a:rPr>
                  <a:t> or </a:t>
                </a:r>
                <a:r>
                  <a:rPr lang="fr-FR" sz="1600" i="0" dirty="0" err="1">
                    <a:solidFill>
                      <a:srgbClr val="222A33"/>
                    </a:solidFill>
                  </a:rPr>
                  <a:t>categorical</a:t>
                </a:r>
                <a:r>
                  <a:rPr lang="fr-FR" sz="1600" i="0" dirty="0">
                    <a:solidFill>
                      <a:srgbClr val="222A33"/>
                    </a:solidFill>
                  </a:rPr>
                  <a:t>), </a:t>
                </a:r>
                <a:r>
                  <a:rPr lang="fr-FR" sz="1600" i="0" dirty="0" err="1">
                    <a:solidFill>
                      <a:srgbClr val="222A33"/>
                    </a:solidFill>
                  </a:rPr>
                  <a:t>so</a:t>
                </a:r>
                <a:r>
                  <a:rPr lang="fr-FR" sz="1600" i="0" dirty="0">
                    <a:solidFill>
                      <a:srgbClr val="222A33"/>
                    </a:solidFill>
                  </a:rPr>
                  <a:t> an</a:t>
                </a:r>
                <a:r>
                  <a:rPr lang="fr-FR" sz="1600" i="0" dirty="0">
                    <a:solidFill>
                      <a:srgbClr val="222A33"/>
                    </a:solidFill>
                    <a:sym typeface="Wingdings" pitchFamily="2" charset="2"/>
                  </a:rPr>
                  <a:t> association can </a:t>
                </a:r>
                <a:r>
                  <a:rPr lang="fr-FR" sz="1600" i="0" dirty="0" err="1">
                    <a:solidFill>
                      <a:srgbClr val="222A33"/>
                    </a:solidFill>
                    <a:sym typeface="Wingdings" pitchFamily="2" charset="2"/>
                  </a:rPr>
                  <a:t>be</a:t>
                </a:r>
                <a:r>
                  <a:rPr lang="fr-FR" sz="1600" i="0" dirty="0">
                    <a:solidFill>
                      <a:srgbClr val="222A33"/>
                    </a:solidFill>
                    <a:sym typeface="Wingdings" pitchFamily="2" charset="2"/>
                  </a:rPr>
                  <a:t> of 3 types</a:t>
                </a:r>
                <a:r>
                  <a:rPr lang="fr-FR" sz="1600" dirty="0">
                    <a:solidFill>
                      <a:srgbClr val="222A33"/>
                    </a:solidFill>
                  </a:rPr>
                  <a:t>:</a:t>
                </a:r>
              </a:p>
              <a:p>
                <a:pPr marL="0" indent="0">
                  <a:spcAft>
                    <a:spcPts val="400"/>
                  </a:spcAft>
                  <a:buNone/>
                </a:pPr>
                <a:endParaRPr lang="fr-FR" sz="1600" i="0" dirty="0">
                  <a:solidFill>
                    <a:srgbClr val="222A33"/>
                  </a:solidFill>
                </a:endParaRPr>
              </a:p>
              <a:p>
                <a:pPr marL="342900" indent="-342900">
                  <a:spcAft>
                    <a:spcPts val="400"/>
                  </a:spcAft>
                  <a:buFont typeface="+mj-lt"/>
                  <a:buAutoNum type="arabicPeriod"/>
                </a:pPr>
                <a:r>
                  <a:rPr lang="fr-FR" sz="1600" b="1" i="0" dirty="0">
                    <a:solidFill>
                      <a:srgbClr val="222A33"/>
                    </a:solidFill>
                  </a:rPr>
                  <a:t>Numeric vs numeric: </a:t>
                </a:r>
                <a:r>
                  <a:rPr lang="fr-FR" sz="1600" b="0" i="0" dirty="0">
                    <a:solidFill>
                      <a:srgbClr val="222A33"/>
                    </a:solidFill>
                  </a:rPr>
                  <a:t>Pearson’s </a:t>
                </a:r>
                <a:r>
                  <a:rPr lang="fr-FR" sz="1600" b="0" i="0" dirty="0" err="1">
                    <a:solidFill>
                      <a:srgbClr val="222A33"/>
                    </a:solidFill>
                  </a:rPr>
                  <a:t>correlation</a:t>
                </a:r>
                <a:r>
                  <a:rPr lang="fr-FR" sz="1600" b="0" i="0" dirty="0">
                    <a:solidFill>
                      <a:srgbClr val="222A33"/>
                    </a:solidFill>
                  </a:rPr>
                  <a:t> coefficient (Pearson, 1895): </a:t>
                </a:r>
                <a14:m>
                  <m:oMath xmlns:m="http://schemas.openxmlformats.org/officeDocument/2006/math">
                    <m:r>
                      <a:rPr lang="fr-FR" sz="1600" b="0" i="1" smtClean="0">
                        <a:solidFill>
                          <a:srgbClr val="222A33"/>
                        </a:solidFill>
                        <a:latin typeface="Cambria Math" panose="02040503050406030204" pitchFamily="18" charset="0"/>
                      </a:rPr>
                      <m:t>𝑟</m:t>
                    </m:r>
                    <m:r>
                      <a:rPr lang="fr-FR" sz="1600" b="0" i="1" smtClean="0">
                        <a:solidFill>
                          <a:srgbClr val="222A33"/>
                        </a:solidFill>
                        <a:latin typeface="Cambria Math" panose="02040503050406030204" pitchFamily="18" charset="0"/>
                      </a:rPr>
                      <m:t>=</m:t>
                    </m:r>
                    <m:f>
                      <m:fPr>
                        <m:ctrlPr>
                          <a:rPr lang="fr-FR" sz="1600" b="0" i="1" smtClean="0">
                            <a:solidFill>
                              <a:srgbClr val="222A33"/>
                            </a:solidFill>
                            <a:latin typeface="Cambria Math" panose="02040503050406030204" pitchFamily="18" charset="0"/>
                          </a:rPr>
                        </m:ctrlPr>
                      </m:fPr>
                      <m:num>
                        <m:r>
                          <a:rPr lang="fr-FR" sz="1600" b="0" i="1" smtClean="0">
                            <a:solidFill>
                              <a:srgbClr val="222A33"/>
                            </a:solidFill>
                            <a:latin typeface="Cambria Math" panose="02040503050406030204" pitchFamily="18" charset="0"/>
                          </a:rPr>
                          <m:t>𝑐𝑜𝑣</m:t>
                        </m:r>
                        <m:r>
                          <a:rPr lang="fr-FR" sz="1600" b="0" i="1" smtClean="0">
                            <a:solidFill>
                              <a:srgbClr val="222A33"/>
                            </a:solidFill>
                            <a:latin typeface="Cambria Math" panose="02040503050406030204" pitchFamily="18" charset="0"/>
                          </a:rPr>
                          <m:t>(</m:t>
                        </m:r>
                        <m:r>
                          <a:rPr lang="fr-FR" sz="1600" b="0" i="1" smtClean="0">
                            <a:solidFill>
                              <a:srgbClr val="222A33"/>
                            </a:solidFill>
                            <a:latin typeface="Cambria Math" panose="02040503050406030204" pitchFamily="18" charset="0"/>
                          </a:rPr>
                          <m:t>𝑥</m:t>
                        </m:r>
                        <m:r>
                          <a:rPr lang="fr-FR" sz="1600" b="0" i="1" smtClean="0">
                            <a:solidFill>
                              <a:srgbClr val="222A33"/>
                            </a:solidFill>
                            <a:latin typeface="Cambria Math" panose="02040503050406030204" pitchFamily="18" charset="0"/>
                          </a:rPr>
                          <m:t>, </m:t>
                        </m:r>
                        <m:r>
                          <a:rPr lang="fr-FR" sz="1600" b="0" i="1" smtClean="0">
                            <a:solidFill>
                              <a:srgbClr val="222A33"/>
                            </a:solidFill>
                            <a:latin typeface="Cambria Math" panose="02040503050406030204" pitchFamily="18" charset="0"/>
                          </a:rPr>
                          <m:t>𝑦</m:t>
                        </m:r>
                        <m:r>
                          <a:rPr lang="fr-FR" sz="1600" b="0" i="1" smtClean="0">
                            <a:solidFill>
                              <a:srgbClr val="222A33"/>
                            </a:solidFill>
                            <a:latin typeface="Cambria Math" panose="02040503050406030204" pitchFamily="18" charset="0"/>
                          </a:rPr>
                          <m:t>)</m:t>
                        </m:r>
                      </m:num>
                      <m:den>
                        <m:sSub>
                          <m:sSubPr>
                            <m:ctrlPr>
                              <a:rPr lang="fr-FR" sz="1600" b="0" i="1" smtClean="0">
                                <a:solidFill>
                                  <a:srgbClr val="222A33"/>
                                </a:solidFill>
                                <a:latin typeface="Cambria Math" panose="02040503050406030204" pitchFamily="18" charset="0"/>
                              </a:rPr>
                            </m:ctrlPr>
                          </m:sSubPr>
                          <m:e>
                            <m:r>
                              <a:rPr lang="fr-FR" sz="1600" b="0" i="1" smtClean="0">
                                <a:solidFill>
                                  <a:srgbClr val="222A33"/>
                                </a:solidFill>
                                <a:latin typeface="Cambria Math" panose="02040503050406030204" pitchFamily="18" charset="0"/>
                              </a:rPr>
                              <m:t>𝑠</m:t>
                            </m:r>
                          </m:e>
                          <m:sub>
                            <m:r>
                              <a:rPr lang="fr-FR" sz="1600" b="0" i="1" smtClean="0">
                                <a:solidFill>
                                  <a:srgbClr val="222A33"/>
                                </a:solidFill>
                                <a:latin typeface="Cambria Math" panose="02040503050406030204" pitchFamily="18" charset="0"/>
                              </a:rPr>
                              <m:t>𝑥</m:t>
                            </m:r>
                          </m:sub>
                        </m:sSub>
                        <m:sSub>
                          <m:sSubPr>
                            <m:ctrlPr>
                              <a:rPr lang="fr-FR" sz="1600" b="0" i="1" smtClean="0">
                                <a:solidFill>
                                  <a:srgbClr val="222A33"/>
                                </a:solidFill>
                                <a:latin typeface="Cambria Math" panose="02040503050406030204" pitchFamily="18" charset="0"/>
                                <a:ea typeface="Cambria Math" panose="02040503050406030204" pitchFamily="18" charset="0"/>
                              </a:rPr>
                            </m:ctrlPr>
                          </m:sSubPr>
                          <m:e>
                            <m:r>
                              <a:rPr lang="fr-FR" sz="1600" b="0" i="1" smtClean="0">
                                <a:solidFill>
                                  <a:srgbClr val="222A33"/>
                                </a:solidFill>
                                <a:latin typeface="Cambria Math" panose="02040503050406030204" pitchFamily="18" charset="0"/>
                                <a:ea typeface="Cambria Math" panose="02040503050406030204" pitchFamily="18" charset="0"/>
                              </a:rPr>
                              <m:t>𝑠</m:t>
                            </m:r>
                          </m:e>
                          <m:sub>
                            <m:r>
                              <a:rPr lang="fr-FR" sz="1600" b="0" i="1" smtClean="0">
                                <a:solidFill>
                                  <a:srgbClr val="222A33"/>
                                </a:solidFill>
                                <a:latin typeface="Cambria Math" panose="02040503050406030204" pitchFamily="18" charset="0"/>
                                <a:ea typeface="Cambria Math" panose="02040503050406030204" pitchFamily="18" charset="0"/>
                              </a:rPr>
                              <m:t>𝑦</m:t>
                            </m:r>
                          </m:sub>
                        </m:sSub>
                      </m:den>
                    </m:f>
                  </m:oMath>
                </a14:m>
                <a:endParaRPr lang="fr-FR" sz="1600" dirty="0">
                  <a:solidFill>
                    <a:srgbClr val="222A33"/>
                  </a:solidFill>
                </a:endParaRPr>
              </a:p>
              <a:p>
                <a:pPr marL="342900" indent="-342900">
                  <a:spcAft>
                    <a:spcPts val="400"/>
                  </a:spcAft>
                  <a:buFont typeface="+mj-lt"/>
                  <a:buAutoNum type="arabicPeriod"/>
                </a:pPr>
                <a:r>
                  <a:rPr lang="fr-FR" sz="1600" b="1" i="0" dirty="0" err="1">
                    <a:solidFill>
                      <a:srgbClr val="222A33"/>
                    </a:solidFill>
                  </a:rPr>
                  <a:t>Categorical</a:t>
                </a:r>
                <a:r>
                  <a:rPr lang="fr-FR" sz="1600" b="1" i="0" dirty="0">
                    <a:solidFill>
                      <a:srgbClr val="222A33"/>
                    </a:solidFill>
                  </a:rPr>
                  <a:t> vs categorical: </a:t>
                </a:r>
                <a:r>
                  <a:rPr lang="fr-FR" sz="1600" b="0" i="0" dirty="0" err="1">
                    <a:solidFill>
                      <a:srgbClr val="222A33"/>
                    </a:solidFill>
                  </a:rPr>
                  <a:t>Cramér’s</a:t>
                </a:r>
                <a:r>
                  <a:rPr lang="fr-FR" sz="1600" b="0" i="0" dirty="0">
                    <a:solidFill>
                      <a:srgbClr val="222A33"/>
                    </a:solidFill>
                  </a:rPr>
                  <a:t> V (Cramer, 1946): </a:t>
                </a:r>
                <a14:m>
                  <m:oMath xmlns:m="http://schemas.openxmlformats.org/officeDocument/2006/math">
                    <m:r>
                      <a:rPr lang="fr-FR" sz="1600" b="0" i="1" smtClean="0">
                        <a:solidFill>
                          <a:srgbClr val="222A33"/>
                        </a:solidFill>
                        <a:latin typeface="Cambria Math" panose="02040503050406030204" pitchFamily="18" charset="0"/>
                      </a:rPr>
                      <m:t>𝑉</m:t>
                    </m:r>
                    <m:r>
                      <a:rPr lang="fr-FR" sz="1600" b="0" i="1" smtClean="0">
                        <a:solidFill>
                          <a:srgbClr val="222A33"/>
                        </a:solidFill>
                        <a:latin typeface="Cambria Math" panose="02040503050406030204" pitchFamily="18" charset="0"/>
                      </a:rPr>
                      <m:t>=</m:t>
                    </m:r>
                    <m:rad>
                      <m:radPr>
                        <m:degHide m:val="on"/>
                        <m:ctrlPr>
                          <a:rPr lang="fr-FR" sz="1600" b="0" i="1" smtClean="0">
                            <a:solidFill>
                              <a:srgbClr val="222A33"/>
                            </a:solidFill>
                            <a:latin typeface="Cambria Math" panose="02040503050406030204" pitchFamily="18" charset="0"/>
                          </a:rPr>
                        </m:ctrlPr>
                      </m:radPr>
                      <m:deg/>
                      <m:e>
                        <m:f>
                          <m:fPr>
                            <m:ctrlPr>
                              <a:rPr lang="fr-FR" sz="1600" b="0" i="1" smtClean="0">
                                <a:solidFill>
                                  <a:srgbClr val="222A33"/>
                                </a:solidFill>
                                <a:latin typeface="Cambria Math" panose="02040503050406030204" pitchFamily="18" charset="0"/>
                              </a:rPr>
                            </m:ctrlPr>
                          </m:fPr>
                          <m:num>
                            <m:sSup>
                              <m:sSupPr>
                                <m:ctrlPr>
                                  <a:rPr lang="fr-FR" sz="1600" b="0" i="1" smtClean="0">
                                    <a:solidFill>
                                      <a:srgbClr val="222A33"/>
                                    </a:solidFill>
                                    <a:latin typeface="Cambria Math" panose="02040503050406030204" pitchFamily="18" charset="0"/>
                                  </a:rPr>
                                </m:ctrlPr>
                              </m:sSupPr>
                              <m:e>
                                <m:r>
                                  <a:rPr lang="fr-FR" sz="1600" b="0" i="1" smtClean="0">
                                    <a:solidFill>
                                      <a:srgbClr val="222A33"/>
                                    </a:solidFill>
                                    <a:latin typeface="Cambria Math" panose="02040503050406030204" pitchFamily="18" charset="0"/>
                                    <a:ea typeface="Cambria Math" panose="02040503050406030204" pitchFamily="18" charset="0"/>
                                  </a:rPr>
                                  <m:t>𝜒</m:t>
                                </m:r>
                              </m:e>
                              <m:sup>
                                <m:r>
                                  <a:rPr lang="fr-FR" sz="1600" b="0" i="1" smtClean="0">
                                    <a:solidFill>
                                      <a:srgbClr val="222A33"/>
                                    </a:solidFill>
                                    <a:latin typeface="Cambria Math" panose="02040503050406030204" pitchFamily="18" charset="0"/>
                                  </a:rPr>
                                  <m:t>2</m:t>
                                </m:r>
                              </m:sup>
                            </m:sSup>
                          </m:num>
                          <m:den>
                            <m:r>
                              <a:rPr lang="fr-FR" sz="1600" b="0" i="1" smtClean="0">
                                <a:solidFill>
                                  <a:srgbClr val="222A33"/>
                                </a:solidFill>
                                <a:latin typeface="Cambria Math" panose="02040503050406030204" pitchFamily="18" charset="0"/>
                              </a:rPr>
                              <m:t>𝑛</m:t>
                            </m:r>
                            <m:r>
                              <a:rPr lang="fr-FR" sz="1600" b="0" i="1" smtClean="0">
                                <a:solidFill>
                                  <a:srgbClr val="222A33"/>
                                </a:solidFill>
                                <a:latin typeface="Cambria Math" panose="02040503050406030204" pitchFamily="18" charset="0"/>
                              </a:rPr>
                              <m:t> ∙</m:t>
                            </m:r>
                            <m:r>
                              <a:rPr lang="fr-FR" sz="1600" b="0" i="0" smtClean="0">
                                <a:solidFill>
                                  <a:srgbClr val="222A33"/>
                                </a:solidFill>
                                <a:latin typeface="Cambria Math" panose="02040503050406030204" pitchFamily="18" charset="0"/>
                                <a:ea typeface="Cambria Math" panose="02040503050406030204" pitchFamily="18" charset="0"/>
                              </a:rPr>
                              <m:t> </m:t>
                            </m:r>
                            <m:r>
                              <m:rPr>
                                <m:sty m:val="p"/>
                              </m:rPr>
                              <a:rPr lang="fr-FR" sz="1600" b="0" i="0" smtClean="0">
                                <a:solidFill>
                                  <a:srgbClr val="222A33"/>
                                </a:solidFill>
                                <a:latin typeface="Cambria Math" panose="02040503050406030204" pitchFamily="18" charset="0"/>
                                <a:ea typeface="Cambria Math" panose="02040503050406030204" pitchFamily="18" charset="0"/>
                              </a:rPr>
                              <m:t>min</m:t>
                            </m:r>
                            <m:r>
                              <a:rPr lang="fr-FR" sz="1600" b="0" i="1" smtClean="0">
                                <a:solidFill>
                                  <a:srgbClr val="222A33"/>
                                </a:solidFill>
                                <a:latin typeface="Cambria Math" panose="02040503050406030204" pitchFamily="18" charset="0"/>
                                <a:ea typeface="Cambria Math" panose="02040503050406030204" pitchFamily="18" charset="0"/>
                              </a:rPr>
                              <m:t>⁡(</m:t>
                            </m:r>
                            <m:r>
                              <a:rPr lang="fr-FR" sz="1600" b="0" i="1" smtClean="0">
                                <a:solidFill>
                                  <a:srgbClr val="222A33"/>
                                </a:solidFill>
                                <a:latin typeface="Cambria Math" panose="02040503050406030204" pitchFamily="18" charset="0"/>
                                <a:ea typeface="Cambria Math" panose="02040503050406030204" pitchFamily="18" charset="0"/>
                              </a:rPr>
                              <m:t>𝑟</m:t>
                            </m:r>
                            <m:r>
                              <a:rPr lang="fr-FR" sz="1600" b="0" i="1" smtClean="0">
                                <a:solidFill>
                                  <a:srgbClr val="222A33"/>
                                </a:solidFill>
                                <a:latin typeface="Cambria Math" panose="02040503050406030204" pitchFamily="18" charset="0"/>
                                <a:ea typeface="Cambria Math" panose="02040503050406030204" pitchFamily="18" charset="0"/>
                              </a:rPr>
                              <m:t> − 1,   </m:t>
                            </m:r>
                            <m:r>
                              <a:rPr lang="fr-FR" sz="1600" b="0" i="1" smtClean="0">
                                <a:solidFill>
                                  <a:srgbClr val="222A33"/>
                                </a:solidFill>
                                <a:latin typeface="Cambria Math" panose="02040503050406030204" pitchFamily="18" charset="0"/>
                                <a:ea typeface="Cambria Math" panose="02040503050406030204" pitchFamily="18" charset="0"/>
                              </a:rPr>
                              <m:t>𝑐</m:t>
                            </m:r>
                            <m:r>
                              <a:rPr lang="fr-FR" sz="1600" b="0" i="1" smtClean="0">
                                <a:solidFill>
                                  <a:srgbClr val="222A33"/>
                                </a:solidFill>
                                <a:latin typeface="Cambria Math" panose="02040503050406030204" pitchFamily="18" charset="0"/>
                                <a:ea typeface="Cambria Math" panose="02040503050406030204" pitchFamily="18" charset="0"/>
                              </a:rPr>
                              <m:t> − 1)</m:t>
                            </m:r>
                          </m:den>
                        </m:f>
                      </m:e>
                    </m:rad>
                  </m:oMath>
                </a14:m>
                <a:endParaRPr lang="fr-FR" sz="1600" b="0" i="0" dirty="0">
                  <a:solidFill>
                    <a:srgbClr val="222A33"/>
                  </a:solidFill>
                </a:endParaRPr>
              </a:p>
              <a:p>
                <a:pPr marL="342900" indent="-342900">
                  <a:spcAft>
                    <a:spcPts val="400"/>
                  </a:spcAft>
                  <a:buFont typeface="+mj-lt"/>
                  <a:buAutoNum type="arabicPeriod"/>
                </a:pPr>
                <a:r>
                  <a:rPr lang="fr-FR" sz="1600" b="1" i="0" dirty="0">
                    <a:solidFill>
                      <a:srgbClr val="222A33"/>
                    </a:solidFill>
                  </a:rPr>
                  <a:t>Numeric vs categorical: </a:t>
                </a:r>
                <a:r>
                  <a:rPr lang="fr-FR" sz="1600" dirty="0" err="1">
                    <a:solidFill>
                      <a:srgbClr val="222A33"/>
                    </a:solidFill>
                  </a:rPr>
                  <a:t>C</a:t>
                </a:r>
                <a:r>
                  <a:rPr lang="fr-FR" sz="1600" b="0" i="0" dirty="0" err="1">
                    <a:solidFill>
                      <a:srgbClr val="222A33"/>
                    </a:solidFill>
                  </a:rPr>
                  <a:t>orrelation</a:t>
                </a:r>
                <a:r>
                  <a:rPr lang="fr-FR" sz="1600" b="0" i="0" dirty="0">
                    <a:solidFill>
                      <a:srgbClr val="222A33"/>
                    </a:solidFill>
                  </a:rPr>
                  <a:t> ratio (Pearson, 1905): </a:t>
                </a:r>
                <a14:m>
                  <m:oMath xmlns:m="http://schemas.openxmlformats.org/officeDocument/2006/math">
                    <m:r>
                      <a:rPr lang="fr-FR" sz="1600" b="0" i="1" smtClean="0">
                        <a:solidFill>
                          <a:srgbClr val="222A33"/>
                        </a:solidFill>
                        <a:latin typeface="Cambria Math" panose="02040503050406030204" pitchFamily="18" charset="0"/>
                        <a:ea typeface="Cambria Math" panose="02040503050406030204" pitchFamily="18" charset="0"/>
                      </a:rPr>
                      <m:t>𝜂</m:t>
                    </m:r>
                    <m:r>
                      <a:rPr lang="fr-FR" sz="1600" b="0" i="1" smtClean="0">
                        <a:solidFill>
                          <a:srgbClr val="222A33"/>
                        </a:solidFill>
                        <a:latin typeface="Cambria Math" panose="02040503050406030204" pitchFamily="18" charset="0"/>
                        <a:ea typeface="Cambria Math" panose="02040503050406030204" pitchFamily="18" charset="0"/>
                      </a:rPr>
                      <m:t>= </m:t>
                    </m:r>
                    <m:rad>
                      <m:radPr>
                        <m:degHide m:val="on"/>
                        <m:ctrlPr>
                          <a:rPr lang="fr-FR" sz="1600" b="0" i="1" smtClean="0">
                            <a:solidFill>
                              <a:srgbClr val="222A33"/>
                            </a:solidFill>
                            <a:latin typeface="Cambria Math" panose="02040503050406030204" pitchFamily="18" charset="0"/>
                            <a:ea typeface="Cambria Math" panose="02040503050406030204" pitchFamily="18" charset="0"/>
                          </a:rPr>
                        </m:ctrlPr>
                      </m:radPr>
                      <m:deg/>
                      <m:e>
                        <m:f>
                          <m:fPr>
                            <m:ctrlPr>
                              <a:rPr lang="fr-FR" sz="1600" b="0" i="1" smtClean="0">
                                <a:solidFill>
                                  <a:srgbClr val="222A33"/>
                                </a:solidFill>
                                <a:latin typeface="Cambria Math" panose="02040503050406030204" pitchFamily="18" charset="0"/>
                                <a:ea typeface="Cambria Math" panose="02040503050406030204" pitchFamily="18" charset="0"/>
                              </a:rPr>
                            </m:ctrlPr>
                          </m:fPr>
                          <m:num>
                            <m:sSub>
                              <m:sSubPr>
                                <m:ctrlPr>
                                  <a:rPr lang="fr-FR" sz="1600" b="0" i="1" smtClean="0">
                                    <a:solidFill>
                                      <a:srgbClr val="222A33"/>
                                    </a:solidFill>
                                    <a:latin typeface="Cambria Math" panose="02040503050406030204" pitchFamily="18" charset="0"/>
                                    <a:ea typeface="Cambria Math" panose="02040503050406030204" pitchFamily="18" charset="0"/>
                                  </a:rPr>
                                </m:ctrlPr>
                              </m:sSubPr>
                              <m:e>
                                <m:r>
                                  <a:rPr lang="fr-FR" sz="1600" b="0" i="1" smtClean="0">
                                    <a:solidFill>
                                      <a:srgbClr val="222A33"/>
                                    </a:solidFill>
                                    <a:latin typeface="Cambria Math" panose="02040503050406030204" pitchFamily="18" charset="0"/>
                                    <a:ea typeface="Cambria Math" panose="02040503050406030204" pitchFamily="18" charset="0"/>
                                  </a:rPr>
                                  <m:t>𝑆𝑆</m:t>
                                </m:r>
                              </m:e>
                              <m:sub>
                                <m:r>
                                  <a:rPr lang="fr-FR" sz="1600" b="0" i="1" smtClean="0">
                                    <a:solidFill>
                                      <a:srgbClr val="222A33"/>
                                    </a:solidFill>
                                    <a:latin typeface="Cambria Math" panose="02040503050406030204" pitchFamily="18" charset="0"/>
                                    <a:ea typeface="Cambria Math" panose="02040503050406030204" pitchFamily="18" charset="0"/>
                                  </a:rPr>
                                  <m:t>𝑏𝑒𝑡𝑤𝑒𝑒𝑛</m:t>
                                </m:r>
                              </m:sub>
                            </m:sSub>
                          </m:num>
                          <m:den>
                            <m:sSub>
                              <m:sSubPr>
                                <m:ctrlPr>
                                  <a:rPr lang="fr-FR" sz="1600" b="0" i="1" smtClean="0">
                                    <a:solidFill>
                                      <a:srgbClr val="222A33"/>
                                    </a:solidFill>
                                    <a:latin typeface="Cambria Math" panose="02040503050406030204" pitchFamily="18" charset="0"/>
                                    <a:ea typeface="Cambria Math" panose="02040503050406030204" pitchFamily="18" charset="0"/>
                                  </a:rPr>
                                </m:ctrlPr>
                              </m:sSubPr>
                              <m:e>
                                <m:r>
                                  <a:rPr lang="fr-FR" sz="1600" b="0" i="1" smtClean="0">
                                    <a:solidFill>
                                      <a:srgbClr val="222A33"/>
                                    </a:solidFill>
                                    <a:latin typeface="Cambria Math" panose="02040503050406030204" pitchFamily="18" charset="0"/>
                                    <a:ea typeface="Cambria Math" panose="02040503050406030204" pitchFamily="18" charset="0"/>
                                  </a:rPr>
                                  <m:t>𝑆𝑆</m:t>
                                </m:r>
                              </m:e>
                              <m:sub>
                                <m:r>
                                  <a:rPr lang="fr-FR" sz="1600" b="0" i="1" smtClean="0">
                                    <a:solidFill>
                                      <a:srgbClr val="222A33"/>
                                    </a:solidFill>
                                    <a:latin typeface="Cambria Math" panose="02040503050406030204" pitchFamily="18" charset="0"/>
                                    <a:ea typeface="Cambria Math" panose="02040503050406030204" pitchFamily="18" charset="0"/>
                                  </a:rPr>
                                  <m:t>𝑡𝑜𝑡𝑎𝑙</m:t>
                                </m:r>
                              </m:sub>
                            </m:sSub>
                          </m:den>
                        </m:f>
                      </m:e>
                    </m:rad>
                  </m:oMath>
                </a14:m>
                <a:endParaRPr lang="fr-FR" sz="1600" b="0" i="0" dirty="0">
                  <a:solidFill>
                    <a:srgbClr val="222A33"/>
                  </a:solidFill>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blipFill>
                <a:blip r:embed="rId3"/>
                <a:stretch>
                  <a:fillRect l="-483" t="-872"/>
                </a:stretch>
              </a:blipFill>
            </p:spPr>
            <p:txBody>
              <a:bodyPr/>
              <a:lstStyle/>
              <a:p>
                <a:r>
                  <a:rPr lang="fr-FR">
                    <a:noFill/>
                  </a:rPr>
                  <a:t> </a:t>
                </a:r>
              </a:p>
            </p:txBody>
          </p:sp>
        </mc:Fallback>
      </mc:AlternateContent>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all pairs to the interesting few</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200" y="1393371"/>
                <a:ext cx="10515600" cy="4909458"/>
              </a:xfrm>
            </p:spPr>
            <p:txBody>
              <a:bodyPr wrap="square">
                <a:normAutofit/>
              </a:bodyPr>
              <a:lstStyle/>
              <a:p>
                <a:pPr marL="0" indent="0">
                  <a:spcAft>
                    <a:spcPts val="400"/>
                  </a:spcAft>
                  <a:buNone/>
                </a:pPr>
                <a:r>
                  <a:rPr lang="en-US" sz="1600" i="0" dirty="0">
                    <a:solidFill>
                      <a:srgbClr val="222A33"/>
                    </a:solidFill>
                  </a:rPr>
                  <a:t>3-step workflow:</a:t>
                </a:r>
              </a:p>
              <a:p>
                <a:pPr marL="342900" indent="-342900">
                  <a:spcAft>
                    <a:spcPts val="400"/>
                  </a:spcAft>
                  <a:buFont typeface="+mj-lt"/>
                  <a:buAutoNum type="arabicPeriod"/>
                </a:pPr>
                <a:r>
                  <a:rPr lang="en-US" sz="1600" b="1" i="0" dirty="0">
                    <a:solidFill>
                      <a:srgbClr val="222A33"/>
                    </a:solidFill>
                  </a:rPr>
                  <a:t>Keep only significant pairs: </a:t>
                </a:r>
                <a:r>
                  <a:rPr lang="en-US" sz="1600" b="0" i="1" dirty="0">
                    <a:solidFill>
                      <a:srgbClr val="222A33"/>
                    </a:solidFill>
                  </a:rPr>
                  <a:t>p</a:t>
                </a:r>
                <a:r>
                  <a:rPr lang="en-US" sz="1600" b="0" i="0" dirty="0">
                    <a:solidFill>
                      <a:srgbClr val="222A33"/>
                    </a:solidFill>
                  </a:rPr>
                  <a:t>-value &lt; 0.05</a:t>
                </a:r>
                <a:r>
                  <a:rPr lang="en-US" sz="1600" dirty="0">
                    <a:solidFill>
                      <a:srgbClr val="222A33"/>
                    </a:solidFill>
                  </a:rPr>
                  <a:t>:</a:t>
                </a:r>
              </a:p>
              <a:p>
                <a:pPr lvl="1">
                  <a:spcAft>
                    <a:spcPts val="400"/>
                  </a:spcAft>
                </a:pPr>
                <a:r>
                  <a:rPr lang="en-US" sz="1200" b="0" i="0" dirty="0">
                    <a:solidFill>
                      <a:srgbClr val="222A33"/>
                    </a:solidFill>
                  </a:rPr>
                  <a:t>Numeric vs numeric </a:t>
                </a:r>
                <a:r>
                  <a:rPr lang="fr-FR" sz="1200" dirty="0">
                    <a:solidFill>
                      <a:srgbClr val="222A33"/>
                    </a:solidFill>
                  </a:rPr>
                  <a:t>–</a:t>
                </a:r>
                <a:r>
                  <a:rPr lang="en-US" sz="1200" b="0" i="0" dirty="0">
                    <a:solidFill>
                      <a:srgbClr val="222A33"/>
                    </a:solidFill>
                  </a:rPr>
                  <a:t> </a:t>
                </a:r>
                <a:r>
                  <a:rPr lang="en-US" sz="1200" dirty="0">
                    <a:solidFill>
                      <a:srgbClr val="222A33"/>
                    </a:solidFill>
                  </a:rPr>
                  <a:t>Pearson’s correlation test: </a:t>
                </a:r>
                <a14:m>
                  <m:oMath xmlns:m="http://schemas.openxmlformats.org/officeDocument/2006/math">
                    <m:sSub>
                      <m:sSubPr>
                        <m:ctrlPr>
                          <a:rPr lang="fr-FR" sz="1200" b="0" i="1" smtClean="0">
                            <a:solidFill>
                              <a:srgbClr val="222A33"/>
                            </a:solidFill>
                            <a:latin typeface="Cambria Math" panose="02040503050406030204" pitchFamily="18" charset="0"/>
                          </a:rPr>
                        </m:ctrlPr>
                      </m:sSubPr>
                      <m:e>
                        <m:r>
                          <a:rPr lang="fr-FR" sz="1200" b="0" i="1" smtClean="0">
                            <a:solidFill>
                              <a:srgbClr val="222A33"/>
                            </a:solidFill>
                            <a:latin typeface="Cambria Math" panose="02040503050406030204" pitchFamily="18" charset="0"/>
                          </a:rPr>
                          <m:t>𝑡</m:t>
                        </m:r>
                      </m:e>
                      <m:sub>
                        <m:r>
                          <a:rPr lang="fr-FR" sz="1200" b="0" i="1" smtClean="0">
                            <a:solidFill>
                              <a:srgbClr val="222A33"/>
                            </a:solidFill>
                            <a:latin typeface="Cambria Math" panose="02040503050406030204" pitchFamily="18" charset="0"/>
                          </a:rPr>
                          <m:t>𝑜𝑏𝑠</m:t>
                        </m:r>
                      </m:sub>
                    </m:sSub>
                    <m:r>
                      <a:rPr lang="fr-FR" sz="1200" b="0" i="0" smtClean="0">
                        <a:solidFill>
                          <a:srgbClr val="222A33"/>
                        </a:solidFill>
                        <a:latin typeface="Cambria Math" panose="02040503050406030204" pitchFamily="18" charset="0"/>
                      </a:rPr>
                      <m:t> = </m:t>
                    </m:r>
                    <m:f>
                      <m:fPr>
                        <m:ctrlPr>
                          <a:rPr lang="ar-AE" sz="1200" i="1" smtClean="0">
                            <a:solidFill>
                              <a:srgbClr val="222A33"/>
                            </a:solidFill>
                            <a:latin typeface="Cambria Math" panose="02040503050406030204" pitchFamily="18" charset="0"/>
                          </a:rPr>
                        </m:ctrlPr>
                      </m:fPr>
                      <m:num>
                        <m:r>
                          <a:rPr lang="fr-FR" sz="1200" b="0" i="1" smtClean="0">
                            <a:solidFill>
                              <a:srgbClr val="222A33"/>
                            </a:solidFill>
                            <a:latin typeface="Cambria Math" panose="02040503050406030204" pitchFamily="18" charset="0"/>
                          </a:rPr>
                          <m:t>𝑟</m:t>
                        </m:r>
                      </m:num>
                      <m:den>
                        <m:rad>
                          <m:radPr>
                            <m:degHide m:val="on"/>
                            <m:ctrlPr>
                              <a:rPr lang="ar-AE" sz="1200" i="1" smtClean="0">
                                <a:solidFill>
                                  <a:srgbClr val="222A33"/>
                                </a:solidFill>
                                <a:latin typeface="Cambria Math" panose="02040503050406030204" pitchFamily="18" charset="0"/>
                              </a:rPr>
                            </m:ctrlPr>
                          </m:radPr>
                          <m:deg/>
                          <m:e>
                            <m:f>
                              <m:fPr>
                                <m:ctrlPr>
                                  <a:rPr lang="ar-AE" sz="1200" i="1" smtClean="0">
                                    <a:solidFill>
                                      <a:srgbClr val="222A33"/>
                                    </a:solidFill>
                                    <a:latin typeface="Cambria Math" panose="02040503050406030204" pitchFamily="18" charset="0"/>
                                  </a:rPr>
                                </m:ctrlPr>
                              </m:fPr>
                              <m:num>
                                <m:r>
                                  <a:rPr lang="fr-FR" sz="1200" b="0" i="1" smtClean="0">
                                    <a:solidFill>
                                      <a:srgbClr val="222A33"/>
                                    </a:solidFill>
                                    <a:latin typeface="Cambria Math" panose="02040503050406030204" pitchFamily="18" charset="0"/>
                                  </a:rPr>
                                  <m:t>1 − </m:t>
                                </m:r>
                                <m:sSup>
                                  <m:sSupPr>
                                    <m:ctrlPr>
                                      <a:rPr lang="ar-AE" sz="1200" b="0" i="1" smtClean="0">
                                        <a:solidFill>
                                          <a:srgbClr val="222A33"/>
                                        </a:solidFill>
                                        <a:latin typeface="Cambria Math" panose="02040503050406030204" pitchFamily="18" charset="0"/>
                                      </a:rPr>
                                    </m:ctrlPr>
                                  </m:sSupPr>
                                  <m:e>
                                    <m:r>
                                      <a:rPr lang="fr-FR" sz="1200" b="0" i="1" smtClean="0">
                                        <a:solidFill>
                                          <a:srgbClr val="222A33"/>
                                        </a:solidFill>
                                        <a:latin typeface="Cambria Math" panose="02040503050406030204" pitchFamily="18" charset="0"/>
                                      </a:rPr>
                                      <m:t>𝑟</m:t>
                                    </m:r>
                                  </m:e>
                                  <m:sup>
                                    <m:r>
                                      <a:rPr lang="fr-FR" sz="1200" b="0" i="1" smtClean="0">
                                        <a:solidFill>
                                          <a:srgbClr val="222A33"/>
                                        </a:solidFill>
                                        <a:latin typeface="Cambria Math" panose="02040503050406030204" pitchFamily="18" charset="0"/>
                                      </a:rPr>
                                      <m:t>2</m:t>
                                    </m:r>
                                  </m:sup>
                                </m:sSup>
                              </m:num>
                              <m:den>
                                <m:r>
                                  <a:rPr lang="fr-FR" sz="1200" b="0" i="1" smtClean="0">
                                    <a:solidFill>
                                      <a:srgbClr val="222A33"/>
                                    </a:solidFill>
                                    <a:latin typeface="Cambria Math" panose="02040503050406030204" pitchFamily="18" charset="0"/>
                                  </a:rPr>
                                  <m:t>𝑛</m:t>
                                </m:r>
                                <m:r>
                                  <a:rPr lang="fr-FR" sz="1200" b="0" i="1" smtClean="0">
                                    <a:solidFill>
                                      <a:srgbClr val="222A33"/>
                                    </a:solidFill>
                                    <a:latin typeface="Cambria Math" panose="02040503050406030204" pitchFamily="18" charset="0"/>
                                  </a:rPr>
                                  <m:t> − 2</m:t>
                                </m:r>
                              </m:den>
                            </m:f>
                          </m:e>
                        </m:rad>
                      </m:den>
                    </m:f>
                    <m:r>
                      <a:rPr lang="fr-FR" sz="1200" b="0" i="1" smtClean="0">
                        <a:solidFill>
                          <a:srgbClr val="222A33"/>
                        </a:solidFill>
                        <a:latin typeface="Cambria Math" panose="02040503050406030204" pitchFamily="18" charset="0"/>
                      </a:rPr>
                      <m:t> </m:t>
                    </m:r>
                    <m:r>
                      <a:rPr lang="fr-FR" sz="1200" b="0" i="1" smtClean="0">
                        <a:solidFill>
                          <a:srgbClr val="222A33"/>
                        </a:solidFill>
                        <a:latin typeface="Cambria Math" panose="02040503050406030204" pitchFamily="18" charset="0"/>
                        <a:ea typeface="Cambria Math" panose="02040503050406030204" pitchFamily="18" charset="0"/>
                      </a:rPr>
                      <m:t>~ </m:t>
                    </m:r>
                    <m:sSub>
                      <m:sSubPr>
                        <m:ctrlPr>
                          <a:rPr lang="ar-AE" sz="1200" b="0" i="1" smtClean="0">
                            <a:solidFill>
                              <a:srgbClr val="222A33"/>
                            </a:solidFill>
                            <a:latin typeface="Cambria Math" panose="02040503050406030204" pitchFamily="18" charset="0"/>
                            <a:ea typeface="Cambria Math" panose="02040503050406030204" pitchFamily="18" charset="0"/>
                          </a:rPr>
                        </m:ctrlPr>
                      </m:sSubPr>
                      <m:e>
                        <m:r>
                          <a:rPr lang="fr-FR" sz="1200" b="0" i="1" smtClean="0">
                            <a:solidFill>
                              <a:srgbClr val="222A33"/>
                            </a:solidFill>
                            <a:latin typeface="Cambria Math" panose="02040503050406030204" pitchFamily="18" charset="0"/>
                            <a:ea typeface="Cambria Math" panose="02040503050406030204" pitchFamily="18" charset="0"/>
                          </a:rPr>
                          <m:t>𝑡</m:t>
                        </m:r>
                      </m:e>
                      <m:sub>
                        <m:r>
                          <a:rPr lang="fr-FR" sz="1200" b="0" i="1" smtClean="0">
                            <a:solidFill>
                              <a:srgbClr val="222A33"/>
                            </a:solidFill>
                            <a:latin typeface="Cambria Math" panose="02040503050406030204" pitchFamily="18" charset="0"/>
                            <a:ea typeface="Cambria Math" panose="02040503050406030204" pitchFamily="18" charset="0"/>
                          </a:rPr>
                          <m:t>𝑛</m:t>
                        </m:r>
                        <m:r>
                          <a:rPr lang="fr-FR" sz="1200" b="0" i="1" smtClean="0">
                            <a:solidFill>
                              <a:srgbClr val="222A33"/>
                            </a:solidFill>
                            <a:latin typeface="Cambria Math" panose="02040503050406030204" pitchFamily="18" charset="0"/>
                            <a:ea typeface="Cambria Math" panose="02040503050406030204" pitchFamily="18" charset="0"/>
                          </a:rPr>
                          <m:t> − 2</m:t>
                        </m:r>
                      </m:sub>
                    </m:sSub>
                  </m:oMath>
                </a14:m>
                <a:endParaRPr lang="fr-FR" sz="1200" b="0" i="0" dirty="0">
                  <a:solidFill>
                    <a:srgbClr val="222A33"/>
                  </a:solidFill>
                </a:endParaRPr>
              </a:p>
              <a:p>
                <a:pPr lvl="1">
                  <a:spcAft>
                    <a:spcPts val="400"/>
                  </a:spcAft>
                </a:pPr>
                <a:r>
                  <a:rPr lang="fr-FR" sz="1200" b="0" i="0" dirty="0" err="1">
                    <a:solidFill>
                      <a:srgbClr val="222A33"/>
                    </a:solidFill>
                  </a:rPr>
                  <a:t>Categorical</a:t>
                </a:r>
                <a:r>
                  <a:rPr lang="fr-FR" sz="1200" b="0" i="0" dirty="0">
                    <a:solidFill>
                      <a:srgbClr val="222A33"/>
                    </a:solidFill>
                  </a:rPr>
                  <a:t> vs </a:t>
                </a:r>
                <a:r>
                  <a:rPr lang="fr-FR" sz="1200" b="0" i="0" dirty="0" err="1">
                    <a:solidFill>
                      <a:srgbClr val="222A33"/>
                    </a:solidFill>
                  </a:rPr>
                  <a:t>categorical</a:t>
                </a:r>
                <a:r>
                  <a:rPr lang="fr-FR" sz="1200" b="0" i="0" dirty="0">
                    <a:solidFill>
                      <a:srgbClr val="222A33"/>
                    </a:solidFill>
                  </a:rPr>
                  <a:t> – Chi-square test of </a:t>
                </a:r>
                <a:r>
                  <a:rPr lang="fr-FR" sz="1200" b="0" i="0" dirty="0" err="1">
                    <a:solidFill>
                      <a:srgbClr val="222A33"/>
                    </a:solidFill>
                  </a:rPr>
                  <a:t>independence</a:t>
                </a:r>
                <a:r>
                  <a:rPr lang="fr-FR" sz="1200" dirty="0">
                    <a:solidFill>
                      <a:srgbClr val="222A33"/>
                    </a:solidFill>
                  </a:rPr>
                  <a:t>: </a:t>
                </a:r>
                <a14:m>
                  <m:oMath xmlns:m="http://schemas.openxmlformats.org/officeDocument/2006/math">
                    <m:sSubSup>
                      <m:sSubSupPr>
                        <m:ctrlPr>
                          <a:rPr lang="ar-AE" sz="1200" i="1" smtClean="0">
                            <a:solidFill>
                              <a:srgbClr val="222A33"/>
                            </a:solidFill>
                            <a:latin typeface="Cambria Math" panose="02040503050406030204" pitchFamily="18" charset="0"/>
                          </a:rPr>
                        </m:ctrlPr>
                      </m:sSubSupPr>
                      <m:e>
                        <m:r>
                          <a:rPr lang="ar-AE" sz="1200" i="1" smtClean="0">
                            <a:solidFill>
                              <a:srgbClr val="222A33"/>
                            </a:solidFill>
                            <a:latin typeface="Cambria Math" panose="02040503050406030204" pitchFamily="18" charset="0"/>
                            <a:ea typeface="Cambria Math" panose="02040503050406030204" pitchFamily="18" charset="0"/>
                          </a:rPr>
                          <m:t>𝜒</m:t>
                        </m:r>
                      </m:e>
                      <m:sub>
                        <m:r>
                          <a:rPr lang="fr-FR" sz="1200" b="0" i="1" smtClean="0">
                            <a:solidFill>
                              <a:srgbClr val="222A33"/>
                            </a:solidFill>
                            <a:latin typeface="Cambria Math" panose="02040503050406030204" pitchFamily="18" charset="0"/>
                          </a:rPr>
                          <m:t>𝑜𝑏𝑠</m:t>
                        </m:r>
                      </m:sub>
                      <m:sup>
                        <m:r>
                          <a:rPr lang="fr-FR" sz="1200" b="0" i="1" smtClean="0">
                            <a:solidFill>
                              <a:srgbClr val="222A33"/>
                            </a:solidFill>
                            <a:latin typeface="Cambria Math" panose="02040503050406030204" pitchFamily="18" charset="0"/>
                          </a:rPr>
                          <m:t>2</m:t>
                        </m:r>
                      </m:sup>
                    </m:sSubSup>
                    <m:r>
                      <a:rPr lang="fr-FR" sz="1200" b="0" i="1" smtClean="0">
                        <a:solidFill>
                          <a:srgbClr val="222A33"/>
                        </a:solidFill>
                        <a:latin typeface="Cambria Math" panose="02040503050406030204" pitchFamily="18" charset="0"/>
                      </a:rPr>
                      <m:t>= </m:t>
                    </m:r>
                    <m:r>
                      <a:rPr lang="fr-FR" sz="1200" b="0" i="1" smtClean="0">
                        <a:solidFill>
                          <a:srgbClr val="222A33"/>
                        </a:solidFill>
                        <a:latin typeface="Cambria Math" panose="02040503050406030204" pitchFamily="18" charset="0"/>
                        <a:ea typeface="Cambria Math" panose="02040503050406030204" pitchFamily="18" charset="0"/>
                      </a:rPr>
                      <m:t>∑</m:t>
                    </m:r>
                    <m:f>
                      <m:fPr>
                        <m:ctrlPr>
                          <a:rPr lang="ar-AE" sz="1200" b="0" i="1" smtClean="0">
                            <a:solidFill>
                              <a:srgbClr val="222A33"/>
                            </a:solidFill>
                            <a:latin typeface="Cambria Math" panose="02040503050406030204" pitchFamily="18" charset="0"/>
                            <a:ea typeface="Cambria Math" panose="02040503050406030204" pitchFamily="18" charset="0"/>
                          </a:rPr>
                        </m:ctrlPr>
                      </m:fPr>
                      <m:num>
                        <m:sSup>
                          <m:sSupPr>
                            <m:ctrlPr>
                              <a:rPr lang="ar-AE" sz="1200" b="0" i="1" smtClean="0">
                                <a:solidFill>
                                  <a:srgbClr val="222A33"/>
                                </a:solidFill>
                                <a:latin typeface="Cambria Math" panose="02040503050406030204" pitchFamily="18" charset="0"/>
                                <a:ea typeface="Cambria Math" panose="02040503050406030204" pitchFamily="18" charset="0"/>
                              </a:rPr>
                            </m:ctrlPr>
                          </m:sSupPr>
                          <m:e>
                            <m:d>
                              <m:dPr>
                                <m:ctrlPr>
                                  <a:rPr lang="fr-FR" sz="1200" b="0" i="1" smtClean="0">
                                    <a:solidFill>
                                      <a:srgbClr val="222A33"/>
                                    </a:solidFill>
                                    <a:latin typeface="Cambria Math" panose="02040503050406030204" pitchFamily="18" charset="0"/>
                                    <a:ea typeface="Cambria Math" panose="02040503050406030204" pitchFamily="18" charset="0"/>
                                  </a:rPr>
                                </m:ctrlPr>
                              </m:dPr>
                              <m:e>
                                <m:r>
                                  <a:rPr lang="fr-FR" sz="1200" b="0" i="1" smtClean="0">
                                    <a:solidFill>
                                      <a:srgbClr val="222A33"/>
                                    </a:solidFill>
                                    <a:latin typeface="Cambria Math" panose="02040503050406030204" pitchFamily="18" charset="0"/>
                                    <a:ea typeface="Cambria Math" panose="02040503050406030204" pitchFamily="18" charset="0"/>
                                  </a:rPr>
                                  <m:t>𝑂</m:t>
                                </m:r>
                                <m:r>
                                  <a:rPr lang="fr-FR" sz="1200" b="0" i="1" smtClean="0">
                                    <a:solidFill>
                                      <a:srgbClr val="222A33"/>
                                    </a:solidFill>
                                    <a:latin typeface="Cambria Math" panose="02040503050406030204" pitchFamily="18" charset="0"/>
                                    <a:ea typeface="Cambria Math" panose="02040503050406030204" pitchFamily="18" charset="0"/>
                                  </a:rPr>
                                  <m:t> −</m:t>
                                </m:r>
                                <m:r>
                                  <a:rPr lang="fr-FR" sz="1200" b="0" i="1" smtClean="0">
                                    <a:solidFill>
                                      <a:srgbClr val="222A33"/>
                                    </a:solidFill>
                                    <a:latin typeface="Cambria Math" panose="02040503050406030204" pitchFamily="18" charset="0"/>
                                    <a:ea typeface="Cambria Math" panose="02040503050406030204" pitchFamily="18" charset="0"/>
                                  </a:rPr>
                                  <m:t>𝐸</m:t>
                                </m:r>
                              </m:e>
                            </m:d>
                          </m:e>
                          <m:sup>
                            <m:r>
                              <a:rPr lang="fr-FR" sz="1200" b="0" i="1" smtClean="0">
                                <a:solidFill>
                                  <a:srgbClr val="222A33"/>
                                </a:solidFill>
                                <a:latin typeface="Cambria Math" panose="02040503050406030204" pitchFamily="18" charset="0"/>
                                <a:ea typeface="Cambria Math" panose="02040503050406030204" pitchFamily="18" charset="0"/>
                              </a:rPr>
                              <m:t>2</m:t>
                            </m:r>
                          </m:sup>
                        </m:sSup>
                      </m:num>
                      <m:den>
                        <m:r>
                          <a:rPr lang="fr-FR" sz="1200" b="0" i="1" smtClean="0">
                            <a:solidFill>
                              <a:srgbClr val="222A33"/>
                            </a:solidFill>
                            <a:latin typeface="Cambria Math" panose="02040503050406030204" pitchFamily="18" charset="0"/>
                            <a:ea typeface="Cambria Math" panose="02040503050406030204" pitchFamily="18" charset="0"/>
                          </a:rPr>
                          <m:t>𝐸</m:t>
                        </m:r>
                      </m:den>
                    </m:f>
                    <m:r>
                      <a:rPr lang="fr-FR" sz="1200" b="0" i="1" smtClean="0">
                        <a:solidFill>
                          <a:srgbClr val="222A33"/>
                        </a:solidFill>
                        <a:latin typeface="Cambria Math" panose="02040503050406030204" pitchFamily="18" charset="0"/>
                        <a:ea typeface="Cambria Math" panose="02040503050406030204" pitchFamily="18" charset="0"/>
                      </a:rPr>
                      <m:t> ~ </m:t>
                    </m:r>
                    <m:sSubSup>
                      <m:sSubSupPr>
                        <m:ctrlPr>
                          <a:rPr lang="fr-FR" sz="1200" b="0" i="1" smtClean="0">
                            <a:solidFill>
                              <a:srgbClr val="222A33"/>
                            </a:solidFill>
                            <a:latin typeface="Cambria Math" panose="02040503050406030204" pitchFamily="18" charset="0"/>
                            <a:ea typeface="Cambria Math" panose="02040503050406030204" pitchFamily="18" charset="0"/>
                          </a:rPr>
                        </m:ctrlPr>
                      </m:sSubSupPr>
                      <m:e>
                        <m:r>
                          <a:rPr lang="fr-FR" sz="1200" b="0" i="1" smtClean="0">
                            <a:solidFill>
                              <a:srgbClr val="222A33"/>
                            </a:solidFill>
                            <a:latin typeface="Cambria Math" panose="02040503050406030204" pitchFamily="18" charset="0"/>
                            <a:ea typeface="Cambria Math" panose="02040503050406030204" pitchFamily="18" charset="0"/>
                          </a:rPr>
                          <m:t>𝜒</m:t>
                        </m:r>
                      </m:e>
                      <m:sub>
                        <m:r>
                          <a:rPr lang="fr-FR" sz="1200" b="0" i="1" smtClean="0">
                            <a:solidFill>
                              <a:srgbClr val="222A33"/>
                            </a:solidFill>
                            <a:latin typeface="Cambria Math" panose="02040503050406030204" pitchFamily="18" charset="0"/>
                            <a:ea typeface="Cambria Math" panose="02040503050406030204" pitchFamily="18" charset="0"/>
                          </a:rPr>
                          <m:t>(</m:t>
                        </m:r>
                        <m:r>
                          <a:rPr lang="fr-FR" sz="1200" b="0" i="1" smtClean="0">
                            <a:solidFill>
                              <a:srgbClr val="222A33"/>
                            </a:solidFill>
                            <a:latin typeface="Cambria Math" panose="02040503050406030204" pitchFamily="18" charset="0"/>
                            <a:ea typeface="Cambria Math" panose="02040503050406030204" pitchFamily="18" charset="0"/>
                          </a:rPr>
                          <m:t>𝑟</m:t>
                        </m:r>
                        <m:r>
                          <a:rPr lang="fr-FR" sz="1200" b="0" i="1" smtClean="0">
                            <a:solidFill>
                              <a:srgbClr val="222A33"/>
                            </a:solidFill>
                            <a:latin typeface="Cambria Math" panose="02040503050406030204" pitchFamily="18" charset="0"/>
                            <a:ea typeface="Cambria Math" panose="02040503050406030204" pitchFamily="18" charset="0"/>
                          </a:rPr>
                          <m:t> − 1,   </m:t>
                        </m:r>
                        <m:r>
                          <a:rPr lang="fr-FR" sz="1200" b="0" i="1" smtClean="0">
                            <a:solidFill>
                              <a:srgbClr val="222A33"/>
                            </a:solidFill>
                            <a:latin typeface="Cambria Math" panose="02040503050406030204" pitchFamily="18" charset="0"/>
                            <a:ea typeface="Cambria Math" panose="02040503050406030204" pitchFamily="18" charset="0"/>
                          </a:rPr>
                          <m:t>𝑐</m:t>
                        </m:r>
                        <m:r>
                          <a:rPr lang="fr-FR" sz="1200" b="0" i="1" smtClean="0">
                            <a:solidFill>
                              <a:srgbClr val="222A33"/>
                            </a:solidFill>
                            <a:latin typeface="Cambria Math" panose="02040503050406030204" pitchFamily="18" charset="0"/>
                            <a:ea typeface="Cambria Math" panose="02040503050406030204" pitchFamily="18" charset="0"/>
                          </a:rPr>
                          <m:t> − 1)</m:t>
                        </m:r>
                      </m:sub>
                      <m:sup>
                        <m:r>
                          <a:rPr lang="fr-FR" sz="1200" b="0" i="1" smtClean="0">
                            <a:solidFill>
                              <a:srgbClr val="222A33"/>
                            </a:solidFill>
                            <a:latin typeface="Cambria Math" panose="02040503050406030204" pitchFamily="18" charset="0"/>
                            <a:ea typeface="Cambria Math" panose="02040503050406030204" pitchFamily="18" charset="0"/>
                          </a:rPr>
                          <m:t>2</m:t>
                        </m:r>
                      </m:sup>
                    </m:sSubSup>
                  </m:oMath>
                </a14:m>
                <a:endParaRPr lang="fr-FR" sz="1200" b="0" i="0" dirty="0">
                  <a:solidFill>
                    <a:srgbClr val="222A33"/>
                  </a:solidFill>
                </a:endParaRPr>
              </a:p>
              <a:p>
                <a:pPr lvl="1">
                  <a:spcAft>
                    <a:spcPts val="400"/>
                  </a:spcAft>
                </a:pPr>
                <a:r>
                  <a:rPr lang="fr-FR" sz="1200" b="0" i="0" dirty="0" err="1">
                    <a:solidFill>
                      <a:srgbClr val="222A33"/>
                    </a:solidFill>
                  </a:rPr>
                  <a:t>Numeric</a:t>
                </a:r>
                <a:r>
                  <a:rPr lang="fr-FR" sz="1200" b="0" i="0" dirty="0">
                    <a:solidFill>
                      <a:srgbClr val="222A33"/>
                    </a:solidFill>
                  </a:rPr>
                  <a:t> vs </a:t>
                </a:r>
                <a:r>
                  <a:rPr lang="fr-FR" sz="1200" b="0" i="0" dirty="0" err="1">
                    <a:solidFill>
                      <a:srgbClr val="222A33"/>
                    </a:solidFill>
                  </a:rPr>
                  <a:t>categorical</a:t>
                </a:r>
                <a:r>
                  <a:rPr lang="fr-FR" sz="1200" b="0" i="0" dirty="0">
                    <a:solidFill>
                      <a:srgbClr val="222A33"/>
                    </a:solidFill>
                  </a:rPr>
                  <a:t> – One-</a:t>
                </a:r>
                <a:r>
                  <a:rPr lang="fr-FR" sz="1200" b="0" i="0" dirty="0" err="1">
                    <a:solidFill>
                      <a:srgbClr val="222A33"/>
                    </a:solidFill>
                  </a:rPr>
                  <a:t>way</a:t>
                </a:r>
                <a:r>
                  <a:rPr lang="fr-FR" sz="1200" b="0" i="0" dirty="0">
                    <a:solidFill>
                      <a:srgbClr val="222A33"/>
                    </a:solidFill>
                  </a:rPr>
                  <a:t> ANOVA F-test: </a:t>
                </a:r>
                <a14:m>
                  <m:oMath xmlns:m="http://schemas.openxmlformats.org/officeDocument/2006/math">
                    <m:sSub>
                      <m:sSubPr>
                        <m:ctrlPr>
                          <a:rPr lang="fr-FR" sz="1200" b="0" i="1" smtClean="0">
                            <a:solidFill>
                              <a:srgbClr val="222A33"/>
                            </a:solidFill>
                            <a:latin typeface="Cambria Math" panose="02040503050406030204" pitchFamily="18" charset="0"/>
                          </a:rPr>
                        </m:ctrlPr>
                      </m:sSubPr>
                      <m:e>
                        <m:r>
                          <a:rPr lang="fr-FR" sz="1200" b="0" i="1" smtClean="0">
                            <a:solidFill>
                              <a:srgbClr val="222A33"/>
                            </a:solidFill>
                            <a:latin typeface="Cambria Math" panose="02040503050406030204" pitchFamily="18" charset="0"/>
                          </a:rPr>
                          <m:t>𝐹</m:t>
                        </m:r>
                      </m:e>
                      <m:sub>
                        <m:r>
                          <a:rPr lang="fr-FR" sz="1200" b="0" i="1" smtClean="0">
                            <a:solidFill>
                              <a:srgbClr val="222A33"/>
                            </a:solidFill>
                            <a:latin typeface="Cambria Math" panose="02040503050406030204" pitchFamily="18" charset="0"/>
                          </a:rPr>
                          <m:t>𝑜𝑏𝑠</m:t>
                        </m:r>
                      </m:sub>
                    </m:sSub>
                    <m:r>
                      <a:rPr lang="fr-FR" sz="1200" b="0" i="1" smtClean="0">
                        <a:solidFill>
                          <a:srgbClr val="222A33"/>
                        </a:solidFill>
                        <a:latin typeface="Cambria Math" panose="02040503050406030204" pitchFamily="18" charset="0"/>
                      </a:rPr>
                      <m:t>= </m:t>
                    </m:r>
                    <m:f>
                      <m:fPr>
                        <m:ctrlPr>
                          <a:rPr lang="ar-AE" sz="1200" b="0" i="1" smtClean="0">
                            <a:solidFill>
                              <a:srgbClr val="222A33"/>
                            </a:solidFill>
                            <a:latin typeface="Cambria Math" panose="02040503050406030204" pitchFamily="18" charset="0"/>
                          </a:rPr>
                        </m:ctrlPr>
                      </m:fPr>
                      <m:num>
                        <m:sSub>
                          <m:sSubPr>
                            <m:ctrlPr>
                              <a:rPr lang="ar-AE" sz="1200" b="0" i="1" smtClean="0">
                                <a:solidFill>
                                  <a:srgbClr val="222A33"/>
                                </a:solidFill>
                                <a:latin typeface="Cambria Math" panose="02040503050406030204" pitchFamily="18" charset="0"/>
                              </a:rPr>
                            </m:ctrlPr>
                          </m:sSubPr>
                          <m:e>
                            <m:r>
                              <a:rPr lang="fr-FR" sz="1200" b="0" i="1" smtClean="0">
                                <a:solidFill>
                                  <a:srgbClr val="222A33"/>
                                </a:solidFill>
                                <a:latin typeface="Cambria Math" panose="02040503050406030204" pitchFamily="18" charset="0"/>
                              </a:rPr>
                              <m:t>𝑀𝑆</m:t>
                            </m:r>
                          </m:e>
                          <m:sub>
                            <m:r>
                              <a:rPr lang="fr-FR" sz="1200" b="0" i="1" smtClean="0">
                                <a:solidFill>
                                  <a:srgbClr val="222A33"/>
                                </a:solidFill>
                                <a:latin typeface="Cambria Math" panose="02040503050406030204" pitchFamily="18" charset="0"/>
                              </a:rPr>
                              <m:t>𝑏𝑒𝑡𝑤𝑒𝑒𝑛</m:t>
                            </m:r>
                          </m:sub>
                        </m:sSub>
                      </m:num>
                      <m:den>
                        <m:sSub>
                          <m:sSubPr>
                            <m:ctrlPr>
                              <a:rPr lang="ar-AE" sz="1200" b="0" i="1" smtClean="0">
                                <a:solidFill>
                                  <a:srgbClr val="222A33"/>
                                </a:solidFill>
                                <a:latin typeface="Cambria Math" panose="02040503050406030204" pitchFamily="18" charset="0"/>
                              </a:rPr>
                            </m:ctrlPr>
                          </m:sSubPr>
                          <m:e>
                            <m:r>
                              <a:rPr lang="fr-FR" sz="1200" b="0" i="1" smtClean="0">
                                <a:solidFill>
                                  <a:srgbClr val="222A33"/>
                                </a:solidFill>
                                <a:latin typeface="Cambria Math" panose="02040503050406030204" pitchFamily="18" charset="0"/>
                              </a:rPr>
                              <m:t>𝑀𝑆</m:t>
                            </m:r>
                          </m:e>
                          <m:sub>
                            <m:r>
                              <a:rPr lang="fr-FR" sz="1200" b="0" i="1" smtClean="0">
                                <a:solidFill>
                                  <a:srgbClr val="222A33"/>
                                </a:solidFill>
                                <a:latin typeface="Cambria Math" panose="02040503050406030204" pitchFamily="18" charset="0"/>
                              </a:rPr>
                              <m:t>𝑤𝑖𝑡h𝑖𝑛</m:t>
                            </m:r>
                          </m:sub>
                        </m:sSub>
                      </m:den>
                    </m:f>
                    <m:r>
                      <a:rPr lang="fr-FR" sz="1200" b="0" i="1" smtClean="0">
                        <a:solidFill>
                          <a:srgbClr val="222A33"/>
                        </a:solidFill>
                        <a:latin typeface="Cambria Math" panose="02040503050406030204" pitchFamily="18" charset="0"/>
                      </a:rPr>
                      <m:t> </m:t>
                    </m:r>
                    <m:r>
                      <a:rPr lang="fr-FR" sz="1200" b="0" i="1" smtClean="0">
                        <a:solidFill>
                          <a:srgbClr val="222A33"/>
                        </a:solidFill>
                        <a:latin typeface="Cambria Math" panose="02040503050406030204" pitchFamily="18" charset="0"/>
                        <a:ea typeface="Cambria Math" panose="02040503050406030204" pitchFamily="18" charset="0"/>
                      </a:rPr>
                      <m:t>~ </m:t>
                    </m:r>
                    <m:sSubSup>
                      <m:sSubSupPr>
                        <m:ctrlPr>
                          <a:rPr lang="fr-FR" sz="1200" b="0" i="1" smtClean="0">
                            <a:solidFill>
                              <a:srgbClr val="222A33"/>
                            </a:solidFill>
                            <a:latin typeface="Cambria Math" panose="02040503050406030204" pitchFamily="18" charset="0"/>
                            <a:ea typeface="Cambria Math" panose="02040503050406030204" pitchFamily="18" charset="0"/>
                          </a:rPr>
                        </m:ctrlPr>
                      </m:sSubSupPr>
                      <m:e>
                        <m:r>
                          <a:rPr lang="fr-FR" sz="1200" b="0" i="1" smtClean="0">
                            <a:solidFill>
                              <a:srgbClr val="222A33"/>
                            </a:solidFill>
                            <a:latin typeface="Cambria Math" panose="02040503050406030204" pitchFamily="18" charset="0"/>
                            <a:ea typeface="Cambria Math" panose="02040503050406030204" pitchFamily="18" charset="0"/>
                          </a:rPr>
                          <m:t>𝐹</m:t>
                        </m:r>
                      </m:e>
                      <m:sub>
                        <m:r>
                          <a:rPr lang="fr-FR" sz="1200" b="0" i="1" smtClean="0">
                            <a:solidFill>
                              <a:srgbClr val="222A33"/>
                            </a:solidFill>
                            <a:latin typeface="Cambria Math" panose="02040503050406030204" pitchFamily="18" charset="0"/>
                            <a:ea typeface="Cambria Math" panose="02040503050406030204" pitchFamily="18" charset="0"/>
                          </a:rPr>
                          <m:t>𝑁</m:t>
                        </m:r>
                        <m:r>
                          <a:rPr lang="fr-FR" sz="1200" b="0" i="1" smtClean="0">
                            <a:solidFill>
                              <a:srgbClr val="222A33"/>
                            </a:solidFill>
                            <a:latin typeface="Cambria Math" panose="02040503050406030204" pitchFamily="18" charset="0"/>
                            <a:ea typeface="Cambria Math" panose="02040503050406030204" pitchFamily="18" charset="0"/>
                          </a:rPr>
                          <m:t> − </m:t>
                        </m:r>
                        <m:r>
                          <a:rPr lang="fr-FR" sz="1200" b="0" i="1" smtClean="0">
                            <a:solidFill>
                              <a:srgbClr val="222A33"/>
                            </a:solidFill>
                            <a:latin typeface="Cambria Math" panose="02040503050406030204" pitchFamily="18" charset="0"/>
                            <a:ea typeface="Cambria Math" panose="02040503050406030204" pitchFamily="18" charset="0"/>
                          </a:rPr>
                          <m:t>𝑘</m:t>
                        </m:r>
                      </m:sub>
                      <m:sup>
                        <m:r>
                          <a:rPr lang="fr-FR" sz="1200" b="0" i="1" smtClean="0">
                            <a:solidFill>
                              <a:srgbClr val="222A33"/>
                            </a:solidFill>
                            <a:latin typeface="Cambria Math" panose="02040503050406030204" pitchFamily="18" charset="0"/>
                            <a:ea typeface="Cambria Math" panose="02040503050406030204" pitchFamily="18" charset="0"/>
                          </a:rPr>
                          <m:t>𝑘</m:t>
                        </m:r>
                        <m:r>
                          <a:rPr lang="fr-FR" sz="1200" b="0" i="1" smtClean="0">
                            <a:solidFill>
                              <a:srgbClr val="222A33"/>
                            </a:solidFill>
                            <a:latin typeface="Cambria Math" panose="02040503050406030204" pitchFamily="18" charset="0"/>
                            <a:ea typeface="Cambria Math" panose="02040503050406030204" pitchFamily="18" charset="0"/>
                          </a:rPr>
                          <m:t> − 1</m:t>
                        </m:r>
                      </m:sup>
                    </m:sSubSup>
                  </m:oMath>
                </a14:m>
                <a:r>
                  <a:rPr lang="fr-FR" sz="1200" b="0" i="0" dirty="0">
                    <a:solidFill>
                      <a:srgbClr val="222A33"/>
                    </a:solidFill>
                  </a:rPr>
                  <a:t> </a:t>
                </a:r>
                <a:endParaRPr lang="ar-AE" sz="1200" b="0" i="0" dirty="0">
                  <a:solidFill>
                    <a:srgbClr val="222A33"/>
                  </a:solidFill>
                </a:endParaRPr>
              </a:p>
              <a:p>
                <a:pPr marL="342900" indent="-342900">
                  <a:spcAft>
                    <a:spcPts val="400"/>
                  </a:spcAft>
                  <a:buFont typeface="+mj-lt"/>
                  <a:buAutoNum type="arabicPeriod"/>
                </a:pPr>
                <a:r>
                  <a:rPr lang="en-US" sz="1600" b="1" i="0" dirty="0">
                    <a:solidFill>
                      <a:srgbClr val="222A33"/>
                    </a:solidFill>
                  </a:rPr>
                  <a:t>Drop negligible ones: </a:t>
                </a:r>
                <a:r>
                  <a:rPr lang="en-US" sz="1600" b="0" i="0" dirty="0">
                    <a:solidFill>
                      <a:srgbClr val="222A33"/>
                    </a:solidFill>
                  </a:rPr>
                  <a:t>minimum strength of at least 1% explained variance (Cohen’s (1988) small effect):</a:t>
                </a:r>
              </a:p>
              <a:p>
                <a:pPr lvl="1">
                  <a:spcAft>
                    <a:spcPts val="400"/>
                  </a:spcAft>
                </a:pPr>
                <a:r>
                  <a:rPr lang="en-US" sz="1200" dirty="0">
                    <a:solidFill>
                      <a:srgbClr val="222A33"/>
                    </a:solidFill>
                  </a:rPr>
                  <a:t>Numeric vs numeric: </a:t>
                </a:r>
                <a14:m>
                  <m:oMath xmlns:m="http://schemas.openxmlformats.org/officeDocument/2006/math">
                    <m:sSup>
                      <m:sSupPr>
                        <m:ctrlPr>
                          <a:rPr lang="en-US" sz="1200" i="1" smtClean="0">
                            <a:solidFill>
                              <a:srgbClr val="222A33"/>
                            </a:solidFill>
                            <a:latin typeface="Cambria Math" panose="02040503050406030204" pitchFamily="18" charset="0"/>
                          </a:rPr>
                        </m:ctrlPr>
                      </m:sSupPr>
                      <m:e>
                        <m:r>
                          <a:rPr lang="fr-FR" sz="1200" b="0" i="1" smtClean="0">
                            <a:solidFill>
                              <a:srgbClr val="222A33"/>
                            </a:solidFill>
                            <a:latin typeface="Cambria Math" panose="02040503050406030204" pitchFamily="18" charset="0"/>
                          </a:rPr>
                          <m:t>𝑟</m:t>
                        </m:r>
                      </m:e>
                      <m:sup>
                        <m:r>
                          <a:rPr lang="fr-FR" sz="1200" b="0" i="1" smtClean="0">
                            <a:solidFill>
                              <a:srgbClr val="222A33"/>
                            </a:solidFill>
                            <a:latin typeface="Cambria Math" panose="02040503050406030204" pitchFamily="18" charset="0"/>
                          </a:rPr>
                          <m:t>2 </m:t>
                        </m:r>
                      </m:sup>
                    </m:sSup>
                    <m:r>
                      <a:rPr lang="en-US" sz="1200" i="1" smtClean="0">
                        <a:solidFill>
                          <a:srgbClr val="222A33"/>
                        </a:solidFill>
                        <a:latin typeface="Cambria Math" panose="02040503050406030204" pitchFamily="18" charset="0"/>
                        <a:ea typeface="Cambria Math" panose="02040503050406030204" pitchFamily="18" charset="0"/>
                      </a:rPr>
                      <m:t>≥</m:t>
                    </m:r>
                    <m:r>
                      <a:rPr lang="fr-FR" sz="1200" b="0" i="1" smtClean="0">
                        <a:solidFill>
                          <a:srgbClr val="222A33"/>
                        </a:solidFill>
                        <a:latin typeface="Cambria Math" panose="02040503050406030204" pitchFamily="18" charset="0"/>
                        <a:ea typeface="Cambria Math" panose="02040503050406030204" pitchFamily="18" charset="0"/>
                      </a:rPr>
                      <m:t>0.01</m:t>
                    </m:r>
                  </m:oMath>
                </a14:m>
                <a:endParaRPr lang="en-US" sz="1200" dirty="0">
                  <a:solidFill>
                    <a:srgbClr val="222A33"/>
                  </a:solidFill>
                </a:endParaRPr>
              </a:p>
              <a:p>
                <a:pPr lvl="1">
                  <a:spcAft>
                    <a:spcPts val="400"/>
                  </a:spcAft>
                </a:pPr>
                <a:r>
                  <a:rPr lang="en-US" sz="1200" dirty="0">
                    <a:solidFill>
                      <a:srgbClr val="222A33"/>
                    </a:solidFill>
                  </a:rPr>
                  <a:t>Categorical vs categorical: </a:t>
                </a:r>
                <a14:m>
                  <m:oMath xmlns:m="http://schemas.openxmlformats.org/officeDocument/2006/math">
                    <m:sSup>
                      <m:sSupPr>
                        <m:ctrlPr>
                          <a:rPr lang="en-US" sz="1200" i="1" smtClean="0">
                            <a:solidFill>
                              <a:srgbClr val="222A33"/>
                            </a:solidFill>
                            <a:latin typeface="Cambria Math" panose="02040503050406030204" pitchFamily="18" charset="0"/>
                          </a:rPr>
                        </m:ctrlPr>
                      </m:sSupPr>
                      <m:e>
                        <m:r>
                          <a:rPr lang="fr-FR" sz="1200" b="0" i="1" smtClean="0">
                            <a:solidFill>
                              <a:srgbClr val="222A33"/>
                            </a:solidFill>
                            <a:latin typeface="Cambria Math" panose="02040503050406030204" pitchFamily="18" charset="0"/>
                          </a:rPr>
                          <m:t>𝑉</m:t>
                        </m:r>
                      </m:e>
                      <m:sup>
                        <m:r>
                          <a:rPr lang="fr-FR" sz="1200" b="0" i="1" smtClean="0">
                            <a:solidFill>
                              <a:srgbClr val="222A33"/>
                            </a:solidFill>
                            <a:latin typeface="Cambria Math" panose="02040503050406030204" pitchFamily="18" charset="0"/>
                          </a:rPr>
                          <m:t>2</m:t>
                        </m:r>
                      </m:sup>
                    </m:sSup>
                    <m:r>
                      <a:rPr lang="fr-FR" sz="1200" i="1">
                        <a:solidFill>
                          <a:srgbClr val="222A33"/>
                        </a:solidFill>
                        <a:latin typeface="Cambria Math" panose="02040503050406030204" pitchFamily="18" charset="0"/>
                        <a:ea typeface="Cambria Math" panose="02040503050406030204" pitchFamily="18" charset="0"/>
                      </a:rPr>
                      <m:t>≥</m:t>
                    </m:r>
                    <m:r>
                      <a:rPr lang="fr-FR" sz="1200" b="0" i="1" smtClean="0">
                        <a:solidFill>
                          <a:srgbClr val="222A33"/>
                        </a:solidFill>
                        <a:latin typeface="Cambria Math" panose="02040503050406030204" pitchFamily="18" charset="0"/>
                        <a:ea typeface="Cambria Math" panose="02040503050406030204" pitchFamily="18" charset="0"/>
                      </a:rPr>
                      <m:t>0.01</m:t>
                    </m:r>
                  </m:oMath>
                </a14:m>
                <a:endParaRPr lang="en-US" sz="1200" dirty="0">
                  <a:solidFill>
                    <a:srgbClr val="222A33"/>
                  </a:solidFill>
                </a:endParaRPr>
              </a:p>
              <a:p>
                <a:pPr lvl="1">
                  <a:spcAft>
                    <a:spcPts val="400"/>
                  </a:spcAft>
                </a:pPr>
                <a:r>
                  <a:rPr lang="en-US" sz="1200" dirty="0">
                    <a:solidFill>
                      <a:srgbClr val="222A33"/>
                    </a:solidFill>
                  </a:rPr>
                  <a:t>Numeric vs categorical: </a:t>
                </a:r>
                <a14:m>
                  <m:oMath xmlns:m="http://schemas.openxmlformats.org/officeDocument/2006/math">
                    <m:sSubSup>
                      <m:sSubSupPr>
                        <m:ctrlPr>
                          <a:rPr lang="en-US" sz="1200" i="1" smtClean="0">
                            <a:solidFill>
                              <a:srgbClr val="222A33"/>
                            </a:solidFill>
                            <a:latin typeface="Cambria Math" panose="02040503050406030204" pitchFamily="18" charset="0"/>
                          </a:rPr>
                        </m:ctrlPr>
                      </m:sSubSupPr>
                      <m:e>
                        <m:r>
                          <a:rPr lang="fr-FR" sz="1200" b="0" i="1" smtClean="0">
                            <a:solidFill>
                              <a:srgbClr val="222A33"/>
                            </a:solidFill>
                            <a:latin typeface="Cambria Math" panose="02040503050406030204" pitchFamily="18" charset="0"/>
                          </a:rPr>
                          <m:t>𝑅</m:t>
                        </m:r>
                      </m:e>
                      <m:sub>
                        <m:r>
                          <a:rPr lang="fr-FR" sz="1200" b="0" i="1" smtClean="0">
                            <a:solidFill>
                              <a:srgbClr val="222A33"/>
                            </a:solidFill>
                            <a:latin typeface="Cambria Math" panose="02040503050406030204" pitchFamily="18" charset="0"/>
                          </a:rPr>
                          <m:t>𝑎𝑑𝑗</m:t>
                        </m:r>
                      </m:sub>
                      <m:sup>
                        <m:r>
                          <a:rPr lang="fr-FR" sz="1200" b="0" i="1" smtClean="0">
                            <a:solidFill>
                              <a:srgbClr val="222A33"/>
                            </a:solidFill>
                            <a:latin typeface="Cambria Math" panose="02040503050406030204" pitchFamily="18" charset="0"/>
                          </a:rPr>
                          <m:t>2</m:t>
                        </m:r>
                      </m:sup>
                    </m:sSubSup>
                    <m:r>
                      <a:rPr lang="fr-FR" sz="1200" i="1">
                        <a:solidFill>
                          <a:srgbClr val="222A33"/>
                        </a:solidFill>
                        <a:latin typeface="Cambria Math" panose="02040503050406030204" pitchFamily="18" charset="0"/>
                        <a:ea typeface="Cambria Math" panose="02040503050406030204" pitchFamily="18" charset="0"/>
                      </a:rPr>
                      <m:t>≥</m:t>
                    </m:r>
                    <m:r>
                      <a:rPr lang="fr-FR" sz="1200" b="0" i="1" smtClean="0">
                        <a:solidFill>
                          <a:srgbClr val="222A33"/>
                        </a:solidFill>
                        <a:latin typeface="Cambria Math" panose="02040503050406030204" pitchFamily="18" charset="0"/>
                        <a:ea typeface="Cambria Math" panose="02040503050406030204" pitchFamily="18" charset="0"/>
                      </a:rPr>
                      <m:t>0.01</m:t>
                    </m:r>
                  </m:oMath>
                </a14:m>
                <a:endParaRPr lang="en-US" sz="1200" dirty="0">
                  <a:solidFill>
                    <a:srgbClr val="222A33"/>
                  </a:solidFill>
                </a:endParaRPr>
              </a:p>
              <a:p>
                <a:pPr marL="342900" indent="-342900">
                  <a:spcAft>
                    <a:spcPts val="400"/>
                  </a:spcAft>
                  <a:buFont typeface="+mj-lt"/>
                  <a:buAutoNum type="arabicPeriod"/>
                </a:pPr>
                <a:r>
                  <a:rPr lang="en-US" sz="1600" b="1" i="0" dirty="0">
                    <a:solidFill>
                      <a:srgbClr val="222A33"/>
                    </a:solidFill>
                  </a:rPr>
                  <a:t>Rank by strength, </a:t>
                </a:r>
                <a:r>
                  <a:rPr lang="en-US" sz="1600" i="0" dirty="0">
                    <a:solidFill>
                      <a:srgbClr val="222A33"/>
                    </a:solidFill>
                  </a:rPr>
                  <a:t>keep the top-N (N = 10)</a:t>
                </a:r>
              </a:p>
              <a:p>
                <a:pPr marL="342900" indent="-342900">
                  <a:spcAft>
                    <a:spcPts val="400"/>
                  </a:spcAft>
                  <a:buFont typeface="+mj-lt"/>
                  <a:buAutoNum type="arabicPeriod"/>
                </a:pPr>
                <a:endParaRPr lang="en-US" sz="1600" dirty="0">
                  <a:solidFill>
                    <a:srgbClr val="222A33"/>
                  </a:solidFill>
                </a:endParaRPr>
              </a:p>
              <a:p>
                <a:pPr>
                  <a:spcAft>
                    <a:spcPts val="400"/>
                  </a:spcAft>
                </a:pPr>
                <a:r>
                  <a:rPr lang="en-US" sz="1600" dirty="0">
                    <a:solidFill>
                      <a:srgbClr val="222A33"/>
                    </a:solidFill>
                  </a:rPr>
                  <a:t>Assumptions underlying each test are not tested (non-parametric alternatives could be considered)</a:t>
                </a:r>
              </a:p>
              <a:p>
                <a:pPr>
                  <a:spcAft>
                    <a:spcPts val="400"/>
                  </a:spcAft>
                </a:pPr>
                <a:r>
                  <a:rPr lang="en-US" sz="1600" dirty="0"/>
                  <a:t>Thresholds are fixed (no user-adjustable slider) to keep the tool accessible for non-specialists</a:t>
                </a:r>
                <a:endParaRPr lang="en-US" sz="1600" i="0" dirty="0">
                  <a:solidFill>
                    <a:srgbClr val="222A33"/>
                  </a:solidFill>
                </a:endParaRPr>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200" y="1393371"/>
                <a:ext cx="10515600" cy="4909458"/>
              </a:xfrm>
              <a:blipFill>
                <a:blip r:embed="rId3"/>
                <a:stretch>
                  <a:fillRect l="-483" t="-773"/>
                </a:stretch>
              </a:blipFill>
            </p:spPr>
            <p:txBody>
              <a:bodyPr/>
              <a:lstStyle/>
              <a:p>
                <a:r>
                  <a:rPr lang="fr-FR">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006475"/>
          </a:xfrm>
        </p:spPr>
        <p:txBody>
          <a:bodyPr/>
          <a:lstStyle/>
          <a:p>
            <a:r>
              <a:rPr lang="fr-FR" dirty="0"/>
              <a:t>A</a:t>
            </a:r>
            <a:r>
              <a:rPr dirty="0"/>
              <a:t>n LLM </a:t>
            </a:r>
            <a:r>
              <a:rPr lang="fr-FR" dirty="0"/>
              <a:t>as a</a:t>
            </a:r>
            <a:r>
              <a:rPr dirty="0"/>
              <a:t> judge</a:t>
            </a:r>
          </a:p>
        </p:txBody>
      </p:sp>
      <p:sp>
        <p:nvSpPr>
          <p:cNvPr id="3" name="Content Placeholder 2"/>
          <p:cNvSpPr>
            <a:spLocks noGrp="1"/>
          </p:cNvSpPr>
          <p:nvPr>
            <p:ph idx="1"/>
          </p:nvPr>
        </p:nvSpPr>
        <p:spPr>
          <a:xfrm>
            <a:off x="838200" y="1371600"/>
            <a:ext cx="10515600" cy="5040086"/>
          </a:xfrm>
        </p:spPr>
        <p:txBody>
          <a:bodyPr wrap="square">
            <a:normAutofit/>
          </a:bodyPr>
          <a:lstStyle/>
          <a:p>
            <a:pPr>
              <a:spcAft>
                <a:spcPts val="400"/>
              </a:spcAft>
            </a:pPr>
            <a:r>
              <a:rPr lang="fr-FR" sz="1600" i="0" dirty="0">
                <a:solidFill>
                  <a:srgbClr val="222A33"/>
                </a:solidFill>
              </a:rPr>
              <a:t>A </a:t>
            </a:r>
            <a:r>
              <a:rPr lang="fr-FR" sz="1600" i="0" dirty="0" err="1">
                <a:solidFill>
                  <a:srgbClr val="222A33"/>
                </a:solidFill>
              </a:rPr>
              <a:t>statistically</a:t>
            </a:r>
            <a:r>
              <a:rPr lang="fr-FR" sz="1600" i="0" dirty="0">
                <a:solidFill>
                  <a:srgbClr val="222A33"/>
                </a:solidFill>
              </a:rPr>
              <a:t> </a:t>
            </a:r>
            <a:r>
              <a:rPr lang="fr-FR" sz="1600" i="0" dirty="0" err="1">
                <a:solidFill>
                  <a:srgbClr val="222A33"/>
                </a:solidFill>
              </a:rPr>
              <a:t>significant</a:t>
            </a:r>
            <a:r>
              <a:rPr lang="fr-FR" sz="1600" i="0" dirty="0">
                <a:solidFill>
                  <a:srgbClr val="222A33"/>
                </a:solidFill>
              </a:rPr>
              <a:t> (via the </a:t>
            </a:r>
            <a:r>
              <a:rPr lang="fr-FR" sz="1600" i="1" dirty="0">
                <a:solidFill>
                  <a:srgbClr val="222A33"/>
                </a:solidFill>
              </a:rPr>
              <a:t>p</a:t>
            </a:r>
            <a:r>
              <a:rPr lang="fr-FR" sz="1600" dirty="0">
                <a:solidFill>
                  <a:srgbClr val="222A33"/>
                </a:solidFill>
              </a:rPr>
              <a:t>-value) and </a:t>
            </a:r>
            <a:r>
              <a:rPr lang="fr-FR" sz="1600" dirty="0" err="1">
                <a:solidFill>
                  <a:srgbClr val="222A33"/>
                </a:solidFill>
              </a:rPr>
              <a:t>strong</a:t>
            </a:r>
            <a:r>
              <a:rPr lang="fr-FR" sz="1600" dirty="0">
                <a:solidFill>
                  <a:srgbClr val="222A33"/>
                </a:solidFill>
              </a:rPr>
              <a:t> (via the </a:t>
            </a:r>
            <a:r>
              <a:rPr lang="fr-FR" sz="1600" dirty="0" err="1">
                <a:solidFill>
                  <a:srgbClr val="222A33"/>
                </a:solidFill>
              </a:rPr>
              <a:t>strength</a:t>
            </a:r>
            <a:r>
              <a:rPr lang="fr-FR" sz="1600" dirty="0">
                <a:solidFill>
                  <a:srgbClr val="222A33"/>
                </a:solidFill>
              </a:rPr>
              <a:t>) association </a:t>
            </a:r>
            <a:r>
              <a:rPr lang="fr-FR" sz="1600" dirty="0" err="1">
                <a:solidFill>
                  <a:srgbClr val="222A33"/>
                </a:solidFill>
              </a:rPr>
              <a:t>is</a:t>
            </a:r>
            <a:r>
              <a:rPr lang="fr-FR" sz="1600" dirty="0">
                <a:solidFill>
                  <a:srgbClr val="222A33"/>
                </a:solidFill>
              </a:rPr>
              <a:t> </a:t>
            </a:r>
            <a:r>
              <a:rPr lang="fr-FR" sz="1600" b="1" dirty="0">
                <a:solidFill>
                  <a:srgbClr val="222A33"/>
                </a:solidFill>
              </a:rPr>
              <a:t>not </a:t>
            </a:r>
            <a:r>
              <a:rPr lang="fr-FR" sz="1600" b="1" dirty="0" err="1">
                <a:solidFill>
                  <a:srgbClr val="222A33"/>
                </a:solidFill>
              </a:rPr>
              <a:t>always</a:t>
            </a:r>
            <a:r>
              <a:rPr lang="fr-FR" sz="1600" b="1" dirty="0">
                <a:solidFill>
                  <a:srgbClr val="222A33"/>
                </a:solidFill>
              </a:rPr>
              <a:t> an </a:t>
            </a:r>
            <a:r>
              <a:rPr lang="fr-FR" sz="1600" b="1" i="0" dirty="0" err="1">
                <a:solidFill>
                  <a:srgbClr val="222A33"/>
                </a:solidFill>
              </a:rPr>
              <a:t>interesting</a:t>
            </a:r>
            <a:r>
              <a:rPr lang="fr-FR" sz="1600" b="1" i="0" dirty="0">
                <a:solidFill>
                  <a:srgbClr val="222A33"/>
                </a:solidFill>
              </a:rPr>
              <a:t> association, </a:t>
            </a:r>
            <a:r>
              <a:rPr sz="1600" b="0" i="0" dirty="0">
                <a:solidFill>
                  <a:srgbClr val="222A33"/>
                </a:solidFill>
              </a:rPr>
              <a:t>if it is expected (</a:t>
            </a:r>
            <a:r>
              <a:rPr lang="fr-FR" sz="1600" b="0" i="0" dirty="0">
                <a:solidFill>
                  <a:srgbClr val="222A33"/>
                </a:solidFill>
              </a:rPr>
              <a:t>e.</a:t>
            </a:r>
            <a:r>
              <a:rPr lang="fr-FR" sz="1600" dirty="0">
                <a:solidFill>
                  <a:srgbClr val="222A33"/>
                </a:solidFill>
              </a:rPr>
              <a:t>g., </a:t>
            </a:r>
            <a:r>
              <a:rPr sz="1600" b="0" i="0" dirty="0">
                <a:solidFill>
                  <a:srgbClr val="222A33"/>
                </a:solidFill>
              </a:rPr>
              <a:t>age and retirement</a:t>
            </a:r>
            <a:r>
              <a:rPr lang="fr-FR" sz="1600" b="0" i="0" dirty="0">
                <a:solidFill>
                  <a:srgbClr val="222A33"/>
                </a:solidFill>
              </a:rPr>
              <a:t>,</a:t>
            </a:r>
            <a:r>
              <a:rPr sz="1600" b="0" i="0" dirty="0">
                <a:solidFill>
                  <a:srgbClr val="222A33"/>
                </a:solidFill>
              </a:rPr>
              <a:t> education and salary)</a:t>
            </a:r>
            <a:endParaRPr lang="fr-FR" sz="1600" b="0" i="0" dirty="0">
              <a:solidFill>
                <a:srgbClr val="222A33"/>
              </a:solidFill>
            </a:endParaRPr>
          </a:p>
          <a:p>
            <a:pPr>
              <a:spcAft>
                <a:spcPts val="400"/>
              </a:spcAft>
            </a:pPr>
            <a:r>
              <a:rPr lang="en-US" sz="1600" dirty="0">
                <a:solidFill>
                  <a:srgbClr val="222A33"/>
                </a:solidFill>
              </a:rPr>
              <a:t>So we add another perspective: </a:t>
            </a:r>
            <a:r>
              <a:rPr lang="en-US" sz="1600" b="1" dirty="0">
                <a:solidFill>
                  <a:srgbClr val="222A33"/>
                </a:solidFill>
              </a:rPr>
              <a:t>surprise</a:t>
            </a:r>
            <a:endParaRPr sz="1600" b="1" i="0" dirty="0">
              <a:solidFill>
                <a:srgbClr val="222A33"/>
              </a:solidFill>
            </a:endParaRPr>
          </a:p>
          <a:p>
            <a:pPr lvl="1">
              <a:spcAft>
                <a:spcPts val="400"/>
              </a:spcAft>
            </a:pPr>
            <a:r>
              <a:rPr lang="en-US" sz="1400" dirty="0">
                <a:solidFill>
                  <a:srgbClr val="222A33"/>
                </a:solidFill>
              </a:rPr>
              <a:t>An LLM (</a:t>
            </a:r>
            <a:r>
              <a:rPr lang="en-US" sz="1400" dirty="0"/>
              <a:t>mistral-medium-latest, via Mistral API</a:t>
            </a:r>
            <a:r>
              <a:rPr lang="en-US" sz="1400" dirty="0">
                <a:solidFill>
                  <a:srgbClr val="222A33"/>
                </a:solidFill>
              </a:rPr>
              <a:t>)</a:t>
            </a:r>
            <a:r>
              <a:rPr lang="en-US" sz="1400" dirty="0"/>
              <a:t> receives the two variable descriptions and association type (but not the statistical strength nor the data to avoid being biased); it reasons before scoring (better performance), then assigns two sub-scores:</a:t>
            </a:r>
          </a:p>
          <a:p>
            <a:pPr lvl="2">
              <a:spcAft>
                <a:spcPts val="400"/>
              </a:spcAft>
              <a:buFont typeface="+mj-lt"/>
              <a:buAutoNum type="arabicPeriod"/>
            </a:pPr>
            <a:r>
              <a:rPr lang="en-US" sz="1200" dirty="0"/>
              <a:t>How documented is this association in the scientific literature? (0 = well established, 1 = rarely studied)</a:t>
            </a:r>
          </a:p>
          <a:p>
            <a:pPr lvl="2">
              <a:spcAft>
                <a:spcPts val="400"/>
              </a:spcAft>
              <a:buFont typeface="+mj-lt"/>
              <a:buAutoNum type="arabicPeriod"/>
            </a:pPr>
            <a:r>
              <a:rPr lang="en-US" sz="1200" dirty="0"/>
              <a:t>How theoretically plausible is it? (0 = fully expected, 1 = surprising)</a:t>
            </a:r>
          </a:p>
          <a:p>
            <a:pPr lvl="1">
              <a:spcAft>
                <a:spcPts val="400"/>
              </a:spcAft>
            </a:pPr>
            <a:r>
              <a:rPr lang="en-US" sz="1400" dirty="0"/>
              <a:t>The semantic surprise score is the average of the two</a:t>
            </a:r>
            <a:endParaRPr sz="1200" b="0" i="0" dirty="0">
              <a:solidFill>
                <a:srgbClr val="222A33"/>
              </a:solidFill>
            </a:endParaRPr>
          </a:p>
          <a:p>
            <a:pPr>
              <a:spcAft>
                <a:spcPts val="400"/>
              </a:spcAft>
            </a:pPr>
            <a:r>
              <a:rPr lang="fr-FR" sz="1600" i="0" dirty="0" err="1">
                <a:solidFill>
                  <a:srgbClr val="222A33"/>
                </a:solidFill>
              </a:rPr>
              <a:t>Finally</a:t>
            </a:r>
            <a:r>
              <a:rPr lang="fr-FR" sz="1600" i="0" dirty="0">
                <a:solidFill>
                  <a:srgbClr val="222A33"/>
                </a:solidFill>
              </a:rPr>
              <a:t>, </a:t>
            </a:r>
            <a:r>
              <a:rPr lang="fr-FR" sz="1600" b="1" dirty="0">
                <a:solidFill>
                  <a:srgbClr val="222A33"/>
                </a:solidFill>
              </a:rPr>
              <a:t>j</a:t>
            </a:r>
            <a:r>
              <a:rPr sz="1600" b="1" i="0" dirty="0" err="1">
                <a:solidFill>
                  <a:srgbClr val="222A33"/>
                </a:solidFill>
              </a:rPr>
              <a:t>ournalistic</a:t>
            </a:r>
            <a:r>
              <a:rPr sz="1600" b="1" i="0" dirty="0">
                <a:solidFill>
                  <a:srgbClr val="222A33"/>
                </a:solidFill>
              </a:rPr>
              <a:t> interest = </a:t>
            </a:r>
            <a:r>
              <a:rPr lang="fr-FR" sz="1600" b="1" i="0" dirty="0">
                <a:solidFill>
                  <a:srgbClr val="222A33"/>
                </a:solidFill>
              </a:rPr>
              <a:t>(</a:t>
            </a:r>
            <a:r>
              <a:rPr lang="fr-FR" sz="1600" b="1" i="0" dirty="0" err="1">
                <a:solidFill>
                  <a:srgbClr val="222A33"/>
                </a:solidFill>
              </a:rPr>
              <a:t>semantic</a:t>
            </a:r>
            <a:r>
              <a:rPr lang="fr-FR" sz="1600" b="1" i="0" dirty="0">
                <a:solidFill>
                  <a:srgbClr val="222A33"/>
                </a:solidFill>
              </a:rPr>
              <a:t>) </a:t>
            </a:r>
            <a:r>
              <a:rPr sz="1600" b="1" i="0" dirty="0">
                <a:solidFill>
                  <a:srgbClr val="222A33"/>
                </a:solidFill>
              </a:rPr>
              <a:t>surprise × </a:t>
            </a:r>
            <a:r>
              <a:rPr lang="fr-FR" sz="1600" b="1" i="0" dirty="0">
                <a:solidFill>
                  <a:srgbClr val="222A33"/>
                </a:solidFill>
              </a:rPr>
              <a:t>(</a:t>
            </a:r>
            <a:r>
              <a:rPr lang="fr-FR" sz="1600" b="1" i="0" dirty="0" err="1">
                <a:solidFill>
                  <a:srgbClr val="222A33"/>
                </a:solidFill>
              </a:rPr>
              <a:t>statistical</a:t>
            </a:r>
            <a:r>
              <a:rPr lang="fr-FR" sz="1600" b="1" dirty="0">
                <a:solidFill>
                  <a:srgbClr val="222A33"/>
                </a:solidFill>
              </a:rPr>
              <a:t>) </a:t>
            </a:r>
            <a:r>
              <a:rPr sz="1600" b="1" i="0" dirty="0">
                <a:solidFill>
                  <a:srgbClr val="222A33"/>
                </a:solidFill>
              </a:rPr>
              <a:t>reliability</a:t>
            </a:r>
            <a:r>
              <a:rPr sz="1600" b="0" i="0" dirty="0">
                <a:solidFill>
                  <a:srgbClr val="222A33"/>
                </a:solidFill>
              </a:rPr>
              <a:t>, with reliability = −log₁₀(p) / (−log₁₀(p) + 3)</a:t>
            </a:r>
            <a:r>
              <a:rPr lang="fr-FR" sz="1600" b="0" i="0" dirty="0">
                <a:solidFill>
                  <a:srgbClr val="222A33"/>
                </a:solidFill>
              </a:rPr>
              <a:t> (</a:t>
            </a:r>
            <a:r>
              <a:rPr lang="en-US" sz="1600" dirty="0"/>
              <a:t>grows without saturating, so it still separates very small </a:t>
            </a:r>
            <a:r>
              <a:rPr lang="en-US" sz="1600" i="1" dirty="0"/>
              <a:t>p</a:t>
            </a:r>
            <a:r>
              <a:rPr lang="en-US" sz="1600" dirty="0"/>
              <a:t>-values</a:t>
            </a:r>
            <a:r>
              <a:rPr lang="fr-FR" sz="1600" b="0" i="0" dirty="0">
                <a:solidFill>
                  <a:srgbClr val="222A33"/>
                </a:solidFill>
              </a:rPr>
              <a:t>)</a:t>
            </a:r>
          </a:p>
          <a:p>
            <a:pPr lvl="1">
              <a:spcAft>
                <a:spcPts val="400"/>
              </a:spcAft>
            </a:pPr>
            <a:r>
              <a:rPr lang="fr-FR" sz="1200" b="0" i="0" dirty="0">
                <a:solidFill>
                  <a:srgbClr val="222A33"/>
                </a:solidFill>
              </a:rPr>
              <a:t>The </a:t>
            </a:r>
            <a:r>
              <a:rPr lang="fr-FR" sz="1200" b="0" i="0" dirty="0" err="1">
                <a:solidFill>
                  <a:srgbClr val="222A33"/>
                </a:solidFill>
              </a:rPr>
              <a:t>product</a:t>
            </a:r>
            <a:r>
              <a:rPr lang="fr-FR" sz="1200" b="0" i="0" dirty="0">
                <a:solidFill>
                  <a:srgbClr val="222A33"/>
                </a:solidFill>
              </a:rPr>
              <a:t> </a:t>
            </a:r>
            <a:r>
              <a:rPr lang="fr-FR" sz="1200" b="0" i="0" dirty="0" err="1">
                <a:solidFill>
                  <a:srgbClr val="222A33"/>
                </a:solidFill>
              </a:rPr>
              <a:t>is</a:t>
            </a:r>
            <a:r>
              <a:rPr lang="fr-FR" sz="1200" b="0" i="0" dirty="0">
                <a:solidFill>
                  <a:srgbClr val="222A33"/>
                </a:solidFill>
              </a:rPr>
              <a:t> high </a:t>
            </a:r>
            <a:r>
              <a:rPr lang="fr-FR" sz="1200" b="0" i="0" dirty="0" err="1">
                <a:solidFill>
                  <a:srgbClr val="222A33"/>
                </a:solidFill>
              </a:rPr>
              <a:t>only</a:t>
            </a:r>
            <a:r>
              <a:rPr lang="fr-FR" sz="1200" b="0" i="0" dirty="0">
                <a:solidFill>
                  <a:srgbClr val="222A33"/>
                </a:solidFill>
              </a:rPr>
              <a:t> </a:t>
            </a:r>
            <a:r>
              <a:rPr lang="fr-FR" sz="1200" b="0" i="0" dirty="0" err="1">
                <a:solidFill>
                  <a:srgbClr val="222A33"/>
                </a:solidFill>
              </a:rPr>
              <a:t>when</a:t>
            </a:r>
            <a:r>
              <a:rPr lang="fr-FR" sz="1200" b="0" i="0" dirty="0">
                <a:solidFill>
                  <a:srgbClr val="222A33"/>
                </a:solidFill>
              </a:rPr>
              <a:t> a</a:t>
            </a:r>
            <a:r>
              <a:rPr lang="fr-FR" sz="1200" dirty="0">
                <a:solidFill>
                  <a:srgbClr val="222A33"/>
                </a:solidFill>
              </a:rPr>
              <a:t>n association </a:t>
            </a:r>
            <a:r>
              <a:rPr lang="fr-FR" sz="1200" dirty="0" err="1">
                <a:solidFill>
                  <a:srgbClr val="222A33"/>
                </a:solidFill>
              </a:rPr>
              <a:t>is</a:t>
            </a:r>
            <a:r>
              <a:rPr lang="fr-FR" sz="1200" dirty="0">
                <a:solidFill>
                  <a:srgbClr val="222A33"/>
                </a:solidFill>
              </a:rPr>
              <a:t> </a:t>
            </a:r>
            <a:r>
              <a:rPr lang="fr-FR" sz="1200" b="1" dirty="0" err="1">
                <a:solidFill>
                  <a:srgbClr val="222A33"/>
                </a:solidFill>
              </a:rPr>
              <a:t>both</a:t>
            </a:r>
            <a:r>
              <a:rPr lang="fr-FR" sz="1200" b="1" dirty="0">
                <a:solidFill>
                  <a:srgbClr val="222A33"/>
                </a:solidFill>
              </a:rPr>
              <a:t> </a:t>
            </a:r>
            <a:r>
              <a:rPr lang="fr-FR" sz="1200" b="1" dirty="0" err="1">
                <a:solidFill>
                  <a:srgbClr val="222A33"/>
                </a:solidFill>
              </a:rPr>
              <a:t>surprising</a:t>
            </a:r>
            <a:r>
              <a:rPr lang="fr-FR" sz="1200" b="1" dirty="0">
                <a:solidFill>
                  <a:srgbClr val="222A33"/>
                </a:solidFill>
              </a:rPr>
              <a:t> and </a:t>
            </a:r>
            <a:r>
              <a:rPr lang="fr-FR" sz="1200" b="1" dirty="0" err="1">
                <a:solidFill>
                  <a:srgbClr val="222A33"/>
                </a:solidFill>
              </a:rPr>
              <a:t>statistically</a:t>
            </a:r>
            <a:r>
              <a:rPr lang="fr-FR" sz="1200" b="1" dirty="0">
                <a:solidFill>
                  <a:srgbClr val="222A33"/>
                </a:solidFill>
              </a:rPr>
              <a:t> </a:t>
            </a:r>
            <a:r>
              <a:rPr lang="fr-FR" sz="1200" b="1" dirty="0" err="1">
                <a:solidFill>
                  <a:srgbClr val="222A33"/>
                </a:solidFill>
              </a:rPr>
              <a:t>solid</a:t>
            </a:r>
            <a:r>
              <a:rPr lang="fr-FR" sz="1200" dirty="0">
                <a:solidFill>
                  <a:srgbClr val="222A33"/>
                </a:solidFill>
              </a:rPr>
              <a:t>; the </a:t>
            </a:r>
            <a:r>
              <a:rPr lang="fr-FR" sz="1200" dirty="0" err="1">
                <a:solidFill>
                  <a:srgbClr val="222A33"/>
                </a:solidFill>
              </a:rPr>
              <a:t>ideal</a:t>
            </a:r>
            <a:r>
              <a:rPr lang="fr-FR" sz="1200" dirty="0">
                <a:solidFill>
                  <a:srgbClr val="222A33"/>
                </a:solidFill>
              </a:rPr>
              <a:t> candidate for a story</a:t>
            </a:r>
          </a:p>
          <a:p>
            <a:pPr lvl="1">
              <a:spcAft>
                <a:spcPts val="400"/>
              </a:spcAft>
            </a:pPr>
            <a:r>
              <a:rPr lang="fr-FR" sz="1200" b="0" i="0" dirty="0">
                <a:solidFill>
                  <a:srgbClr val="222A33"/>
                </a:solidFill>
              </a:rPr>
              <a:t>The LLM </a:t>
            </a:r>
            <a:r>
              <a:rPr lang="fr-FR" sz="1200" dirty="0" err="1">
                <a:solidFill>
                  <a:srgbClr val="222A33"/>
                </a:solidFill>
              </a:rPr>
              <a:t>judges</a:t>
            </a:r>
            <a:r>
              <a:rPr lang="fr-FR" sz="1200" dirty="0">
                <a:solidFill>
                  <a:srgbClr val="222A33"/>
                </a:solidFill>
              </a:rPr>
              <a:t> </a:t>
            </a:r>
            <a:r>
              <a:rPr lang="fr-FR" sz="1200" dirty="0" err="1">
                <a:solidFill>
                  <a:srgbClr val="222A33"/>
                </a:solidFill>
              </a:rPr>
              <a:t>novelty</a:t>
            </a:r>
            <a:r>
              <a:rPr lang="fr-FR" sz="1200" dirty="0">
                <a:solidFill>
                  <a:srgbClr val="222A33"/>
                </a:solidFill>
              </a:rPr>
              <a:t>, the </a:t>
            </a:r>
            <a:r>
              <a:rPr lang="fr-FR" sz="1200" dirty="0" err="1">
                <a:solidFill>
                  <a:srgbClr val="222A33"/>
                </a:solidFill>
              </a:rPr>
              <a:t>statistics</a:t>
            </a:r>
            <a:r>
              <a:rPr lang="fr-FR" sz="1200" dirty="0">
                <a:solidFill>
                  <a:srgbClr val="222A33"/>
                </a:solidFill>
              </a:rPr>
              <a:t> </a:t>
            </a:r>
            <a:r>
              <a:rPr lang="fr-FR" sz="1200" dirty="0" err="1">
                <a:solidFill>
                  <a:srgbClr val="222A33"/>
                </a:solidFill>
              </a:rPr>
              <a:t>judge</a:t>
            </a:r>
            <a:r>
              <a:rPr lang="fr-FR" sz="1200" dirty="0">
                <a:solidFill>
                  <a:srgbClr val="222A33"/>
                </a:solidFill>
              </a:rPr>
              <a:t> </a:t>
            </a:r>
            <a:r>
              <a:rPr lang="fr-FR" sz="1200" dirty="0" err="1">
                <a:solidFill>
                  <a:srgbClr val="222A33"/>
                </a:solidFill>
              </a:rPr>
              <a:t>reliability</a:t>
            </a:r>
            <a:endParaRPr lang="fr-FR" sz="1200" dirty="0">
              <a:solidFill>
                <a:srgbClr val="222A33"/>
              </a:solidFill>
            </a:endParaRPr>
          </a:p>
          <a:p>
            <a:pPr lvl="1">
              <a:spcAft>
                <a:spcPts val="400"/>
              </a:spcAft>
            </a:pPr>
            <a:endParaRPr sz="1100" b="0" i="0" dirty="0">
              <a:solidFill>
                <a:srgbClr val="222A33"/>
              </a:solidFill>
            </a:endParaRPr>
          </a:p>
          <a:p>
            <a:pPr>
              <a:spcAft>
                <a:spcPts val="400"/>
              </a:spcAft>
            </a:pPr>
            <a:r>
              <a:rPr lang="fr-FR" sz="1600" i="0" dirty="0">
                <a:solidFill>
                  <a:srgbClr val="222A33"/>
                </a:solidFill>
              </a:rPr>
              <a:t>As a bonus: </a:t>
            </a:r>
            <a:r>
              <a:rPr lang="fr-FR" sz="1600" dirty="0">
                <a:solidFill>
                  <a:srgbClr val="222A33"/>
                </a:solidFill>
              </a:rPr>
              <a:t>f</a:t>
            </a:r>
            <a:r>
              <a:rPr sz="1600" i="0" dirty="0">
                <a:solidFill>
                  <a:srgbClr val="222A33"/>
                </a:solidFill>
              </a:rPr>
              <a:t>or each pair, </a:t>
            </a:r>
            <a:r>
              <a:rPr sz="1600" b="1" i="0" dirty="0">
                <a:solidFill>
                  <a:srgbClr val="222A33"/>
                </a:solidFill>
              </a:rPr>
              <a:t>an automatic reflection lead</a:t>
            </a:r>
            <a:r>
              <a:rPr sz="1600" b="0" i="0" dirty="0">
                <a:solidFill>
                  <a:srgbClr val="222A33"/>
                </a:solidFill>
              </a:rPr>
              <a:t> proposes hypotheses to explore</a:t>
            </a:r>
            <a:r>
              <a:rPr lang="fr-FR" sz="1600" b="0" i="0" dirty="0">
                <a:solidFill>
                  <a:srgbClr val="222A33"/>
                </a:solidFill>
              </a:rPr>
              <a:t> as « </a:t>
            </a:r>
            <a:r>
              <a:rPr lang="fr-FR" sz="1600" b="0" i="0" dirty="0" err="1">
                <a:solidFill>
                  <a:srgbClr val="222A33"/>
                </a:solidFill>
              </a:rPr>
              <a:t>food</a:t>
            </a:r>
            <a:r>
              <a:rPr lang="fr-FR" sz="1600" b="0" i="0" dirty="0">
                <a:solidFill>
                  <a:srgbClr val="222A33"/>
                </a:solidFill>
              </a:rPr>
              <a:t> for </a:t>
            </a:r>
            <a:r>
              <a:rPr lang="fr-FR" sz="1600" b="0" i="0" dirty="0" err="1">
                <a:solidFill>
                  <a:srgbClr val="222A33"/>
                </a:solidFill>
              </a:rPr>
              <a:t>thoughts</a:t>
            </a:r>
            <a:r>
              <a:rPr lang="fr-FR" sz="1600" b="0" i="0" dirty="0">
                <a:solidFill>
                  <a:srgbClr val="222A33"/>
                </a:solidFill>
              </a:rPr>
              <a:t> »</a:t>
            </a:r>
            <a:r>
              <a:rPr lang="fr-FR" sz="1600" dirty="0">
                <a:solidFill>
                  <a:srgbClr val="222A33"/>
                </a:solidFill>
              </a:rPr>
              <a:t>:</a:t>
            </a:r>
          </a:p>
          <a:p>
            <a:pPr lvl="1">
              <a:spcAft>
                <a:spcPts val="400"/>
              </a:spcAft>
            </a:pPr>
            <a:r>
              <a:rPr lang="fr-FR" sz="1200" dirty="0">
                <a:solidFill>
                  <a:srgbClr val="222A33"/>
                </a:solidFill>
              </a:rPr>
              <a:t>With the </a:t>
            </a:r>
            <a:r>
              <a:rPr lang="fr-FR" sz="1200" dirty="0" err="1">
                <a:solidFill>
                  <a:srgbClr val="222A33"/>
                </a:solidFill>
              </a:rPr>
              <a:t>observed</a:t>
            </a:r>
            <a:r>
              <a:rPr lang="fr-FR" sz="1200" dirty="0">
                <a:solidFill>
                  <a:srgbClr val="222A33"/>
                </a:solidFill>
              </a:rPr>
              <a:t> data (</a:t>
            </a:r>
            <a:r>
              <a:rPr lang="fr-FR" sz="1200" dirty="0" err="1">
                <a:solidFill>
                  <a:srgbClr val="222A33"/>
                </a:solidFill>
              </a:rPr>
              <a:t>correlation</a:t>
            </a:r>
            <a:r>
              <a:rPr lang="fr-FR" sz="1200" dirty="0">
                <a:solidFill>
                  <a:srgbClr val="222A33"/>
                </a:solidFill>
              </a:rPr>
              <a:t>, </a:t>
            </a:r>
            <a:r>
              <a:rPr lang="fr-FR" sz="1200" dirty="0" err="1">
                <a:solidFill>
                  <a:srgbClr val="222A33"/>
                </a:solidFill>
              </a:rPr>
              <a:t>mean</a:t>
            </a:r>
            <a:r>
              <a:rPr lang="fr-FR" sz="1200" dirty="0">
                <a:solidFill>
                  <a:srgbClr val="222A33"/>
                </a:solidFill>
              </a:rPr>
              <a:t> by group, association </a:t>
            </a:r>
            <a:r>
              <a:rPr lang="fr-FR" sz="1200" dirty="0" err="1">
                <a:solidFill>
                  <a:srgbClr val="222A33"/>
                </a:solidFill>
              </a:rPr>
              <a:t>strength</a:t>
            </a:r>
            <a:r>
              <a:rPr lang="fr-FR" sz="1200" dirty="0">
                <a:solidFill>
                  <a:srgbClr val="222A33"/>
                </a:solidFill>
              </a:rPr>
              <a:t>, etc.)</a:t>
            </a:r>
          </a:p>
          <a:p>
            <a:pPr lvl="1">
              <a:spcAft>
                <a:spcPts val="400"/>
              </a:spcAft>
            </a:pPr>
            <a:r>
              <a:rPr lang="fr-FR" sz="1200" b="0" i="0" dirty="0">
                <a:solidFill>
                  <a:srgbClr val="222A33"/>
                </a:solidFill>
              </a:rPr>
              <a:t>But </a:t>
            </a:r>
            <a:r>
              <a:rPr sz="1200" b="0" i="0" dirty="0">
                <a:solidFill>
                  <a:srgbClr val="222A33"/>
                </a:solidFill>
              </a:rPr>
              <a:t>without concluding or claiming causality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Seeing the structure</a:t>
            </a:r>
          </a:p>
        </p:txBody>
      </p:sp>
      <p:sp>
        <p:nvSpPr>
          <p:cNvPr id="3" name="TextBox 2"/>
          <p:cNvSpPr txBox="1"/>
          <p:nvPr/>
        </p:nvSpPr>
        <p:spPr>
          <a:xfrm>
            <a:off x="838200" y="1828800"/>
            <a:ext cx="5654040" cy="1708160"/>
          </a:xfrm>
          <a:prstGeom prst="rect">
            <a:avLst/>
          </a:prstGeom>
          <a:noFill/>
        </p:spPr>
        <p:txBody>
          <a:bodyPr wrap="square" anchor="t">
            <a:spAutoFit/>
          </a:bodyPr>
          <a:lstStyle/>
          <a:p>
            <a:pPr marL="285750" indent="-285750">
              <a:spcAft>
                <a:spcPts val="900"/>
              </a:spcAft>
              <a:buFont typeface="Arial" panose="020B0604020202020204" pitchFamily="34" charset="0"/>
              <a:buChar char="•"/>
            </a:pPr>
            <a:r>
              <a:rPr lang="en-US" sz="1500" b="1" i="0" noProof="0" dirty="0">
                <a:solidFill>
                  <a:srgbClr val="222A33"/>
                </a:solidFill>
              </a:rPr>
              <a:t>An association network: </a:t>
            </a:r>
            <a:r>
              <a:rPr lang="en-US" sz="1500" b="0" i="0" noProof="0" dirty="0">
                <a:solidFill>
                  <a:srgbClr val="222A33"/>
                </a:solidFill>
              </a:rPr>
              <a:t>nodes are variables, edges are associations; closer nodes mean stronger links</a:t>
            </a:r>
          </a:p>
          <a:p>
            <a:pPr marL="285750" indent="-285750">
              <a:spcAft>
                <a:spcPts val="900"/>
              </a:spcAft>
              <a:buFont typeface="Arial" panose="020B0604020202020204" pitchFamily="34" charset="0"/>
              <a:buChar char="•"/>
            </a:pPr>
            <a:r>
              <a:rPr lang="en-US" sz="1500" b="1" i="0" noProof="0" dirty="0">
                <a:solidFill>
                  <a:srgbClr val="222A33"/>
                </a:solidFill>
              </a:rPr>
              <a:t>Click an edge for a bivariate view: </a:t>
            </a:r>
            <a:r>
              <a:rPr lang="en-US" sz="1500" b="0" i="0" noProof="0" dirty="0">
                <a:solidFill>
                  <a:srgbClr val="222A33"/>
                </a:solidFill>
              </a:rPr>
              <a:t>scatterplot with an OLS line (num vs num), mean plots (num vs cat), </a:t>
            </a:r>
            <a:r>
              <a:rPr lang="en-US" sz="1500" b="0" i="0" noProof="0" dirty="0" err="1">
                <a:solidFill>
                  <a:srgbClr val="222A33"/>
                </a:solidFill>
              </a:rPr>
              <a:t>coloured</a:t>
            </a:r>
            <a:r>
              <a:rPr lang="en-US" sz="1500" b="0" i="0" noProof="0" dirty="0">
                <a:solidFill>
                  <a:srgbClr val="222A33"/>
                </a:solidFill>
              </a:rPr>
              <a:t> contingency tables (cat vs cat)</a:t>
            </a:r>
          </a:p>
          <a:p>
            <a:pPr marL="285750" indent="-285750">
              <a:spcAft>
                <a:spcPts val="400"/>
              </a:spcAft>
              <a:buFont typeface="Arial" panose="020B0604020202020204" pitchFamily="34" charset="0"/>
              <a:buChar char="•"/>
            </a:pPr>
            <a:r>
              <a:rPr lang="en-US" sz="1500" b="1" i="0" noProof="0" dirty="0">
                <a:solidFill>
                  <a:srgbClr val="222A33"/>
                </a:solidFill>
              </a:rPr>
              <a:t>Edge opacity </a:t>
            </a:r>
            <a:r>
              <a:rPr lang="en-US" sz="1500" i="0" noProof="0" dirty="0">
                <a:solidFill>
                  <a:srgbClr val="222A33"/>
                </a:solidFill>
              </a:rPr>
              <a:t>proportional to journalistic interest</a:t>
            </a:r>
          </a:p>
        </p:txBody>
      </p:sp>
      <p:sp>
        <p:nvSpPr>
          <p:cNvPr id="4" name="Rectangle 3"/>
          <p:cNvSpPr/>
          <p:nvPr/>
        </p:nvSpPr>
        <p:spPr>
          <a:xfrm>
            <a:off x="6812280" y="1828800"/>
            <a:ext cx="4754880" cy="3703320"/>
          </a:xfrm>
          <a:prstGeom prst="rect">
            <a:avLst/>
          </a:prstGeom>
          <a:solidFill>
            <a:srgbClr val="F2F2F2"/>
          </a:solidFill>
          <a:ln w="19050">
            <a:solidFill>
              <a:srgbClr val="B8C0C8"/>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i="1">
                <a:solidFill>
                  <a:srgbClr val="6B7280"/>
                </a:solidFill>
              </a:rPr>
              <a:t>Screenshot placeholder
Association network
(insert your capture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dirty="0"/>
              <a:t>Tool 3: Partial Association Explorer</a:t>
            </a:r>
            <a:br>
              <a:rPr lang="fr-FR" dirty="0"/>
            </a:br>
            <a:r>
              <a:rPr dirty="0"/>
              <a:t>Strong and surprising, but is it real?</a:t>
            </a:r>
          </a:p>
        </p:txBody>
      </p:sp>
      <p:sp>
        <p:nvSpPr>
          <p:cNvPr id="3" name="Content Placeholder 2"/>
          <p:cNvSpPr>
            <a:spLocks noGrp="1"/>
          </p:cNvSpPr>
          <p:nvPr>
            <p:ph idx="1"/>
          </p:nvPr>
        </p:nvSpPr>
        <p:spPr/>
        <p:txBody>
          <a:bodyPr wrap="square"/>
          <a:lstStyle/>
          <a:p>
            <a:pPr>
              <a:spcAft>
                <a:spcPts val="1000"/>
              </a:spcAft>
              <a:buNone/>
            </a:pPr>
            <a:r>
              <a:rPr lang="fr-FR" sz="1200" i="1" dirty="0">
                <a:solidFill>
                  <a:srgbClr val="6B7280"/>
                </a:solidFill>
              </a:rPr>
              <a:t>Collaboration </a:t>
            </a:r>
            <a:r>
              <a:rPr lang="fr-FR" sz="1200" i="1" dirty="0" err="1">
                <a:solidFill>
                  <a:srgbClr val="6B7280"/>
                </a:solidFill>
              </a:rPr>
              <a:t>with</a:t>
            </a:r>
            <a:r>
              <a:rPr lang="fr-FR" sz="1200" i="1" dirty="0">
                <a:solidFill>
                  <a:srgbClr val="6B7280"/>
                </a:solidFill>
              </a:rPr>
              <a:t> Thaddée D’</a:t>
            </a:r>
            <a:r>
              <a:rPr lang="fr-FR" sz="1200" i="1" dirty="0" err="1">
                <a:solidFill>
                  <a:srgbClr val="6B7280"/>
                </a:solidFill>
              </a:rPr>
              <a:t>haegeleer</a:t>
            </a:r>
            <a:endParaRPr sz="1200" b="0" i="1" dirty="0">
              <a:solidFill>
                <a:srgbClr val="6B7280"/>
              </a:solidFill>
            </a:endParaRPr>
          </a:p>
          <a:p>
            <a:pPr>
              <a:spcAft>
                <a:spcPts val="400"/>
              </a:spcAft>
            </a:pPr>
            <a:r>
              <a:rPr sz="1600" b="1" i="0" dirty="0">
                <a:solidFill>
                  <a:srgbClr val="222A33"/>
                </a:solidFill>
              </a:rPr>
              <a:t>A strong, significant association can still be an artefact.</a:t>
            </a:r>
          </a:p>
          <a:p>
            <a:pPr>
              <a:spcAft>
                <a:spcPts val="400"/>
              </a:spcAft>
            </a:pPr>
            <a:r>
              <a:rPr sz="1600" b="1" i="0" dirty="0">
                <a:solidFill>
                  <a:srgbClr val="222A33"/>
                </a:solidFill>
              </a:rPr>
              <a:t>Confounder: </a:t>
            </a:r>
            <a:r>
              <a:rPr sz="1600" b="0" i="0" dirty="0">
                <a:solidFill>
                  <a:srgbClr val="222A33"/>
                </a:solidFill>
              </a:rPr>
              <a:t>a third variable that influences both, for example age, education or region.</a:t>
            </a:r>
          </a:p>
          <a:p>
            <a:pPr>
              <a:spcAft>
                <a:spcPts val="400"/>
              </a:spcAft>
            </a:pPr>
            <a:r>
              <a:rPr sz="1600" b="1" i="0" dirty="0">
                <a:solidFill>
                  <a:srgbClr val="222A33"/>
                </a:solidFill>
              </a:rPr>
              <a:t>Example: </a:t>
            </a:r>
            <a:r>
              <a:rPr sz="1600" b="0" i="0" dirty="0">
                <a:solidFill>
                  <a:srgbClr val="222A33"/>
                </a:solidFill>
              </a:rPr>
              <a:t>a link between two income variables may simply reflect education or age.</a:t>
            </a:r>
          </a:p>
          <a:p>
            <a:pPr>
              <a:spcAft>
                <a:spcPts val="400"/>
              </a:spcAft>
            </a:pPr>
            <a:r>
              <a:rPr sz="1600" b="1" i="0" dirty="0">
                <a:solidFill>
                  <a:srgbClr val="222A33"/>
                </a:solidFill>
              </a:rPr>
              <a:t>A marginal association says nothing causal</a:t>
            </a:r>
            <a:r>
              <a:rPr sz="1600" b="0" i="0" dirty="0">
                <a:solidFill>
                  <a:srgbClr val="222A33"/>
                </a:solidFill>
              </a:rPr>
              <a:t>, so we add a more careful screening step.</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idea: adjust for chosen controls</a:t>
            </a:r>
          </a:p>
        </p:txBody>
      </p:sp>
      <p:sp>
        <p:nvSpPr>
          <p:cNvPr id="3" name="Content Placeholder 2"/>
          <p:cNvSpPr>
            <a:spLocks noGrp="1"/>
          </p:cNvSpPr>
          <p:nvPr>
            <p:ph idx="1"/>
          </p:nvPr>
        </p:nvSpPr>
        <p:spPr/>
        <p:txBody>
          <a:bodyPr wrap="square"/>
          <a:lstStyle/>
          <a:p>
            <a:pPr>
              <a:spcAft>
                <a:spcPts val="400"/>
              </a:spcAft>
            </a:pPr>
            <a:r>
              <a:rPr sz="1600" b="1" i="0">
                <a:solidFill>
                  <a:srgbClr val="222A33"/>
                </a:solidFill>
              </a:rPr>
              <a:t>Pick control variables Z</a:t>
            </a:r>
            <a:r>
              <a:rPr sz="1600" b="0" i="0">
                <a:solidFill>
                  <a:srgbClr val="222A33"/>
                </a:solidFill>
              </a:rPr>
              <a:t>, then recompute each association between X and Y after adjusting for Z.</a:t>
            </a:r>
          </a:p>
          <a:p>
            <a:pPr>
              <a:spcAft>
                <a:spcPts val="400"/>
              </a:spcAft>
            </a:pPr>
            <a:r>
              <a:rPr sz="1600" b="1" i="0">
                <a:solidFill>
                  <a:srgbClr val="222A33"/>
                </a:solidFill>
              </a:rPr>
              <a:t>Partial association: </a:t>
            </a:r>
            <a:r>
              <a:rPr sz="1600" b="0" i="0">
                <a:solidFill>
                  <a:srgbClr val="222A33"/>
                </a:solidFill>
              </a:rPr>
              <a:t>the link that remains once the effect of the controls is removed, by residualising on Z.</a:t>
            </a:r>
          </a:p>
          <a:p>
            <a:pPr>
              <a:spcAft>
                <a:spcPts val="400"/>
              </a:spcAft>
            </a:pPr>
            <a:r>
              <a:rPr sz="1600" b="0" i="0">
                <a:solidFill>
                  <a:srgbClr val="222A33"/>
                </a:solidFill>
              </a:rPr>
              <a:t>This separates </a:t>
            </a:r>
            <a:r>
              <a:rPr sz="1600" b="1" i="0">
                <a:solidFill>
                  <a:srgbClr val="222A33"/>
                </a:solidFill>
              </a:rPr>
              <a:t>links that hold up from those that were really driven by a confounder.</a:t>
            </a:r>
          </a:p>
          <a:p>
            <a:pPr>
              <a:spcAft>
                <a:spcPts val="400"/>
              </a:spcAft>
            </a:pPr>
            <a:r>
              <a:rPr sz="1600" b="1" i="0">
                <a:solidFill>
                  <a:srgbClr val="222A33"/>
                </a:solidFill>
              </a:rPr>
              <a:t>Same workflow, with and without controls</a:t>
            </a:r>
            <a:r>
              <a:rPr sz="1600" b="0" i="0">
                <a:solidFill>
                  <a:srgbClr val="222A33"/>
                </a:solidFill>
              </a:rPr>
              <a:t>, so the two can be compared directly.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One idea, three data types</a:t>
            </a:r>
          </a:p>
        </p:txBody>
      </p:sp>
      <p:sp>
        <p:nvSpPr>
          <p:cNvPr id="3" name="Content Placeholder 2"/>
          <p:cNvSpPr>
            <a:spLocks noGrp="1"/>
          </p:cNvSpPr>
          <p:nvPr>
            <p:ph idx="1"/>
          </p:nvPr>
        </p:nvSpPr>
        <p:spPr/>
        <p:txBody>
          <a:bodyPr wrap="square"/>
          <a:lstStyle/>
          <a:p>
            <a:pPr>
              <a:spcAft>
                <a:spcPts val="400"/>
              </a:spcAft>
            </a:pPr>
            <a:r>
              <a:rPr sz="1500" b="1" i="0">
                <a:solidFill>
                  <a:srgbClr val="222A33"/>
                </a:solidFill>
              </a:rPr>
              <a:t>Numeric vs numeric: </a:t>
            </a:r>
            <a:r>
              <a:rPr sz="1500" b="0" i="0">
                <a:solidFill>
                  <a:srgbClr val="222A33"/>
                </a:solidFill>
              </a:rPr>
              <a:t>partial correlation r(XY·Z), the correlation of residuals from X on Z and Y on Z; t-test on n−q−2 degrees of freedom; strength = r².</a:t>
            </a:r>
          </a:p>
          <a:p>
            <a:pPr>
              <a:spcAft>
                <a:spcPts val="400"/>
              </a:spcAft>
            </a:pPr>
            <a:r>
              <a:rPr sz="1500" b="1" i="0">
                <a:solidFill>
                  <a:srgbClr val="222A33"/>
                </a:solidFill>
              </a:rPr>
              <a:t>Numeric vs categorical: </a:t>
            </a:r>
            <a:r>
              <a:rPr sz="1500" b="0" i="0">
                <a:solidFill>
                  <a:srgbClr val="222A33"/>
                </a:solidFill>
              </a:rPr>
              <a:t>partial η² by ANCOVA, comparing the reduced model Y on Z with the full model Y on X plus Z (extra sum of squares); global F-test.</a:t>
            </a:r>
          </a:p>
          <a:p>
            <a:pPr>
              <a:spcAft>
                <a:spcPts val="400"/>
              </a:spcAft>
            </a:pPr>
            <a:r>
              <a:rPr sz="1500" b="1" i="0">
                <a:solidFill>
                  <a:srgbClr val="222A33"/>
                </a:solidFill>
              </a:rPr>
              <a:t>Categorical vs categorical: </a:t>
            </a:r>
            <a:r>
              <a:rPr sz="1500" b="0" i="0">
                <a:solidFill>
                  <a:srgbClr val="222A33"/>
                </a:solidFill>
              </a:rPr>
              <a:t>a likelihood-ratio measure V_L = √(1 − exp(−G²/n)) with G² = 2(ℓ₁ − ℓ₀); conditional V_L|Z fits a structured multinomial-logit model, so controls may be continuous or categorical.</a:t>
            </a:r>
          </a:p>
          <a:p>
            <a:pPr>
              <a:spcAft>
                <a:spcPts val="400"/>
              </a:spcAft>
            </a:pPr>
            <a:r>
              <a:rPr sz="1500" b="1" i="0">
                <a:solidFill>
                  <a:srgbClr val="222A33"/>
                </a:solidFill>
              </a:rPr>
              <a:t>Filtering: </a:t>
            </a:r>
            <a:r>
              <a:rPr sz="1500" b="0" i="0">
                <a:solidFill>
                  <a:srgbClr val="222A33"/>
                </a:solidFill>
              </a:rPr>
              <a:t>on effect size and on the p-value, in both the marginal and the conditional case.</a:t>
            </a:r>
          </a:p>
          <a:p>
            <a:pPr>
              <a:spcBef>
                <a:spcPts val="400"/>
              </a:spcBef>
              <a:spcAft>
                <a:spcPts val="400"/>
              </a:spcAft>
              <a:buNone/>
            </a:pPr>
            <a:r>
              <a:rPr sz="1250" b="0" i="1">
                <a:solidFill>
                  <a:srgbClr val="6B7280"/>
                </a:solidFill>
              </a:rPr>
              <a:t>Marginal measures become conditional ones by adjusting for Z. Full formulas in the appendix.</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Networks before and after adjustment</a:t>
            </a:r>
          </a:p>
        </p:txBody>
      </p:sp>
      <p:pic>
        <p:nvPicPr>
          <p:cNvPr id="3" name="Picture 2" descr="fig_networks.png"/>
          <p:cNvPicPr>
            <a:picLocks noChangeAspect="1"/>
          </p:cNvPicPr>
          <p:nvPr/>
        </p:nvPicPr>
        <p:blipFill>
          <a:blip r:embed="rId3"/>
          <a:stretch>
            <a:fillRect/>
          </a:stretch>
        </p:blipFill>
        <p:spPr>
          <a:xfrm>
            <a:off x="502920" y="1783080"/>
            <a:ext cx="6400800" cy="3074434"/>
          </a:xfrm>
          <a:prstGeom prst="rect">
            <a:avLst/>
          </a:prstGeom>
        </p:spPr>
      </p:pic>
      <p:sp>
        <p:nvSpPr>
          <p:cNvPr id="4" name="Rectangle 3"/>
          <p:cNvSpPr/>
          <p:nvPr/>
        </p:nvSpPr>
        <p:spPr>
          <a:xfrm>
            <a:off x="7086600" y="1874519"/>
            <a:ext cx="4526280" cy="2697480"/>
          </a:xfrm>
          <a:prstGeom prst="rect">
            <a:avLst/>
          </a:prstGeom>
          <a:solidFill>
            <a:srgbClr val="F2F2F2"/>
          </a:solidFill>
          <a:ln w="19050">
            <a:solidFill>
              <a:srgbClr val="B8C0C8"/>
            </a:solidFill>
            <a:prstDash val="dash"/>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300" i="1">
                <a:solidFill>
                  <a:srgbClr val="6B7280"/>
                </a:solidFill>
              </a:rPr>
              <a:t>Screenshot placeholder
App: marginal vs conditional
(insert your capture here)</a:t>
            </a:r>
          </a:p>
        </p:txBody>
      </p:sp>
      <p:sp>
        <p:nvSpPr>
          <p:cNvPr id="5" name="TextBox 4"/>
          <p:cNvSpPr txBox="1"/>
          <p:nvPr/>
        </p:nvSpPr>
        <p:spPr>
          <a:xfrm>
            <a:off x="7086600" y="4709160"/>
            <a:ext cx="4526280" cy="457200"/>
          </a:xfrm>
          <a:prstGeom prst="rect">
            <a:avLst/>
          </a:prstGeom>
          <a:noFill/>
        </p:spPr>
        <p:txBody>
          <a:bodyPr wrap="square">
            <a:spAutoFit/>
          </a:bodyPr>
          <a:lstStyle/>
          <a:p>
            <a:pPr algn="l"/>
            <a:r>
              <a:rPr sz="1250" b="0" i="1">
                <a:solidFill>
                  <a:srgbClr val="222A33"/>
                </a:solidFill>
              </a:rPr>
              <a:t>The visual question: which edges persist, which fade?</a:t>
            </a:r>
          </a:p>
        </p:txBody>
      </p:sp>
      <p:sp>
        <p:nvSpPr>
          <p:cNvPr id="6" name="TextBox 5"/>
          <p:cNvSpPr txBox="1"/>
          <p:nvPr/>
        </p:nvSpPr>
        <p:spPr>
          <a:xfrm>
            <a:off x="502920" y="4846320"/>
            <a:ext cx="6400800" cy="1188720"/>
          </a:xfrm>
          <a:prstGeom prst="rect">
            <a:avLst/>
          </a:prstGeom>
          <a:noFill/>
        </p:spPr>
        <p:txBody>
          <a:bodyPr wrap="square" anchor="t">
            <a:spAutoFit/>
          </a:bodyPr>
          <a:lstStyle/>
          <a:p>
            <a:pPr>
              <a:spcAft>
                <a:spcPts val="400"/>
              </a:spcAft>
              <a:buNone/>
            </a:pPr>
            <a:r>
              <a:rPr sz="1300" b="1" i="0">
                <a:solidFill>
                  <a:srgbClr val="222A33"/>
                </a:solidFill>
              </a:rPr>
              <a:t>Not causal inference</a:t>
            </a:r>
            <a:r>
              <a:rPr sz="1300" b="0" i="0">
                <a:solidFill>
                  <a:srgbClr val="222A33"/>
                </a:solidFill>
              </a:rPr>
              <a:t>: a more cautious, transparent screening layer that shows where deeper modelling is worth it.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full funnel, end to end</a:t>
            </a:r>
          </a:p>
        </p:txBody>
      </p:sp>
      <p:sp>
        <p:nvSpPr>
          <p:cNvPr id="3" name="TextBox 2"/>
          <p:cNvSpPr txBox="1"/>
          <p:nvPr/>
        </p:nvSpPr>
        <p:spPr>
          <a:xfrm>
            <a:off x="838200" y="1783080"/>
            <a:ext cx="10774680" cy="1087477"/>
          </a:xfrm>
          <a:prstGeom prst="rect">
            <a:avLst/>
          </a:prstGeom>
          <a:noFill/>
        </p:spPr>
        <p:txBody>
          <a:bodyPr wrap="square" anchor="t">
            <a:spAutoFit/>
          </a:bodyPr>
          <a:lstStyle/>
          <a:p>
            <a:pPr>
              <a:spcAft>
                <a:spcPts val="1000"/>
              </a:spcAft>
            </a:pPr>
            <a:r>
              <a:rPr lang="fr-FR" sz="1600" b="1" i="0" dirty="0">
                <a:solidFill>
                  <a:srgbClr val="222A33"/>
                </a:solidFill>
              </a:rPr>
              <a:t>Tool</a:t>
            </a:r>
            <a:r>
              <a:rPr sz="1600" b="1" i="0" dirty="0">
                <a:solidFill>
                  <a:srgbClr val="222A33"/>
                </a:solidFill>
              </a:rPr>
              <a:t> 1: </a:t>
            </a:r>
            <a:r>
              <a:rPr sz="1600" b="0" i="0" dirty="0">
                <a:solidFill>
                  <a:srgbClr val="222A33"/>
                </a:solidFill>
              </a:rPr>
              <a:t>a plain-language question returns the relevant income and inequality variables</a:t>
            </a:r>
          </a:p>
          <a:p>
            <a:pPr>
              <a:spcAft>
                <a:spcPts val="1000"/>
              </a:spcAft>
            </a:pPr>
            <a:r>
              <a:rPr lang="fr-FR" sz="1600" b="1" i="0" dirty="0">
                <a:solidFill>
                  <a:srgbClr val="222A33"/>
                </a:solidFill>
              </a:rPr>
              <a:t>Tool</a:t>
            </a:r>
            <a:r>
              <a:rPr sz="1600" b="1" i="0" dirty="0">
                <a:solidFill>
                  <a:srgbClr val="222A33"/>
                </a:solidFill>
              </a:rPr>
              <a:t> 2: </a:t>
            </a:r>
            <a:r>
              <a:rPr sz="1600" b="0" i="0" dirty="0">
                <a:solidFill>
                  <a:srgbClr val="222A33"/>
                </a:solidFill>
              </a:rPr>
              <a:t>strong and non-obvious associations are highlighted and ranked by interest</a:t>
            </a:r>
          </a:p>
          <a:p>
            <a:pPr>
              <a:spcAft>
                <a:spcPts val="400"/>
              </a:spcAft>
            </a:pPr>
            <a:r>
              <a:rPr lang="fr-FR" sz="1600" b="1" i="0" dirty="0">
                <a:solidFill>
                  <a:srgbClr val="222A33"/>
                </a:solidFill>
              </a:rPr>
              <a:t>Tool</a:t>
            </a:r>
            <a:r>
              <a:rPr sz="1600" b="1" i="0" dirty="0">
                <a:solidFill>
                  <a:srgbClr val="222A33"/>
                </a:solidFill>
              </a:rPr>
              <a:t> 3: </a:t>
            </a:r>
            <a:r>
              <a:rPr sz="1600" b="0" i="0" dirty="0">
                <a:solidFill>
                  <a:srgbClr val="222A33"/>
                </a:solidFill>
              </a:rPr>
              <a:t>only the associations that survive adjustment for age, education and region are kept</a:t>
            </a:r>
          </a:p>
        </p:txBody>
      </p:sp>
      <p:sp>
        <p:nvSpPr>
          <p:cNvPr id="4" name="Rounded Rectangle 3"/>
          <p:cNvSpPr/>
          <p:nvPr/>
        </p:nvSpPr>
        <p:spPr>
          <a:xfrm>
            <a:off x="640080" y="5029200"/>
            <a:ext cx="10927080" cy="1051560"/>
          </a:xfrm>
          <a:prstGeom prst="round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500" b="1">
                <a:solidFill>
                  <a:srgbClr val="FFFFFF"/>
                </a:solidFill>
              </a:rPr>
              <a:t>Common data for a shared reality: a factual base that is at once accessible to non-experts and statistically defensible.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What works, what is still open</a:t>
            </a:r>
          </a:p>
        </p:txBody>
      </p:sp>
      <p:sp>
        <p:nvSpPr>
          <p:cNvPr id="3" name="Content Placeholder 2"/>
          <p:cNvSpPr>
            <a:spLocks noGrp="1"/>
          </p:cNvSpPr>
          <p:nvPr>
            <p:ph idx="1"/>
          </p:nvPr>
        </p:nvSpPr>
        <p:spPr/>
        <p:txBody>
          <a:bodyPr wrap="square"/>
          <a:lstStyle/>
          <a:p>
            <a:pPr>
              <a:spcAft>
                <a:spcPts val="400"/>
              </a:spcAft>
            </a:pPr>
            <a:r>
              <a:rPr sz="1500" b="1" i="0" dirty="0">
                <a:solidFill>
                  <a:srgbClr val="222A33"/>
                </a:solidFill>
              </a:rPr>
              <a:t>Working today: </a:t>
            </a:r>
            <a:r>
              <a:rPr sz="1500" b="0" i="0" dirty="0">
                <a:solidFill>
                  <a:srgbClr val="222A33"/>
                </a:solidFill>
              </a:rPr>
              <a:t>the search pipeline over 7,010 variables; </a:t>
            </a:r>
            <a:r>
              <a:rPr sz="1500" b="0" i="0" dirty="0" err="1">
                <a:solidFill>
                  <a:srgbClr val="222A33"/>
                </a:solidFill>
              </a:rPr>
              <a:t>AssociationExplorer</a:t>
            </a:r>
            <a:r>
              <a:rPr sz="1500" b="0" i="0" dirty="0">
                <a:solidFill>
                  <a:srgbClr val="222A33"/>
                </a:solidFill>
              </a:rPr>
              <a:t> with the surprise judge; Partial Association Explorer with conditional measures.</a:t>
            </a:r>
          </a:p>
          <a:p>
            <a:pPr>
              <a:spcAft>
                <a:spcPts val="400"/>
              </a:spcAft>
            </a:pPr>
            <a:r>
              <a:rPr sz="1500" b="1" i="0" dirty="0">
                <a:solidFill>
                  <a:srgbClr val="222A33"/>
                </a:solidFill>
              </a:rPr>
              <a:t>Early user feedback: </a:t>
            </a:r>
            <a:r>
              <a:rPr sz="1500" b="0" i="0" dirty="0">
                <a:solidFill>
                  <a:srgbClr val="222A33"/>
                </a:solidFill>
              </a:rPr>
              <a:t>interviews with journalists informed the design of </a:t>
            </a:r>
            <a:r>
              <a:rPr sz="1500" b="0" i="0" dirty="0" err="1">
                <a:solidFill>
                  <a:srgbClr val="222A33"/>
                </a:solidFill>
              </a:rPr>
              <a:t>AssociationExplorer</a:t>
            </a:r>
            <a:r>
              <a:rPr sz="1500" b="0" i="0" dirty="0">
                <a:solidFill>
                  <a:srgbClr val="222A33"/>
                </a:solidFill>
              </a:rPr>
              <a:t> (Part 2), which we adapted accordingly.</a:t>
            </a:r>
          </a:p>
          <a:p>
            <a:pPr>
              <a:spcAft>
                <a:spcPts val="400"/>
              </a:spcAft>
            </a:pPr>
            <a:r>
              <a:rPr sz="1500" b="1" i="0" dirty="0">
                <a:solidFill>
                  <a:srgbClr val="222A33"/>
                </a:solidFill>
              </a:rPr>
              <a:t>Preliminary or in progress: </a:t>
            </a:r>
            <a:r>
              <a:rPr sz="1500" b="0" i="0" dirty="0">
                <a:solidFill>
                  <a:srgbClr val="222A33"/>
                </a:solidFill>
              </a:rPr>
              <a:t>the description loop is still running; </a:t>
            </a:r>
            <a:r>
              <a:rPr lang="fr-FR" sz="1500" b="0" i="0" dirty="0">
                <a:solidFill>
                  <a:srgbClr val="222A33"/>
                </a:solidFill>
              </a:rPr>
              <a:t>Tool</a:t>
            </a:r>
            <a:r>
              <a:rPr sz="1500" b="0" i="0" dirty="0">
                <a:solidFill>
                  <a:srgbClr val="222A33"/>
                </a:solidFill>
              </a:rPr>
              <a:t> 1's evaluation metrics need recomputing; the Part 2 and Part 3 manuscripts are drafts.</a:t>
            </a:r>
          </a:p>
          <a:p>
            <a:pPr>
              <a:spcAft>
                <a:spcPts val="400"/>
              </a:spcAft>
            </a:pPr>
            <a:r>
              <a:rPr sz="1500" b="1" i="0" dirty="0">
                <a:solidFill>
                  <a:srgbClr val="222A33"/>
                </a:solidFill>
              </a:rPr>
              <a:t>Not yet, stated plainly: </a:t>
            </a:r>
            <a:r>
              <a:rPr sz="1500" b="0" i="0" dirty="0">
                <a:solidFill>
                  <a:srgbClr val="222A33"/>
                </a:solidFill>
              </a:rPr>
              <a:t>no broad user study yet, and none of this is causal inference.</a:t>
            </a:r>
          </a:p>
          <a:p>
            <a:pPr>
              <a:spcAft>
                <a:spcPts val="400"/>
              </a:spcAft>
            </a:pPr>
            <a:r>
              <a:rPr sz="1500" b="1" i="0" dirty="0">
                <a:solidFill>
                  <a:srgbClr val="222A33"/>
                </a:solidFill>
              </a:rPr>
              <a:t>Next: </a:t>
            </a:r>
            <a:r>
              <a:rPr sz="1500" b="0" i="0" dirty="0">
                <a:solidFill>
                  <a:srgbClr val="222A33"/>
                </a:solidFill>
              </a:rPr>
              <a:t>recompute </a:t>
            </a:r>
            <a:r>
              <a:rPr lang="fr-FR" sz="1500" b="0" i="0" dirty="0">
                <a:solidFill>
                  <a:srgbClr val="222A33"/>
                </a:solidFill>
              </a:rPr>
              <a:t>Tool</a:t>
            </a:r>
            <a:r>
              <a:rPr sz="1500" b="0" i="0" dirty="0">
                <a:solidFill>
                  <a:srgbClr val="222A33"/>
                </a:solidFill>
              </a:rPr>
              <a:t> 1's metrics, integrate the three tools into one flow, and widen access through the synthetic-data layer.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2285658" y="2878925"/>
            <a:ext cx="7332358" cy="1704225"/>
          </a:xfrm>
        </p:spPr>
        <p:txBody>
          <a:bodyPr>
            <a:normAutofit fontScale="92500" lnSpcReduction="20000"/>
          </a:bodyPr>
          <a:lstStyle/>
          <a:p>
            <a:pPr algn="ctr"/>
            <a:r>
              <a:rPr dirty="0">
                <a:latin typeface="Aptos Display"/>
              </a:rPr>
              <a:t>Thank you!</a:t>
            </a:r>
          </a:p>
          <a:p>
            <a:pPr algn="ctr"/>
            <a:r>
              <a:rPr dirty="0">
                <a:latin typeface="Aptos Display"/>
              </a:rPr>
              <a:t>Questions?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RAG vs fine-tuning</a:t>
            </a:r>
          </a:p>
        </p:txBody>
      </p:sp>
      <p:graphicFrame>
        <p:nvGraphicFramePr>
          <p:cNvPr id="3" name="Table 2"/>
          <p:cNvGraphicFramePr>
            <a:graphicFrameLocks noGrp="1"/>
          </p:cNvGraphicFramePr>
          <p:nvPr/>
        </p:nvGraphicFramePr>
        <p:xfrm>
          <a:off x="640080" y="1783080"/>
          <a:ext cx="10927080" cy="420624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600891">
                <a:tc>
                  <a:txBody>
                    <a:bodyPr/>
                    <a:lstStyle/>
                    <a:p>
                      <a:r>
                        <a:rPr sz="1300" b="1">
                          <a:solidFill>
                            <a:srgbClr val="FFFFFF"/>
                          </a:solidFill>
                        </a:rPr>
                        <a:t>Criterion</a:t>
                      </a:r>
                    </a:p>
                  </a:txBody>
                  <a:tcPr>
                    <a:solidFill>
                      <a:srgbClr val="0E2841"/>
                    </a:solidFill>
                  </a:tcPr>
                </a:tc>
                <a:tc>
                  <a:txBody>
                    <a:bodyPr/>
                    <a:lstStyle/>
                    <a:p>
                      <a:r>
                        <a:rPr sz="1300" b="1">
                          <a:solidFill>
                            <a:srgbClr val="FFFFFF"/>
                          </a:solidFill>
                        </a:rPr>
                        <a:t>RAG (used)</a:t>
                      </a:r>
                    </a:p>
                  </a:txBody>
                  <a:tcPr>
                    <a:solidFill>
                      <a:srgbClr val="0E2841"/>
                    </a:solidFill>
                  </a:tcPr>
                </a:tc>
                <a:tc>
                  <a:txBody>
                    <a:bodyPr/>
                    <a:lstStyle/>
                    <a:p>
                      <a:r>
                        <a:rPr sz="1300" b="1">
                          <a:solidFill>
                            <a:srgbClr val="FFFFFF"/>
                          </a:solidFill>
                        </a:rPr>
                        <a:t>Fine-tuning (not implemented)</a:t>
                      </a:r>
                    </a:p>
                  </a:txBody>
                  <a:tcPr>
                    <a:solidFill>
                      <a:srgbClr val="0E2841"/>
                    </a:solidFill>
                  </a:tcPr>
                </a:tc>
                <a:extLst>
                  <a:ext uri="{0D108BD9-81ED-4DB2-BD59-A6C34878D82A}">
                    <a16:rowId xmlns:a16="http://schemas.microsoft.com/office/drawing/2014/main" val="10000"/>
                  </a:ext>
                </a:extLst>
              </a:tr>
              <a:tr h="600891">
                <a:tc>
                  <a:txBody>
                    <a:bodyPr/>
                    <a:lstStyle/>
                    <a:p>
                      <a:r>
                        <a:rPr sz="1200" b="1">
                          <a:solidFill>
                            <a:srgbClr val="222A33"/>
                          </a:solidFill>
                        </a:rPr>
                        <a:t>Principle</a:t>
                      </a:r>
                    </a:p>
                  </a:txBody>
                  <a:tcPr>
                    <a:solidFill>
                      <a:srgbClr val="FFFFFF"/>
                    </a:solidFill>
                  </a:tcPr>
                </a:tc>
                <a:tc>
                  <a:txBody>
                    <a:bodyPr/>
                    <a:lstStyle/>
                    <a:p>
                      <a:r>
                        <a:rPr sz="1200" b="0">
                          <a:solidFill>
                            <a:srgbClr val="222A33"/>
                          </a:solidFill>
                        </a:rPr>
                        <a:t>Model unchanged, dynamic retrieval</a:t>
                      </a:r>
                    </a:p>
                  </a:txBody>
                  <a:tcPr>
                    <a:solidFill>
                      <a:srgbClr val="FFFFFF"/>
                    </a:solidFill>
                  </a:tcPr>
                </a:tc>
                <a:tc>
                  <a:txBody>
                    <a:bodyPr/>
                    <a:lstStyle/>
                    <a:p>
                      <a:r>
                        <a:rPr sz="1200" b="0">
                          <a:solidFill>
                            <a:srgbClr val="222A33"/>
                          </a:solidFill>
                        </a:rPr>
                        <a:t>Partially retrain the model weights</a:t>
                      </a:r>
                    </a:p>
                  </a:txBody>
                  <a:tcPr>
                    <a:solidFill>
                      <a:srgbClr val="FFFFFF"/>
                    </a:solidFill>
                  </a:tcPr>
                </a:tc>
                <a:extLst>
                  <a:ext uri="{0D108BD9-81ED-4DB2-BD59-A6C34878D82A}">
                    <a16:rowId xmlns:a16="http://schemas.microsoft.com/office/drawing/2014/main" val="10001"/>
                  </a:ext>
                </a:extLst>
              </a:tr>
              <a:tr h="600891">
                <a:tc>
                  <a:txBody>
                    <a:bodyPr/>
                    <a:lstStyle/>
                    <a:p>
                      <a:r>
                        <a:rPr sz="1200" b="1">
                          <a:solidFill>
                            <a:srgbClr val="222A33"/>
                          </a:solidFill>
                        </a:rPr>
                        <a:t>Set-up cost</a:t>
                      </a:r>
                    </a:p>
                  </a:txBody>
                  <a:tcPr>
                    <a:solidFill>
                      <a:srgbClr val="EEF2F5"/>
                    </a:solidFill>
                  </a:tcPr>
                </a:tc>
                <a:tc>
                  <a:txBody>
                    <a:bodyPr/>
                    <a:lstStyle/>
                    <a:p>
                      <a:r>
                        <a:rPr sz="1200" b="0">
                          <a:solidFill>
                            <a:srgbClr val="222A33"/>
                          </a:solidFill>
                        </a:rPr>
                        <a:t>Low, no training</a:t>
                      </a:r>
                    </a:p>
                  </a:txBody>
                  <a:tcPr>
                    <a:solidFill>
                      <a:srgbClr val="EEF2F5"/>
                    </a:solidFill>
                  </a:tcPr>
                </a:tc>
                <a:tc>
                  <a:txBody>
                    <a:bodyPr/>
                    <a:lstStyle/>
                    <a:p>
                      <a:r>
                        <a:rPr sz="1200" b="0">
                          <a:solidFill>
                            <a:srgbClr val="222A33"/>
                          </a:solidFill>
                        </a:rPr>
                        <a:t>High: GPU, training time, expertise</a:t>
                      </a:r>
                    </a:p>
                  </a:txBody>
                  <a:tcPr>
                    <a:solidFill>
                      <a:srgbClr val="EEF2F5"/>
                    </a:solidFill>
                  </a:tcPr>
                </a:tc>
                <a:extLst>
                  <a:ext uri="{0D108BD9-81ED-4DB2-BD59-A6C34878D82A}">
                    <a16:rowId xmlns:a16="http://schemas.microsoft.com/office/drawing/2014/main" val="10002"/>
                  </a:ext>
                </a:extLst>
              </a:tr>
              <a:tr h="600891">
                <a:tc>
                  <a:txBody>
                    <a:bodyPr/>
                    <a:lstStyle/>
                    <a:p>
                      <a:r>
                        <a:rPr sz="1200" b="1">
                          <a:solidFill>
                            <a:srgbClr val="222A33"/>
                          </a:solidFill>
                        </a:rPr>
                        <a:t>Add a dataset</a:t>
                      </a:r>
                    </a:p>
                  </a:txBody>
                  <a:tcPr>
                    <a:solidFill>
                      <a:srgbClr val="FFFFFF"/>
                    </a:solidFill>
                  </a:tcPr>
                </a:tc>
                <a:tc>
                  <a:txBody>
                    <a:bodyPr/>
                    <a:lstStyle/>
                    <a:p>
                      <a:r>
                        <a:rPr sz="1200" b="0">
                          <a:solidFill>
                            <a:srgbClr val="222A33"/>
                          </a:solidFill>
                        </a:rPr>
                        <a:t>Immediate: embed and index</a:t>
                      </a:r>
                    </a:p>
                  </a:txBody>
                  <a:tcPr>
                    <a:solidFill>
                      <a:srgbClr val="FFFFFF"/>
                    </a:solidFill>
                  </a:tcPr>
                </a:tc>
                <a:tc>
                  <a:txBody>
                    <a:bodyPr/>
                    <a:lstStyle/>
                    <a:p>
                      <a:r>
                        <a:rPr sz="1200" b="0">
                          <a:solidFill>
                            <a:srgbClr val="222A33"/>
                          </a:solidFill>
                        </a:rPr>
                        <a:t>Costly: a new training cycle</a:t>
                      </a:r>
                    </a:p>
                  </a:txBody>
                  <a:tcPr>
                    <a:solidFill>
                      <a:srgbClr val="FFFFFF"/>
                    </a:solidFill>
                  </a:tcPr>
                </a:tc>
                <a:extLst>
                  <a:ext uri="{0D108BD9-81ED-4DB2-BD59-A6C34878D82A}">
                    <a16:rowId xmlns:a16="http://schemas.microsoft.com/office/drawing/2014/main" val="10003"/>
                  </a:ext>
                </a:extLst>
              </a:tr>
              <a:tr h="600891">
                <a:tc>
                  <a:txBody>
                    <a:bodyPr/>
                    <a:lstStyle/>
                    <a:p>
                      <a:r>
                        <a:rPr sz="1200" b="1">
                          <a:solidFill>
                            <a:srgbClr val="222A33"/>
                          </a:solidFill>
                        </a:rPr>
                        <a:t>Transparency</a:t>
                      </a:r>
                    </a:p>
                  </a:txBody>
                  <a:tcPr>
                    <a:solidFill>
                      <a:srgbClr val="EEF2F5"/>
                    </a:solidFill>
                  </a:tcPr>
                </a:tc>
                <a:tc>
                  <a:txBody>
                    <a:bodyPr/>
                    <a:lstStyle/>
                    <a:p>
                      <a:r>
                        <a:rPr sz="1200" b="0">
                          <a:solidFill>
                            <a:srgbClr val="222A33"/>
                          </a:solidFill>
                        </a:rPr>
                        <a:t>High: retrieved variables are visible</a:t>
                      </a:r>
                    </a:p>
                  </a:txBody>
                  <a:tcPr>
                    <a:solidFill>
                      <a:srgbClr val="EEF2F5"/>
                    </a:solidFill>
                  </a:tcPr>
                </a:tc>
                <a:tc>
                  <a:txBody>
                    <a:bodyPr/>
                    <a:lstStyle/>
                    <a:p>
                      <a:r>
                        <a:rPr sz="1200" b="0">
                          <a:solidFill>
                            <a:srgbClr val="222A33"/>
                          </a:solidFill>
                        </a:rPr>
                        <a:t>Low: knowledge diffused in weights</a:t>
                      </a:r>
                    </a:p>
                  </a:txBody>
                  <a:tcPr>
                    <a:solidFill>
                      <a:srgbClr val="EEF2F5"/>
                    </a:solidFill>
                  </a:tcPr>
                </a:tc>
                <a:extLst>
                  <a:ext uri="{0D108BD9-81ED-4DB2-BD59-A6C34878D82A}">
                    <a16:rowId xmlns:a16="http://schemas.microsoft.com/office/drawing/2014/main" val="10004"/>
                  </a:ext>
                </a:extLst>
              </a:tr>
              <a:tr h="600891">
                <a:tc>
                  <a:txBody>
                    <a:bodyPr/>
                    <a:lstStyle/>
                    <a:p>
                      <a:r>
                        <a:rPr sz="1200" b="1">
                          <a:solidFill>
                            <a:srgbClr val="222A33"/>
                          </a:solidFill>
                        </a:rPr>
                        <a:t>Hallucination</a:t>
                      </a:r>
                    </a:p>
                  </a:txBody>
                  <a:tcPr>
                    <a:solidFill>
                      <a:srgbClr val="FFFFFF"/>
                    </a:solidFill>
                  </a:tcPr>
                </a:tc>
                <a:tc>
                  <a:txBody>
                    <a:bodyPr/>
                    <a:lstStyle/>
                    <a:p>
                      <a:r>
                        <a:rPr sz="1200" b="0">
                          <a:solidFill>
                            <a:srgbClr val="222A33"/>
                          </a:solidFill>
                        </a:rPr>
                        <a:t>Reduced: answers from real variables</a:t>
                      </a:r>
                    </a:p>
                  </a:txBody>
                  <a:tcPr>
                    <a:solidFill>
                      <a:srgbClr val="FFFFFF"/>
                    </a:solidFill>
                  </a:tcPr>
                </a:tc>
                <a:tc>
                  <a:txBody>
                    <a:bodyPr/>
                    <a:lstStyle/>
                    <a:p>
                      <a:r>
                        <a:rPr sz="1200" b="0">
                          <a:solidFill>
                            <a:srgbClr val="222A33"/>
                          </a:solidFill>
                        </a:rPr>
                        <a:t>Possible: may invent plausible but fake codes</a:t>
                      </a:r>
                    </a:p>
                  </a:txBody>
                  <a:tcPr>
                    <a:solidFill>
                      <a:srgbClr val="FFFFFF"/>
                    </a:solidFill>
                  </a:tcPr>
                </a:tc>
                <a:extLst>
                  <a:ext uri="{0D108BD9-81ED-4DB2-BD59-A6C34878D82A}">
                    <a16:rowId xmlns:a16="http://schemas.microsoft.com/office/drawing/2014/main" val="10005"/>
                  </a:ext>
                </a:extLst>
              </a:tr>
              <a:tr h="600894">
                <a:tc>
                  <a:txBody>
                    <a:bodyPr/>
                    <a:lstStyle/>
                    <a:p>
                      <a:r>
                        <a:rPr sz="1200" b="1">
                          <a:solidFill>
                            <a:srgbClr val="222A33"/>
                          </a:solidFill>
                        </a:rPr>
                        <a:t>Status here</a:t>
                      </a:r>
                    </a:p>
                  </a:txBody>
                  <a:tcPr>
                    <a:solidFill>
                      <a:srgbClr val="EEF2F5"/>
                    </a:solidFill>
                  </a:tcPr>
                </a:tc>
                <a:tc>
                  <a:txBody>
                    <a:bodyPr/>
                    <a:lstStyle/>
                    <a:p>
                      <a:r>
                        <a:rPr sz="1200" b="0">
                          <a:solidFill>
                            <a:srgbClr val="222A33"/>
                          </a:solidFill>
                        </a:rPr>
                        <a:t>Operational on 6 datasets (7,010 vars)</a:t>
                      </a:r>
                    </a:p>
                  </a:txBody>
                  <a:tcPr>
                    <a:solidFill>
                      <a:srgbClr val="EEF2F5"/>
                    </a:solidFill>
                  </a:tcPr>
                </a:tc>
                <a:tc>
                  <a:txBody>
                    <a:bodyPr/>
                    <a:lstStyle/>
                    <a:p>
                      <a:r>
                        <a:rPr sz="1200" b="0">
                          <a:solidFill>
                            <a:srgbClr val="222A33"/>
                          </a:solidFill>
                        </a:rPr>
                        <a:t>Documented alternative (LoRA, Llama-3-8B)</a:t>
                      </a:r>
                    </a:p>
                  </a:txBody>
                  <a:tcPr>
                    <a:solidFill>
                      <a:srgbClr val="EEF2F5"/>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embeddings and retrieval</a:t>
            </a:r>
          </a:p>
        </p:txBody>
      </p:sp>
      <p:sp>
        <p:nvSpPr>
          <p:cNvPr id="3" name="Content Placeholder 2"/>
          <p:cNvSpPr>
            <a:spLocks noGrp="1"/>
          </p:cNvSpPr>
          <p:nvPr>
            <p:ph idx="1"/>
          </p:nvPr>
        </p:nvSpPr>
        <p:spPr/>
        <p:txBody>
          <a:bodyPr wrap="square"/>
          <a:lstStyle/>
          <a:p>
            <a:pPr>
              <a:spcAft>
                <a:spcPts val="400"/>
              </a:spcAft>
            </a:pPr>
            <a:r>
              <a:rPr sz="1400" b="1" i="0">
                <a:solidFill>
                  <a:srgbClr val="222A33"/>
                </a:solidFill>
              </a:rPr>
              <a:t>multilingual-e5-large: </a:t>
            </a:r>
            <a:r>
              <a:rPr sz="1400" b="0" i="0">
                <a:solidFill>
                  <a:srgbClr val="222A33"/>
                </a:solidFill>
              </a:rPr>
              <a:t>XLM-RoBERTa encoder, 24 layers, about 560M parameters; the [CLS] vector summarises each text; contrastive training on about 1 billion multilingual pairs.</a:t>
            </a:r>
          </a:p>
          <a:p>
            <a:pPr>
              <a:spcAft>
                <a:spcPts val="400"/>
              </a:spcAft>
            </a:pPr>
            <a:r>
              <a:rPr sz="1400" b="1" i="0">
                <a:solidFill>
                  <a:srgbClr val="222A33"/>
                </a:solidFill>
              </a:rPr>
              <a:t>Prefixes: </a:t>
            </a:r>
            <a:r>
              <a:rPr sz="1400" b="0" i="0">
                <a:solidFill>
                  <a:srgbClr val="222A33"/>
                </a:solidFill>
              </a:rPr>
              <a:t>indexed texts use passage:, user questions use query:, which aligns short questions with longer descriptions.</a:t>
            </a:r>
          </a:p>
          <a:p>
            <a:pPr>
              <a:spcAft>
                <a:spcPts val="400"/>
              </a:spcAft>
            </a:pPr>
            <a:r>
              <a:rPr sz="1400" b="1" i="0">
                <a:solidFill>
                  <a:srgbClr val="222A33"/>
                </a:solidFill>
              </a:rPr>
              <a:t>Store: </a:t>
            </a:r>
            <a:r>
              <a:rPr sz="1400" b="0" i="0">
                <a:solidFill>
                  <a:srgbClr val="222A33"/>
                </a:solidFill>
              </a:rPr>
              <a:t>ChromaDB with cosine similarity; relevant matches usually score 0.85 to 0.93.</a:t>
            </a:r>
          </a:p>
          <a:p>
            <a:pPr>
              <a:spcAft>
                <a:spcPts val="400"/>
              </a:spcAft>
            </a:pPr>
            <a:r>
              <a:rPr sz="1400" b="1" i="0">
                <a:solidFill>
                  <a:srgbClr val="222A33"/>
                </a:solidFill>
              </a:rPr>
              <a:t>Collections: </a:t>
            </a:r>
            <a:r>
              <a:rPr sz="1400" b="0" i="0">
                <a:solidFill>
                  <a:srgbClr val="222A33"/>
                </a:solidFill>
              </a:rPr>
              <a:t>seven, one per dataset plus a unified one over all 7,010 variables.</a:t>
            </a:r>
          </a:p>
          <a:p>
            <a:pPr>
              <a:spcAft>
                <a:spcPts val="400"/>
              </a:spcAft>
            </a:pPr>
            <a:r>
              <a:rPr sz="1400" b="1" i="0">
                <a:solidFill>
                  <a:srgbClr val="222A33"/>
                </a:solidFill>
              </a:rPr>
              <a:t>Size bias: </a:t>
            </a:r>
            <a:r>
              <a:rPr sz="1400" b="0" i="0">
                <a:solidFill>
                  <a:srgbClr val="222A33"/>
                </a:solidFill>
              </a:rPr>
              <a:t>IPCAL is about 76% of the corpus; an early hybrid weighting was removed in favour of plain cosine.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Part 2 measures</a:t>
            </a:r>
          </a:p>
        </p:txBody>
      </p:sp>
      <p:sp>
        <p:nvSpPr>
          <p:cNvPr id="3" name="TextBox 2"/>
          <p:cNvSpPr txBox="1"/>
          <p:nvPr/>
        </p:nvSpPr>
        <p:spPr>
          <a:xfrm>
            <a:off x="640080" y="1554480"/>
            <a:ext cx="10789920" cy="310896"/>
          </a:xfrm>
          <a:prstGeom prst="rect">
            <a:avLst/>
          </a:prstGeom>
          <a:noFill/>
        </p:spPr>
        <p:txBody>
          <a:bodyPr wrap="none" tIns="0" bIns="0">
            <a:spAutoFit/>
          </a:bodyPr>
          <a:lstStyle/>
          <a:p>
            <a:r>
              <a:rPr sz="1400" b="1">
                <a:solidFill>
                  <a:srgbClr val="156082"/>
                </a:solidFill>
              </a:rPr>
              <a:t>Numeric vs numeric (Pearson)</a:t>
            </a:r>
          </a:p>
        </p:txBody>
      </p:sp>
      <p:pic>
        <p:nvPicPr>
          <p:cNvPr id="4" name="Picture 3" descr="fa_pearson.png"/>
          <p:cNvPicPr>
            <a:picLocks noChangeAspect="1"/>
          </p:cNvPicPr>
          <p:nvPr/>
        </p:nvPicPr>
        <p:blipFill>
          <a:blip r:embed="rId3"/>
          <a:stretch>
            <a:fillRect/>
          </a:stretch>
        </p:blipFill>
        <p:spPr>
          <a:xfrm>
            <a:off x="822959" y="1847088"/>
            <a:ext cx="5120640" cy="893361"/>
          </a:xfrm>
          <a:prstGeom prst="rect">
            <a:avLst/>
          </a:prstGeom>
        </p:spPr>
      </p:pic>
      <p:sp>
        <p:nvSpPr>
          <p:cNvPr id="5" name="TextBox 4"/>
          <p:cNvSpPr txBox="1"/>
          <p:nvPr/>
        </p:nvSpPr>
        <p:spPr>
          <a:xfrm>
            <a:off x="640080" y="2804457"/>
            <a:ext cx="10789920" cy="310896"/>
          </a:xfrm>
          <a:prstGeom prst="rect">
            <a:avLst/>
          </a:prstGeom>
          <a:noFill/>
        </p:spPr>
        <p:txBody>
          <a:bodyPr wrap="none" tIns="0" bIns="0">
            <a:spAutoFit/>
          </a:bodyPr>
          <a:lstStyle/>
          <a:p>
            <a:r>
              <a:rPr sz="1400" b="1">
                <a:solidFill>
                  <a:srgbClr val="156082"/>
                </a:solidFill>
              </a:rPr>
              <a:t>Categorical vs categorical (Cramer's V)</a:t>
            </a:r>
          </a:p>
        </p:txBody>
      </p:sp>
      <p:pic>
        <p:nvPicPr>
          <p:cNvPr id="6" name="Picture 5" descr="fa_cramer.png"/>
          <p:cNvPicPr>
            <a:picLocks noChangeAspect="1"/>
          </p:cNvPicPr>
          <p:nvPr/>
        </p:nvPicPr>
        <p:blipFill>
          <a:blip r:embed="rId4"/>
          <a:stretch>
            <a:fillRect/>
          </a:stretch>
        </p:blipFill>
        <p:spPr>
          <a:xfrm>
            <a:off x="822959" y="3097064"/>
            <a:ext cx="4206240" cy="669089"/>
          </a:xfrm>
          <a:prstGeom prst="rect">
            <a:avLst/>
          </a:prstGeom>
        </p:spPr>
      </p:pic>
      <p:sp>
        <p:nvSpPr>
          <p:cNvPr id="7" name="TextBox 6"/>
          <p:cNvSpPr txBox="1"/>
          <p:nvPr/>
        </p:nvSpPr>
        <p:spPr>
          <a:xfrm>
            <a:off x="640080" y="3830162"/>
            <a:ext cx="10789920" cy="310896"/>
          </a:xfrm>
          <a:prstGeom prst="rect">
            <a:avLst/>
          </a:prstGeom>
          <a:noFill/>
        </p:spPr>
        <p:txBody>
          <a:bodyPr wrap="none" tIns="0" bIns="0">
            <a:spAutoFit/>
          </a:bodyPr>
          <a:lstStyle/>
          <a:p>
            <a:r>
              <a:rPr sz="1400" b="1" dirty="0">
                <a:solidFill>
                  <a:srgbClr val="156082"/>
                </a:solidFill>
              </a:rPr>
              <a:t>Numeric vs categorical (ANOVA)</a:t>
            </a:r>
          </a:p>
        </p:txBody>
      </p:sp>
      <p:pic>
        <p:nvPicPr>
          <p:cNvPr id="8" name="Picture 7" descr="fa_eta.png"/>
          <p:cNvPicPr>
            <a:picLocks noChangeAspect="1"/>
          </p:cNvPicPr>
          <p:nvPr/>
        </p:nvPicPr>
        <p:blipFill>
          <a:blip r:embed="rId5"/>
          <a:stretch>
            <a:fillRect/>
          </a:stretch>
        </p:blipFill>
        <p:spPr>
          <a:xfrm>
            <a:off x="822959" y="4122770"/>
            <a:ext cx="6766560" cy="701270"/>
          </a:xfrm>
          <a:prstGeom prst="rect">
            <a:avLst/>
          </a:prstGeom>
        </p:spPr>
      </p:pic>
      <p:sp>
        <p:nvSpPr>
          <p:cNvPr id="9" name="TextBox 8"/>
          <p:cNvSpPr txBox="1"/>
          <p:nvPr/>
        </p:nvSpPr>
        <p:spPr>
          <a:xfrm>
            <a:off x="640080" y="4888048"/>
            <a:ext cx="10789920" cy="310896"/>
          </a:xfrm>
          <a:prstGeom prst="rect">
            <a:avLst/>
          </a:prstGeom>
          <a:noFill/>
        </p:spPr>
        <p:txBody>
          <a:bodyPr wrap="none" tIns="0" bIns="0">
            <a:spAutoFit/>
          </a:bodyPr>
          <a:lstStyle/>
          <a:p>
            <a:r>
              <a:rPr sz="1400" b="1">
                <a:solidFill>
                  <a:srgbClr val="156082"/>
                </a:solidFill>
              </a:rPr>
              <a:t>Journalistic interest</a:t>
            </a:r>
          </a:p>
        </p:txBody>
      </p:sp>
      <p:pic>
        <p:nvPicPr>
          <p:cNvPr id="10" name="Picture 9" descr="fa_news.png"/>
          <p:cNvPicPr>
            <a:picLocks noChangeAspect="1"/>
          </p:cNvPicPr>
          <p:nvPr/>
        </p:nvPicPr>
        <p:blipFill>
          <a:blip r:embed="rId6"/>
          <a:stretch>
            <a:fillRect/>
          </a:stretch>
        </p:blipFill>
        <p:spPr>
          <a:xfrm>
            <a:off x="822959" y="5180656"/>
            <a:ext cx="6217920" cy="6254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Part 3 conditional measures</a:t>
            </a:r>
          </a:p>
        </p:txBody>
      </p:sp>
      <p:sp>
        <p:nvSpPr>
          <p:cNvPr id="3" name="TextBox 2"/>
          <p:cNvSpPr txBox="1"/>
          <p:nvPr/>
        </p:nvSpPr>
        <p:spPr>
          <a:xfrm>
            <a:off x="640080" y="1691640"/>
            <a:ext cx="10789920" cy="310896"/>
          </a:xfrm>
          <a:prstGeom prst="rect">
            <a:avLst/>
          </a:prstGeom>
          <a:noFill/>
        </p:spPr>
        <p:txBody>
          <a:bodyPr wrap="none" tIns="0" bIns="0">
            <a:spAutoFit/>
          </a:bodyPr>
          <a:lstStyle/>
          <a:p>
            <a:r>
              <a:rPr sz="1400" b="1">
                <a:solidFill>
                  <a:srgbClr val="156082"/>
                </a:solidFill>
              </a:rPr>
              <a:t>Numeric vs numeric: partial correlation</a:t>
            </a:r>
          </a:p>
        </p:txBody>
      </p:sp>
      <p:pic>
        <p:nvPicPr>
          <p:cNvPr id="4" name="Picture 3" descr="fb_partial.png"/>
          <p:cNvPicPr>
            <a:picLocks noChangeAspect="1"/>
          </p:cNvPicPr>
          <p:nvPr/>
        </p:nvPicPr>
        <p:blipFill>
          <a:blip r:embed="rId3"/>
          <a:stretch>
            <a:fillRect/>
          </a:stretch>
        </p:blipFill>
        <p:spPr>
          <a:xfrm>
            <a:off x="822959" y="1984248"/>
            <a:ext cx="8046720" cy="1055027"/>
          </a:xfrm>
          <a:prstGeom prst="rect">
            <a:avLst/>
          </a:prstGeom>
        </p:spPr>
      </p:pic>
      <p:sp>
        <p:nvSpPr>
          <p:cNvPr id="5" name="TextBox 4"/>
          <p:cNvSpPr txBox="1"/>
          <p:nvPr/>
        </p:nvSpPr>
        <p:spPr>
          <a:xfrm>
            <a:off x="640080" y="3103283"/>
            <a:ext cx="10789920" cy="310896"/>
          </a:xfrm>
          <a:prstGeom prst="rect">
            <a:avLst/>
          </a:prstGeom>
          <a:noFill/>
        </p:spPr>
        <p:txBody>
          <a:bodyPr wrap="none" tIns="0" bIns="0">
            <a:spAutoFit/>
          </a:bodyPr>
          <a:lstStyle/>
          <a:p>
            <a:r>
              <a:rPr sz="1400" b="1">
                <a:solidFill>
                  <a:srgbClr val="156082"/>
                </a:solidFill>
              </a:rPr>
              <a:t>Numeric vs categorical: partial eta-squared (ANCOVA)</a:t>
            </a:r>
          </a:p>
        </p:txBody>
      </p:sp>
      <p:pic>
        <p:nvPicPr>
          <p:cNvPr id="6" name="Picture 5" descr="fb_eta.png"/>
          <p:cNvPicPr>
            <a:picLocks noChangeAspect="1"/>
          </p:cNvPicPr>
          <p:nvPr/>
        </p:nvPicPr>
        <p:blipFill>
          <a:blip r:embed="rId4"/>
          <a:stretch>
            <a:fillRect/>
          </a:stretch>
        </p:blipFill>
        <p:spPr>
          <a:xfrm>
            <a:off x="822959" y="3395891"/>
            <a:ext cx="7498079" cy="820764"/>
          </a:xfrm>
          <a:prstGeom prst="rect">
            <a:avLst/>
          </a:prstGeom>
        </p:spPr>
      </p:pic>
      <p:sp>
        <p:nvSpPr>
          <p:cNvPr id="7" name="TextBox 6"/>
          <p:cNvSpPr txBox="1"/>
          <p:nvPr/>
        </p:nvSpPr>
        <p:spPr>
          <a:xfrm>
            <a:off x="640080" y="4280663"/>
            <a:ext cx="10789920" cy="310896"/>
          </a:xfrm>
          <a:prstGeom prst="rect">
            <a:avLst/>
          </a:prstGeom>
          <a:noFill/>
        </p:spPr>
        <p:txBody>
          <a:bodyPr wrap="none" tIns="0" bIns="0">
            <a:spAutoFit/>
          </a:bodyPr>
          <a:lstStyle/>
          <a:p>
            <a:r>
              <a:rPr sz="1400" b="1">
                <a:solidFill>
                  <a:srgbClr val="156082"/>
                </a:solidFill>
              </a:rPr>
              <a:t>Categorical vs categorical: likelihood-ratio measure</a:t>
            </a:r>
          </a:p>
        </p:txBody>
      </p:sp>
      <p:pic>
        <p:nvPicPr>
          <p:cNvPr id="8" name="Picture 7" descr="fb_vl.png"/>
          <p:cNvPicPr>
            <a:picLocks noChangeAspect="1"/>
          </p:cNvPicPr>
          <p:nvPr/>
        </p:nvPicPr>
        <p:blipFill>
          <a:blip r:embed="rId5"/>
          <a:stretch>
            <a:fillRect/>
          </a:stretch>
        </p:blipFill>
        <p:spPr>
          <a:xfrm>
            <a:off x="822959" y="4573271"/>
            <a:ext cx="8046720" cy="67323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a note on evaluation metrics</a:t>
            </a:r>
          </a:p>
        </p:txBody>
      </p:sp>
      <p:sp>
        <p:nvSpPr>
          <p:cNvPr id="3" name="Content Placeholder 2"/>
          <p:cNvSpPr>
            <a:spLocks noGrp="1"/>
          </p:cNvSpPr>
          <p:nvPr>
            <p:ph idx="1"/>
          </p:nvPr>
        </p:nvSpPr>
        <p:spPr/>
        <p:txBody>
          <a:bodyPr wrap="square"/>
          <a:lstStyle/>
          <a:p>
            <a:pPr>
              <a:spcAft>
                <a:spcPts val="400"/>
              </a:spcAft>
            </a:pPr>
            <a:r>
              <a:rPr sz="1600" b="1" i="0">
                <a:solidFill>
                  <a:srgbClr val="222A33"/>
                </a:solidFill>
              </a:rPr>
              <a:t>An early evaluation (20 annotated questions) gave </a:t>
            </a:r>
            <a:r>
              <a:rPr sz="1600" b="0" i="0">
                <a:solidFill>
                  <a:srgbClr val="222A33"/>
                </a:solidFill>
              </a:rPr>
              <a:t>mean similarity about 0.742, MRR about 0.417, recall at 10 about 0.533.</a:t>
            </a:r>
          </a:p>
          <a:p>
            <a:pPr>
              <a:spcAft>
                <a:spcPts val="400"/>
              </a:spcAft>
            </a:pPr>
            <a:r>
              <a:rPr sz="1600" b="1" i="0">
                <a:solidFill>
                  <a:srgbClr val="222A33"/>
                </a:solidFill>
              </a:rPr>
              <a:t>These predate two changes: </a:t>
            </a:r>
            <a:r>
              <a:rPr sz="1600" b="0" i="0">
                <a:solidFill>
                  <a:srgbClr val="222A33"/>
                </a:solidFill>
              </a:rPr>
              <a:t>removing the hybrid weighting, and extending from 4 to 6 datasets.</a:t>
            </a:r>
          </a:p>
          <a:p>
            <a:pPr>
              <a:spcAft>
                <a:spcPts val="400"/>
              </a:spcAft>
            </a:pPr>
            <a:r>
              <a:rPr sz="1600" b="1" i="0">
                <a:solidFill>
                  <a:srgbClr val="222A33"/>
                </a:solidFill>
              </a:rPr>
              <a:t>They must be recomputed on the current system</a:t>
            </a:r>
            <a:r>
              <a:rPr sz="1600" b="0" i="0">
                <a:solidFill>
                  <a:srgbClr val="222A33"/>
                </a:solidFill>
              </a:rPr>
              <a:t>, so treat them as preliminary, not final.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Appendix: widening access with synthetic data</a:t>
            </a:r>
          </a:p>
        </p:txBody>
      </p:sp>
      <p:sp>
        <p:nvSpPr>
          <p:cNvPr id="3" name="Content Placeholder 2"/>
          <p:cNvSpPr>
            <a:spLocks noGrp="1"/>
          </p:cNvSpPr>
          <p:nvPr>
            <p:ph idx="1"/>
          </p:nvPr>
        </p:nvSpPr>
        <p:spPr/>
        <p:txBody>
          <a:bodyPr wrap="square"/>
          <a:lstStyle/>
          <a:p>
            <a:pPr>
              <a:spcAft>
                <a:spcPts val="400"/>
              </a:spcAft>
            </a:pPr>
            <a:r>
              <a:rPr sz="1600" b="1" i="0">
                <a:solidFill>
                  <a:srgbClr val="222A33"/>
                </a:solidFill>
              </a:rPr>
              <a:t>The six datasets are confidential research microdata</a:t>
            </a:r>
            <a:r>
              <a:rPr sz="1600" b="0" i="0">
                <a:solidFill>
                  <a:srgbClr val="222A33"/>
                </a:solidFill>
              </a:rPr>
              <a:t>, not open to the public.</a:t>
            </a:r>
          </a:p>
          <a:p>
            <a:pPr>
              <a:spcAft>
                <a:spcPts val="400"/>
              </a:spcAft>
            </a:pPr>
            <a:r>
              <a:rPr sz="1600" b="1" i="0">
                <a:solidFill>
                  <a:srgbClr val="222A33"/>
                </a:solidFill>
              </a:rPr>
              <a:t>Wasserstein GANs generate a synthetic copy</a:t>
            </a:r>
            <a:r>
              <a:rPr sz="1600" b="0" i="0">
                <a:solidFill>
                  <a:srgbClr val="222A33"/>
                </a:solidFill>
              </a:rPr>
              <a:t> that reproduces the statistical structure of the population while protecting privacy (tested on the Belgian Labour Force Survey).</a:t>
            </a:r>
          </a:p>
          <a:p>
            <a:pPr>
              <a:spcAft>
                <a:spcPts val="400"/>
              </a:spcAft>
            </a:pPr>
            <a:r>
              <a:rPr sz="1600" b="1" i="0">
                <a:solidFill>
                  <a:srgbClr val="222A33"/>
                </a:solidFill>
              </a:rPr>
              <a:t>This synthetic layer can widen access</a:t>
            </a:r>
            <a:r>
              <a:rPr sz="1600" b="0" i="0">
                <a:solidFill>
                  <a:srgbClr val="222A33"/>
                </a:solidFill>
              </a:rPr>
              <a:t> to journalists, students and citizens without exposing real records.</a:t>
            </a:r>
          </a:p>
          <a:p>
            <a:pPr>
              <a:spcAft>
                <a:spcPts val="400"/>
              </a:spcAft>
            </a:pPr>
            <a:r>
              <a:rPr sz="1600" b="1" i="0">
                <a:solidFill>
                  <a:srgbClr val="222A33"/>
                </a:solidFill>
              </a:rPr>
              <a:t>References: </a:t>
            </a:r>
            <a:r>
              <a:rPr sz="1600" b="0" i="0">
                <a:solidFill>
                  <a:srgbClr val="222A33"/>
                </a:solidFill>
              </a:rPr>
              <a:t>Annoye, Heuchenne and co-authors, Applied Intelligence (2025), Knowledge-Based Systems, and Expert Systems with Applications.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480</TotalTime>
  <Words>7758</Words>
  <Application>Microsoft Macintosh PowerPoint</Application>
  <PresentationFormat>Widescreen</PresentationFormat>
  <Paragraphs>351</Paragraphs>
  <Slides>28</Slides>
  <Notes>28</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28</vt:i4>
      </vt:variant>
    </vt:vector>
  </HeadingPairs>
  <TitlesOfParts>
    <vt:vector size="34" baseType="lpstr">
      <vt:lpstr>Aptos</vt:lpstr>
      <vt:lpstr>Aptos Display</vt:lpstr>
      <vt:lpstr>Arial</vt:lpstr>
      <vt:lpstr>Cambria Math</vt:lpstr>
      <vt:lpstr>Wingdings</vt:lpstr>
      <vt:lpstr>Office Theme</vt:lpstr>
      <vt:lpstr>PowerPoint Presentation</vt:lpstr>
      <vt:lpstr>Rich data, but hard to use…</vt:lpstr>
      <vt:lpstr>Two halves of a solution</vt:lpstr>
      <vt:lpstr>A three-tool workflow</vt:lpstr>
      <vt:lpstr>Tool 1: Semantic search Or how to navigate among variables?</vt:lpstr>
      <vt:lpstr>The solution: Simply ask in plain language</vt:lpstr>
      <vt:lpstr>The process: A five-step pipeline</vt:lpstr>
      <vt:lpstr>Two design choices: RAG, and running locally</vt:lpstr>
      <vt:lpstr>Two design choices: RAG, and running locally</vt:lpstr>
      <vt:lpstr>Making variables more readable</vt:lpstr>
      <vt:lpstr>Tool 2: AssociationExplorer From variables to associations</vt:lpstr>
      <vt:lpstr>Three measures depending on variable type</vt:lpstr>
      <vt:lpstr>From all pairs to the interesting few</vt:lpstr>
      <vt:lpstr>An LLM as a judge</vt:lpstr>
      <vt:lpstr>Seeing the structure</vt:lpstr>
      <vt:lpstr>Tool 3: Partial Association Explorer Strong and surprising, but is it real?</vt:lpstr>
      <vt:lpstr>The idea: adjust for chosen controls</vt:lpstr>
      <vt:lpstr>One idea, three data types</vt:lpstr>
      <vt:lpstr>Networks before and after adjustment</vt:lpstr>
      <vt:lpstr>The full funnel, end to end</vt:lpstr>
      <vt:lpstr>What works, what is still open</vt:lpstr>
      <vt:lpstr>PowerPoint Presentation</vt:lpstr>
      <vt:lpstr>Appendix: RAG vs fine-tuning</vt:lpstr>
      <vt:lpstr>Appendix: embeddings and retrieval</vt:lpstr>
      <vt:lpstr>Appendix: Part 2 measures</vt:lpstr>
      <vt:lpstr>Appendix: Part 3 conditional measures</vt:lpstr>
      <vt:lpstr>Appendix: a note on evaluation metrics</vt:lpstr>
      <vt:lpstr>Appendix: widening access with synthetic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Antoine Soetewey</dc:creator>
  <cp:lastModifiedBy>Antoine Soetewey</cp:lastModifiedBy>
  <cp:revision>119</cp:revision>
  <dcterms:created xsi:type="dcterms:W3CDTF">2026-06-19T09:26:39Z</dcterms:created>
  <dcterms:modified xsi:type="dcterms:W3CDTF">2026-06-22T13:35:37Z</dcterms:modified>
</cp:coreProperties>
</file>